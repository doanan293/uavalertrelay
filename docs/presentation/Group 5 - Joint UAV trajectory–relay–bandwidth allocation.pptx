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45"/>
  </p:notesMasterIdLst>
  <p:sldIdLst>
    <p:sldId id="256" r:id="rId3"/>
    <p:sldId id="258" r:id="rId4"/>
    <p:sldId id="259" r:id="rId5"/>
    <p:sldId id="260" r:id="rId6"/>
    <p:sldId id="263" r:id="rId7"/>
    <p:sldId id="310" r:id="rId8"/>
    <p:sldId id="314" r:id="rId9"/>
    <p:sldId id="264" r:id="rId10"/>
    <p:sldId id="266" r:id="rId11"/>
    <p:sldId id="307" r:id="rId12"/>
    <p:sldId id="322" r:id="rId13"/>
    <p:sldId id="319" r:id="rId14"/>
    <p:sldId id="323" r:id="rId15"/>
    <p:sldId id="316" r:id="rId16"/>
    <p:sldId id="324" r:id="rId17"/>
    <p:sldId id="311" r:id="rId18"/>
    <p:sldId id="262" r:id="rId19"/>
    <p:sldId id="332" r:id="rId20"/>
    <p:sldId id="308" r:id="rId21"/>
    <p:sldId id="318" r:id="rId22"/>
    <p:sldId id="278" r:id="rId23"/>
    <p:sldId id="317" r:id="rId24"/>
    <p:sldId id="320" r:id="rId25"/>
    <p:sldId id="280" r:id="rId26"/>
    <p:sldId id="313" r:id="rId27"/>
    <p:sldId id="334" r:id="rId28"/>
    <p:sldId id="330" r:id="rId29"/>
    <p:sldId id="328" r:id="rId30"/>
    <p:sldId id="309" r:id="rId31"/>
    <p:sldId id="326" r:id="rId32"/>
    <p:sldId id="331" r:id="rId33"/>
    <p:sldId id="325" r:id="rId34"/>
    <p:sldId id="269" r:id="rId35"/>
    <p:sldId id="333" r:id="rId36"/>
    <p:sldId id="282" r:id="rId37"/>
    <p:sldId id="268" r:id="rId38"/>
    <p:sldId id="275" r:id="rId39"/>
    <p:sldId id="329" r:id="rId40"/>
    <p:sldId id="312" r:id="rId41"/>
    <p:sldId id="327" r:id="rId42"/>
    <p:sldId id="279" r:id="rId43"/>
    <p:sldId id="285" r:id="rId44"/>
  </p:sldIdLst>
  <p:sldSz cx="9144000" cy="5143500" type="screen16x9"/>
  <p:notesSz cx="6858000" cy="9144000"/>
  <p:embeddedFontLst>
    <p:embeddedFont>
      <p:font typeface="IBM Plex Mono" panose="020B0509050203000203" pitchFamily="49"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E41616-B6AB-8863-2917-893547850C10}" v="756" dt="2026-10-15T13:22:39.374"/>
    <p1510:client id="{23D1A384-01E6-AFE3-6D66-BAC5A800BEFB}" v="972" dt="2026-10-15T07:28:26.866"/>
  </p1510:revLst>
</p1510:revInfo>
</file>

<file path=ppt/tableStyles.xml><?xml version="1.0" encoding="utf-8"?>
<a:tblStyleLst xmlns:a="http://schemas.openxmlformats.org/drawingml/2006/main" def="{7D878CF6-9ED4-40B7-9E80-8D88FA82EDE6}">
  <a:tblStyle styleId="{7D878CF6-9ED4-40B7-9E80-8D88FA82EDE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notesMaster" Target="notesMasters/notesMaster1.xml"/><Relationship Id="rId46" Type="http://schemas.openxmlformats.org/officeDocument/2006/relationships/font" Target="fonts/font1.fntdata"/><Relationship Id="rId47" Type="http://schemas.openxmlformats.org/officeDocument/2006/relationships/font" Target="fonts/font2.fntdata"/><Relationship Id="rId48" Type="http://schemas.openxmlformats.org/officeDocument/2006/relationships/font" Target="fonts/font3.fntdata"/><Relationship Id="rId49" Type="http://schemas.openxmlformats.org/officeDocument/2006/relationships/font" Target="fonts/font4.fntdata"/><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_11A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Wide</c:v>
                </c:pt>
              </c:strCache>
            </c:strRef>
          </c:tx>
          <c:spPr>
            <a:solidFill>
              <a:srgbClr val="0C0A9E"/>
            </a:solidFill>
          </c:spPr>
          <c:invertIfNegative val="1"/>
          <c:dLbls>
            <c:numFmt formatCode="0.00" sourceLinked="0"/>
            <c:spPr>
              <a:noFill/>
              <a:ln>
                <a:noFill/>
              </a:ln>
              <a:effectLst/>
            </c:spPr>
            <c:txPr>
              <a:bodyPr/>
              <a:lstStyle/>
              <a:p>
                <a:pPr>
                  <a:defRPr sz="700">
                    <a:solidFill>
                      <a:srgbClr val="1D1D1D"/>
                    </a:solidFill>
                    <a:latin typeface="Be Vietnam Pr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NoUAV</c:v>
                </c:pt>
                <c:pt idx="1">
                  <c:v>FixedTour</c:v>
                </c:pt>
                <c:pt idx="2">
                  <c:v>SBS-Lex</c:v>
                </c:pt>
                <c:pt idx="3">
                  <c:v>Tran-IA</c:v>
                </c:pt>
                <c:pt idx="4">
                  <c:v>SBS</c:v>
                </c:pt>
                <c:pt idx="5">
                  <c:v>SBS-R</c:v>
                </c:pt>
              </c:strCache>
            </c:strRef>
          </c:cat>
          <c:val>
            <c:numRef>
              <c:f>Sheet1!$B$2:$B$7</c:f>
              <c:numCache>
                <c:formatCode>General</c:formatCode>
                <c:ptCount val="6"/>
                <c:pt idx="0">
                  <c:v>0.41299999999999998</c:v>
                </c:pt>
                <c:pt idx="1">
                  <c:v>0.49399999999999999</c:v>
                </c:pt>
                <c:pt idx="2">
                  <c:v>0.36899999999999999</c:v>
                </c:pt>
                <c:pt idx="3">
                  <c:v>0.53</c:v>
                </c:pt>
                <c:pt idx="4">
                  <c:v>0.55900000000000005</c:v>
                </c:pt>
                <c:pt idx="5">
                  <c:v>0.56000000000000005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39F-463B-9CD9-6F8C71CFF0A3}"/>
            </c:ext>
          </c:extLst>
        </c:ser>
        <c:ser>
          <c:idx val="1"/>
          <c:order val="1"/>
          <c:tx>
            <c:strRef>
              <c:f>Sheet1!$C$1</c:f>
              <c:strCache>
                <c:ptCount val="1"/>
                <c:pt idx="0">
                  <c:v>Narrow</c:v>
                </c:pt>
              </c:strCache>
            </c:strRef>
          </c:tx>
          <c:spPr>
            <a:solidFill>
              <a:srgbClr val="EB9109"/>
            </a:solidFill>
          </c:spPr>
          <c:invertIfNegative val="1"/>
          <c:dLbls>
            <c:numFmt formatCode="0.00" sourceLinked="0"/>
            <c:spPr>
              <a:noFill/>
              <a:ln>
                <a:noFill/>
              </a:ln>
              <a:effectLst/>
            </c:spPr>
            <c:txPr>
              <a:bodyPr/>
              <a:lstStyle/>
              <a:p>
                <a:pPr>
                  <a:defRPr sz="700">
                    <a:solidFill>
                      <a:srgbClr val="1D1D1D"/>
                    </a:solidFill>
                    <a:latin typeface="Be Vietnam Pr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NoUAV</c:v>
                </c:pt>
                <c:pt idx="1">
                  <c:v>FixedTour</c:v>
                </c:pt>
                <c:pt idx="2">
                  <c:v>SBS-Lex</c:v>
                </c:pt>
                <c:pt idx="3">
                  <c:v>Tran-IA</c:v>
                </c:pt>
                <c:pt idx="4">
                  <c:v>SBS</c:v>
                </c:pt>
                <c:pt idx="5">
                  <c:v>SBS-R</c:v>
                </c:pt>
              </c:strCache>
            </c:strRef>
          </c:cat>
          <c:val>
            <c:numRef>
              <c:f>Sheet1!$C$2:$C$7</c:f>
              <c:numCache>
                <c:formatCode>General</c:formatCode>
                <c:ptCount val="6"/>
                <c:pt idx="0">
                  <c:v>0.37</c:v>
                </c:pt>
                <c:pt idx="1">
                  <c:v>0.43</c:v>
                </c:pt>
                <c:pt idx="2">
                  <c:v>0.33600000000000002</c:v>
                </c:pt>
                <c:pt idx="3">
                  <c:v>0.438</c:v>
                </c:pt>
                <c:pt idx="4">
                  <c:v>0.51700000000000002</c:v>
                </c:pt>
                <c:pt idx="5">
                  <c:v>0.52100000000000002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39F-463B-9CD9-6F8C71CFF0A3}"/>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latin typeface="Be Vietnam Pro"/>
              </a:defRPr>
            </a:pPr>
            <a:endParaRPr lang="en-US"/>
          </a:p>
        </c:txPr>
        <c:crossAx val="-2113994440"/>
        <c:crosses val="autoZero"/>
        <c:auto val="1"/>
        <c:lblAlgn val="ctr"/>
        <c:lblOffset val="100"/>
        <c:noMultiLvlLbl val="0"/>
      </c:catAx>
      <c:valAx>
        <c:axId val="-2113994440"/>
        <c:scaling>
          <c:orientation val="minMax"/>
          <c:max val="0.65"/>
          <c:min val="0"/>
        </c:scaling>
        <c:delete val="0"/>
        <c:axPos val="l"/>
        <c:majorGridlines>
          <c:spPr>
            <a:ln>
              <a:solidFill>
                <a:srgbClr val="DDDDEE"/>
              </a:solidFill>
            </a:ln>
          </c:spPr>
        </c:majorGridlines>
        <c:numFmt formatCode="General" sourceLinked="1"/>
        <c:majorTickMark val="out"/>
        <c:minorTickMark val="none"/>
        <c:tickLblPos val="nextTo"/>
        <c:spPr>
          <a:ln>
            <a:noFill/>
          </a:ln>
        </c:spPr>
        <c:txPr>
          <a:bodyPr/>
          <a:lstStyle/>
          <a:p>
            <a:pPr>
              <a:defRPr sz="800">
                <a:latin typeface="Be Vietnam Pro"/>
              </a:defRPr>
            </a:pPr>
            <a:endParaRPr lang="en-US"/>
          </a:p>
        </c:txPr>
        <c:crossAx val="-2068027336"/>
        <c:crosses val="autoZero"/>
        <c:crossBetween val="between"/>
      </c:valAx>
    </c:plotArea>
    <c:legend>
      <c:legendPos val="t"/>
      <c:overlay val="0"/>
      <c:txPr>
        <a:bodyPr/>
        <a:lstStyle/>
        <a:p>
          <a:pPr>
            <a:defRPr sz="900">
              <a:latin typeface="Be Vietnam Pro"/>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Chào thầy và các bạn, nhóm 5 xin trình bày đề tài: tối ưu đồng thời quỹ đạo UAV, chọn relay và chia băng thông để gửi cảnh báo kịp hạn sau thảm họa. Đề tài phát triển từ paper của Huang et al. trên Sensors 2025.</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Bài trình bày gồm 4 phần: bài toán, mô hình hóa, thuật toán và kết quả thực nghiệm.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9"/>
        <p:cNvGrpSpPr/>
        <p:nvPr/>
      </p:nvGrpSpPr>
      <p:grpSpPr>
        <a:xfrm>
          <a:off x="0" y="0"/>
          <a:ext cx="0" cy="0"/>
          <a:chOff x="0" y="0"/>
          <a:chExt cx="0" cy="0"/>
        </a:xfrm>
      </p:grpSpPr>
      <p:sp>
        <p:nvSpPr>
          <p:cNvPr id="1480" name="Google Shape;1480;g24e6b4d5c3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 name="Google Shape;1481;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Phần 1: so sánh bài toán của paper gốc với bài toán nhóm đặt ra.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g24ed99bf1a4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Bên trái là paper gốc: UAV làm trạm trung chuyển hai chiều cho các cặp user không liên lạc trực tiếp được. Mục tiêu là làm cho cặp user chậm nhất có tốc độ cao nhất. Dữ liệu chảy liên tục, không có deadline. Bên phải là bài của nhóm: sau thảm họa, người trong vùng bị nạn phát alert, alert phải tới rescue center đầy đủ trước deadline. Alert có thể đi qua UAV, UAV thả xuống một relay rồi đi qua mạng mặt đất về center; hoặc đi thẳng vào relay gần đó nếu trong tầm phủ sóng. Mạng mặt đất có dung lượng hữu hạn (mỗi cạnh chỉ chuyển được một lượng kbit/s nhất định) và một số cạnh đã bị hỏng.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g24e6b4d5c31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4" name="Google Shape;1664;g24e6b4d5c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Có ba lý do không dùng thẳng cách làm của paper gốc. Một, alert có deadline: tới muộn hay tới thiếu đều vô dụng, nên phải đếm số alert đúng hạn thay vì đo tốc độ trung bình. Hai, mạng mặt đất bị hỏng một phần: relay gần vùng thảm họa có thể mất đường về center hoặc bị nghẽn, nên phải chọn đường đi cho từng alert. Ba, kênh ngẫu nhiên: cả hai bài đều dùng PrLoS, mỗi slot link có thể bị nhà cửa che (NLoS) hoặc không (LoS). Paper gốc lập kế hoạch theo tốc độ trung bình, nhưng có deadline thì trung bình che mất những lần kênh xấu. Ví dụ alert 110 kbit, deadline 2 slot, mỗi slot LoS được 90 hoặc NLoS được 20, xác suất 50/50. Theo trung bình là 55 mỗi slot, vừa kịp; nhưng thực tế cứ 4 lần thì 1 lần gặp hai slot NLoS và bị trễ. Vì vậy nhóm lập kế hoạch trên nhiều kịch bản kênh lấy mẫu.</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Bảng tóm tắt khác biệt theo từng mặt, cột tô tím là phần của nhóm. Điểm chính: mục tiêu đổi từ tốc độ sang số alert đúng hạn; có thêm mạng mặt đất; nhóm phải quyết định thêm đường đi cho từng alert; và thay SCA bằng local search.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2482F820-B443-15A7-80C8-C9190B6B5DE7}"/>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CC11A241-04BC-8018-0436-249A1C632B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16A79175-71BD-1886-6B99-F95F13F28B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Tổng hợp lại bối cảnh. Trên không có UAV: nhóm chọn quỹ đạo bay và cách chia băng thông, kết nối giữa UAV và mặt đất là ngẫu nhiên vì có thể bị nhà che. Dưới mặt đất có mạng relay dẫn về rescue center, vùng thảm họa là nơi phát alert. Bài toán là chọn quỹ đạo, đường đi của từng alert và băng thông, sao cho nhiều alert tới center đúng hạn nhất.</a:t>
            </a:r>
          </a:p>
        </p:txBody>
      </p:sp>
    </p:spTree>
    <p:extLst>
      <p:ext uri="{BB962C8B-B14F-4D97-AF65-F5344CB8AC3E}">
        <p14:creationId xmlns:p14="http://schemas.microsoft.com/office/powerpoint/2010/main" val="179395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g24ed99bf1a4_0_4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Nhóm giữ lại bốn thứ từ paper gốc: mô hình kênh PrLoS cùng các tham số; UAV có buffer, nhận rồi mới gửi tiếp; mô hình bay với độ cao cố định và tốc độ giới hạn; và cách chia biến thành các khối rồi tối ưu lần lượt từng khối.</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g24ed99bf1a4_0_7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7" name="Google Shape;1757;g24ed99bf1a4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Còn đây là những gì nhóm thay đổi. Hàng trên là thay đổi về bài toán: mục tiêu mới, thêm mạng mặt đất, alert có deadline. Hàng dưới là thay đổi về phương pháp: thay SCA bằng local search, chứng minh bài toán NP-hard và xây cận trên LP, rồi đánh giá bằng cách so với Tran-IA và thử bỏ từng khối.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Phần 2: nhóm phát biểu bài toán tối ưu và hai kết quả lý thuyết.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Một lời giải gồm quỹ đạo, path của từng alert và bandwidth. Hai lời giải được so theo thứ tự: trước hết là tỉ lệ alert đúng hạn, bằng nhau thì xét Conn, rồi đến phần dữ liệu còn thiếu. Các giá trị lấy trung bình trên nhiều realization của kênh.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g24ed99bf1a4_0_3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Vì bài toán NP-hard nên nhóm dùng heuristic. LP bound cho biết một lời giải còn cách tối ưu bao xa. Nhóm đã kiểm tra độ chặt của bound bằng MILP trên các instance nhỏ.</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F4F3202A-DD52-3BEB-3167-4BE38A9B7CAD}"/>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C1450918-64B4-7557-1C04-D2BB303DAD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917ABA7E-A338-0B1F-A6A6-CDEF979462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NP-hardness cho thấy cần heuristic. LP bound cho phép đo khoảng cách còn lại tới tối ưu của bất kỳ plan nào; độ chặt của bound được kiểm tra bằng MILP trên instance nhỏ.</a:t>
            </a:r>
          </a:p>
        </p:txBody>
      </p:sp>
    </p:spTree>
    <p:extLst>
      <p:ext uri="{BB962C8B-B14F-4D97-AF65-F5344CB8AC3E}">
        <p14:creationId xmlns:p14="http://schemas.microsoft.com/office/powerpoint/2010/main" val="3405084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Phần 3: thuật toán đề xuất.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24ef22aa1ac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24ef22aa1ac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Thử nghiệm sơ bộ trên 6 scenario: hướng dẫn từ LP không chuyển được sang EDF scheduler. Local search được chấm bằng chính simulator, đặc biệt trên các realization lấy mẫu, cho kết quả tốt hơn FixedTour (0.410).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2"/>
        <p:cNvGrpSpPr/>
        <p:nvPr/>
      </p:nvGrpSpPr>
      <p:grpSpPr>
        <a:xfrm>
          <a:off x="0" y="0"/>
          <a:ext cx="0" cy="0"/>
          <a:chOff x="0" y="0"/>
          <a:chExt cx="0" cy="0"/>
        </a:xfrm>
      </p:grpSpPr>
      <p:sp>
        <p:nvSpPr>
          <p:cNvPr id="2223" name="Google Shape;2223;g24ef22aa1ac_0_12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4" name="Google Shape;2224;g24ef22aa1ac_0_1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Bắt đầu từ lời giải FixedTour, mọi weight bằng 1. Mỗi vòng chạy lần lượt các khối path, bandwidth, trajectory; SBS-R thêm khối repair. Path và trajectory đều sinh lời giải mới bằng cách sửa lời giải hiện tại ở chỗ đang nghẽn. Bandwidth chia theo weight giữa các link đang có dữ liệu, nên không cần biết trước tương lai.</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Khối path. Đầu tiên chạy simulation lời giải hiện tại trên 5 realization để biết link nào nghẽn ở slot nào. Sau đó xét từng alert theo thứ tự ngẫu nhiên, alert gấp hay được xét trước, và mỗi vòng thứ tự lại khác. Với mỗi alert thử 4 kiểu thay đổi như hình: (1) đổi chặng đầu giữa đi đất và qua UAV, giữ node vào mạng (đường xanh dương); (2) đổi sang node vào khác, chọn ngẫu nhiên 3 node, node tới center nhanh hơn dễ được chọn hơn (đường tím); (3) bỏ cạnh nghẽn nhất, giữ phần path phía trước rồi tìm đường khác tới center (đường xanh lá); (4) bỏ alert để nhường capacity. Mỗi thay đổi được chấm bằng simulation và chỉ giữ lại nếu tốt hơn. Path mới có thể không nằm trong tập path ban đầu nhưng luôn hợp lệ.</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4E765-D753-8BAE-EFD6-B79F7FFC9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641E8-A060-6F79-94E9-DEA3AF5DE5A7}"/>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C1885E08-41BD-0B89-EA93-A352461ED452}"/>
              </a:ext>
            </a:extLst>
          </p:cNvPr>
          <p:cNvSpPr>
            <a:spLocks noGrp="1"/>
          </p:cNvSpPr>
          <p:nvPr>
            <p:ph type="body" idx="1"/>
          </p:nvPr>
        </p:nvSpPr>
        <p:spPr/>
        <p:txBody>
          <a:bodyPr/>
          <a:lstStyle/>
          <a:p>
            <a:r>
              <a:t>Khối trajectory. Cũng chạy simulation lời giải hiện tại trước để biết link UAV nào bị đầy ở slot nào. Mỗi slot được chấm điểm: nghẽn càng nhiều lần, alert càng lớn hoặc càng gấp thì điểm càng cao. Các slot liền nhau có điểm dương gộp thành một đoạn, chọn ngẫu nhiên 5 đoạn theo điểm. Cả đoạn dịch cùng một vector về phía điểm bị nghẽn, nên bên trong đoạn khoảng cách giữa các bước không đổi, chỉ 2 bước ở hai đầu bị giới hạn tốc độ (hai vòng tròn nét đứt trong hình). λ* là bước lớn nhất thỏa cả hai; thử λ* rồi λ*/2. Trong ví dụ, uplink của s1 nghẽn và gấp hơn nên đoạn bị kéo về phía s1. Thỉnh thoảng (xác suất 0.1) thử thêm một tour hoàn toàn khác để có bước nhảy lớn.</a:t>
            </a:r>
          </a:p>
        </p:txBody>
      </p:sp>
    </p:spTree>
    <p:extLst>
      <p:ext uri="{BB962C8B-B14F-4D97-AF65-F5344CB8AC3E}">
        <p14:creationId xmlns:p14="http://schemas.microsoft.com/office/powerpoint/2010/main" val="763378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7A5FF-BDFB-FD7B-6373-E170B9AEC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149DD-D6C8-8F5E-728B-279B5A7A0224}"/>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9B7588C9-6E87-FD21-92C3-0B84E6FDF8F5}"/>
              </a:ext>
            </a:extLst>
          </p:cNvPr>
          <p:cNvSpPr>
            <a:spLocks noGrp="1"/>
          </p:cNvSpPr>
          <p:nvPr>
            <p:ph type="body" idx="1"/>
          </p:nvPr>
        </p:nvSpPr>
        <p:spPr/>
        <p:txBody>
          <a:bodyPr/>
          <a:lstStyle/>
          <a:p>
            <a:r>
              <a:t>Khối repair (chỉ có ở SBS-R). Một ledger evaluation đo slack d_a − 1 − t_a của từng alert trên M_d realization; alert có rủi ro cao là alert trễ hoặc có slack ≤ θ = 2 slot ở nhiều realization. Xét tối đa R = 10 alert rủi ro nhất. Operator 1: nếu hop nghẽn là radio link, nhân đôi weight của hop đó chỉ trong cửa sổ [r_a, d_a). Operator 2: đổi sang path lân cận, xếp theo số link nghẽn rồi theo cost. Repair dùng chung budget với 3 block.</a:t>
            </a:r>
          </a:p>
        </p:txBody>
      </p:sp>
    </p:spTree>
    <p:extLst>
      <p:ext uri="{BB962C8B-B14F-4D97-AF65-F5344CB8AC3E}">
        <p14:creationId xmlns:p14="http://schemas.microsoft.com/office/powerpoint/2010/main" val="255152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Phần 4: kết quả thực nghiệm.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2"/>
        <p:cNvGrpSpPr/>
        <p:nvPr/>
      </p:nvGrpSpPr>
      <p:grpSpPr>
        <a:xfrm>
          <a:off x="0" y="0"/>
          <a:ext cx="0" cy="0"/>
          <a:chOff x="0" y="0"/>
          <a:chExt cx="0" cy="0"/>
        </a:xfrm>
      </p:grpSpPr>
      <p:sp>
        <p:nvSpPr>
          <p:cNvPr id="1913" name="Google Shape;1913;g24ed99bf1a4_0_13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4" name="Google Shape;1914;g24ed99bf1a4_0_1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Thiết lập thực nghiệm. Mỗi phương pháp lập kế hoạch một lần, sau đó đánh giá trên cùng 30 realization của kênh. So sánh theo cặp trên từng topology, có hiệu chỉnh Holm.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7"/>
        <p:cNvGrpSpPr/>
        <p:nvPr/>
      </p:nvGrpSpPr>
      <p:grpSpPr>
        <a:xfrm>
          <a:off x="0" y="0"/>
          <a:ext cx="0" cy="0"/>
          <a:chOff x="0" y="0"/>
          <a:chExt cx="0" cy="0"/>
        </a:xfrm>
      </p:grpSpPr>
      <p:sp>
        <p:nvSpPr>
          <p:cNvPr id="2298" name="Google Shape;2298;g24ef22aa1ac_0_14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9" name="Google Shape;2299;g24ef22aa1ac_0_1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SBS và SBS-R tốt nhất ở cả hai bộ test, SBS-R gần như bằng SBS. So với bản cũ chỉ chọn qua lại giữa 3 path và 90 tour tính sẵn, local search tăng nhẹ: SBS từ 0.551 lên 0.559, SBS-R từ 0.553 lên 0.560 (Wide). SBS-Lex dùng cùng cách search nhưng objective max-min, kết quả còn thấp hơn FixedTour.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g24ed99bf1a4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4" name="Google Shape;1854;g24ed99bf1a4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Khác biệt cùng dấu trên cả mười topology, p-value sau Holm correction là nhỏ nhất có thể với 10 topology.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p:cNvGrpSpPr/>
        <p:nvPr/>
      </p:nvGrpSpPr>
      <p:grpSpPr>
        <a:xfrm>
          <a:off x="0" y="0"/>
          <a:ext cx="0" cy="0"/>
          <a:chOff x="0" y="0"/>
          <a:chExt cx="0" cy="0"/>
        </a:xfrm>
      </p:grpSpPr>
      <p:sp>
        <p:nvSpPr>
          <p:cNvPr id="2119" name="Google Shape;2119;g24ef22aa1ac_0_5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0" name="Google Shape;2120;g24ef22aa1ac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Các số là mức giảm so với SBS-R đầy đủ. Phần lớn cải thiện đến từ việc chọn path và quỹ đạo cùng lúc, và lập kế hoạch trên nhiều realization. Vì EDF đã chia bandwidth theo lượng dữ liệu đang chờ nên khối bandwidth và repair gần như không thêm gì. Thử hết các tour mỗi vòng (cách làm cũ) chỉ hơn +0.006, không có ý nghĩa thống kê, mà tốn khoảng 90 lần đánh giá mỗi vòng thay vì khoảng 12.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Tran-IA là thuật toán inner approximation của Tran et al., nhóm chỉnh lại cho hợp với mô hình của mình. SBS cho kết quả tốt hơn và lập kế hoạch nhanh hơn, nhưng khác biệt chưa có ý nghĩa thống kê sau hiệu chỉnh Holm. Case study RescueNet đặt source tại các tòa nhà hư hại thật và cho cùng thứ tự các phương pháp.</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3"/>
        <p:cNvGrpSpPr/>
        <p:nvPr/>
      </p:nvGrpSpPr>
      <p:grpSpPr>
        <a:xfrm>
          <a:off x="0" y="0"/>
          <a:ext cx="0" cy="0"/>
          <a:chOff x="0" y="0"/>
          <a:chExt cx="0" cy="0"/>
        </a:xfrm>
      </p:grpSpPr>
      <p:sp>
        <p:nvSpPr>
          <p:cNvPr id="2214" name="Google Shape;2214;g24ef22aa1ac_0_1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5" name="Google Shape;2215;g24ef22aa1ac_0_1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Tóm tắt đóng góp và hạn chế.</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7"/>
        <p:cNvGrpSpPr/>
        <p:nvPr/>
      </p:nvGrpSpPr>
      <p:grpSpPr>
        <a:xfrm>
          <a:off x="0" y="0"/>
          <a:ext cx="0" cy="0"/>
          <a:chOff x="0" y="0"/>
          <a:chExt cx="0" cy="0"/>
        </a:xfrm>
      </p:grpSpPr>
      <p:sp>
        <p:nvSpPr>
          <p:cNvPr id="2408" name="Google Shape;2408;g24ef22aa1ac_0_17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9" name="Google Shape;2409;g24ef22aa1ac_0_1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Cảm ơn và mời đặt câu hỏi.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9"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Be Vietnam Pro"/>
                <a:ea typeface="Be Vietnam Pro"/>
                <a:cs typeface="Be Vietnam Pro"/>
                <a:sym typeface="Be Vietnam Pro"/>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 name="Google Shape;142;p4"/>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9"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5"/>
          <p:cNvSpPr txBox="1">
            <a:spLocks noGrp="1"/>
          </p:cNvSpPr>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7" name="Google Shape;177;p5"/>
          <p:cNvSpPr txBox="1">
            <a:spLocks noGrp="1"/>
          </p:cNvSpPr>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5"/>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79" name="Google Shape;179;p5"/>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l="16960" t="24719" r="7121" b="26177"/>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1"/>
        <p:cNvGrpSpPr/>
        <p:nvPr/>
      </p:nvGrpSpPr>
      <p:grpSpPr>
        <a:xfrm>
          <a:off x="0" y="0"/>
          <a:ext cx="0" cy="0"/>
          <a:chOff x="0" y="0"/>
          <a:chExt cx="0" cy="0"/>
        </a:xfrm>
      </p:grpSpPr>
      <p:grpSp>
        <p:nvGrpSpPr>
          <p:cNvPr id="252" name="Google Shape;252;p6"/>
          <p:cNvGrpSpPr/>
          <p:nvPr/>
        </p:nvGrpSpPr>
        <p:grpSpPr>
          <a:xfrm rot="-8100000">
            <a:off x="-1629951" y="-1138306"/>
            <a:ext cx="3785189" cy="3043121"/>
            <a:chOff x="7103825" y="-713112"/>
            <a:chExt cx="3785226" cy="3043150"/>
          </a:xfrm>
        </p:grpSpPr>
        <p:sp>
          <p:nvSpPr>
            <p:cNvPr id="253" name="Google Shape;253;p6"/>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4" name="Google Shape;254;p6"/>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sp>
        <p:nvSpPr>
          <p:cNvPr id="255" name="Google Shape;25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256" name="Google Shape;256;p6"/>
          <p:cNvGrpSpPr/>
          <p:nvPr/>
        </p:nvGrpSpPr>
        <p:grpSpPr>
          <a:xfrm>
            <a:off x="8106279" y="-844413"/>
            <a:ext cx="1791132" cy="2767833"/>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9" name="Google Shape;269;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4" name="Google Shape;28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4" name="Google Shape;29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5" name="Google Shape;295;p6"/>
          <p:cNvGrpSpPr/>
          <p:nvPr/>
        </p:nvGrpSpPr>
        <p:grpSpPr>
          <a:xfrm>
            <a:off x="-1499000" y="3182553"/>
            <a:ext cx="4558967" cy="3356863"/>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8" name="Google Shape;308;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3" name="Google Shape;32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3" name="Google Shape;33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6" name="Google Shape;336;p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37" name="Google Shape;337;p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8"/>
        <p:cNvGrpSpPr/>
        <p:nvPr/>
      </p:nvGrpSpPr>
      <p:grpSpPr>
        <a:xfrm>
          <a:off x="0" y="0"/>
          <a:ext cx="0" cy="0"/>
          <a:chOff x="0" y="0"/>
          <a:chExt cx="0" cy="0"/>
        </a:xfrm>
      </p:grpSpPr>
      <p:sp>
        <p:nvSpPr>
          <p:cNvPr id="339" name="Google Shape;339;p7"/>
          <p:cNvSpPr txBox="1">
            <a:spLocks noGrp="1"/>
          </p:cNvSpPr>
          <p:nvPr>
            <p:ph type="subTitle" idx="1"/>
          </p:nvPr>
        </p:nvSpPr>
        <p:spPr>
          <a:xfrm>
            <a:off x="713225" y="1160775"/>
            <a:ext cx="7710900" cy="345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AutoNum type="arabicPeriod"/>
              <a:defRPr sz="1400"/>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a:endParaRPr/>
          </a:p>
        </p:txBody>
      </p:sp>
      <p:sp>
        <p:nvSpPr>
          <p:cNvPr id="340" name="Google Shape;340;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41" name="Google Shape;341;p7"/>
          <p:cNvGrpSpPr/>
          <p:nvPr/>
        </p:nvGrpSpPr>
        <p:grpSpPr>
          <a:xfrm>
            <a:off x="8934675" y="3943438"/>
            <a:ext cx="439200" cy="439100"/>
            <a:chOff x="1101075" y="2142375"/>
            <a:chExt cx="439200" cy="439100"/>
          </a:xfrm>
        </p:grpSpPr>
        <p:sp>
          <p:nvSpPr>
            <p:cNvPr id="342" name="Google Shape;34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 name="Google Shape;344;p7"/>
          <p:cNvGrpSpPr/>
          <p:nvPr/>
        </p:nvGrpSpPr>
        <p:grpSpPr>
          <a:xfrm>
            <a:off x="5481594" y="-3117615"/>
            <a:ext cx="5954334" cy="6142759"/>
            <a:chOff x="5329194" y="-2965215"/>
            <a:chExt cx="5954334" cy="6142759"/>
          </a:xfrm>
        </p:grpSpPr>
        <p:sp>
          <p:nvSpPr>
            <p:cNvPr id="345" name="Google Shape;345;p7"/>
            <p:cNvSpPr/>
            <p:nvPr/>
          </p:nvSpPr>
          <p:spPr>
            <a:xfrm rot="-2700000">
              <a:off x="6677338" y="-23069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rot="-2700000">
              <a:off x="6782013" y="-26000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9" name="Google Shape;349;p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50" name="Google Shape;350;p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1" name="Google Shape;351;p7"/>
          <p:cNvGrpSpPr/>
          <p:nvPr/>
        </p:nvGrpSpPr>
        <p:grpSpPr>
          <a:xfrm flipH="1">
            <a:off x="-503516" y="3986929"/>
            <a:ext cx="5249359" cy="2992224"/>
            <a:chOff x="-258616" y="3430829"/>
            <a:chExt cx="5249359" cy="2992224"/>
          </a:xfrm>
        </p:grpSpPr>
        <p:pic>
          <p:nvPicPr>
            <p:cNvPr id="352" name="Google Shape;352;p7"/>
            <p:cNvPicPr preferRelativeResize="0"/>
            <p:nvPr/>
          </p:nvPicPr>
          <p:blipFill rotWithShape="1">
            <a:blip r:embed="rId2">
              <a:alphaModFix/>
            </a:blip>
            <a:srcRect l="16960" t="24719" r="7121" b="26177"/>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7"/>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4"/>
        <p:cNvGrpSpPr/>
        <p:nvPr/>
      </p:nvGrpSpPr>
      <p:grpSpPr>
        <a:xfrm>
          <a:off x="0" y="0"/>
          <a:ext cx="0" cy="0"/>
          <a:chOff x="0" y="0"/>
          <a:chExt cx="0" cy="0"/>
        </a:xfrm>
      </p:grpSpPr>
      <p:sp>
        <p:nvSpPr>
          <p:cNvPr id="365" name="Google Shape;365;p8"/>
          <p:cNvSpPr txBox="1">
            <a:spLocks noGrp="1"/>
          </p:cNvSpPr>
          <p:nvPr>
            <p:ph type="title"/>
          </p:nvPr>
        </p:nvSpPr>
        <p:spPr>
          <a:xfrm>
            <a:off x="713225" y="2122600"/>
            <a:ext cx="7297500" cy="9102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366" name="Google Shape;366;p8"/>
          <p:cNvGrpSpPr/>
          <p:nvPr/>
        </p:nvGrpSpPr>
        <p:grpSpPr>
          <a:xfrm>
            <a:off x="6475811" y="-1541623"/>
            <a:ext cx="2583360" cy="2409685"/>
            <a:chOff x="6475811" y="-1541623"/>
            <a:chExt cx="2583360" cy="2409685"/>
          </a:xfrm>
        </p:grpSpPr>
        <p:grpSp>
          <p:nvGrpSpPr>
            <p:cNvPr id="367" name="Google Shape;367;p8"/>
            <p:cNvGrpSpPr/>
            <p:nvPr/>
          </p:nvGrpSpPr>
          <p:grpSpPr>
            <a:xfrm rot="-5400000">
              <a:off x="5879041" y="-944853"/>
              <a:ext cx="2133442" cy="939904"/>
              <a:chOff x="-149984" y="3754784"/>
              <a:chExt cx="2133442" cy="939904"/>
            </a:xfrm>
          </p:grpSpPr>
          <p:sp>
            <p:nvSpPr>
              <p:cNvPr id="368" name="Google Shape;368;p8"/>
              <p:cNvSpPr/>
              <p:nvPr/>
            </p:nvSpPr>
            <p:spPr>
              <a:xfrm rot="5400000">
                <a:off x="707379" y="3056155"/>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rot="5400000">
                <a:off x="391825" y="3465468"/>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p:nvPr/>
          </p:nvSpPr>
          <p:spPr>
            <a:xfrm rot="5400000">
              <a:off x="7783092" y="-77047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8"/>
            <p:cNvSpPr/>
            <p:nvPr/>
          </p:nvSpPr>
          <p:spPr>
            <a:xfrm rot="5400000">
              <a:off x="7617537" y="-361157"/>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8"/>
            <p:cNvGrpSpPr/>
            <p:nvPr/>
          </p:nvGrpSpPr>
          <p:grpSpPr>
            <a:xfrm>
              <a:off x="7741638" y="-258450"/>
              <a:ext cx="439200" cy="439100"/>
              <a:chOff x="1101075" y="2142375"/>
              <a:chExt cx="439200" cy="439100"/>
            </a:xfrm>
          </p:grpSpPr>
          <p:sp>
            <p:nvSpPr>
              <p:cNvPr id="373" name="Google Shape;373;p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5"/>
        <p:cNvGrpSpPr/>
        <p:nvPr/>
      </p:nvGrpSpPr>
      <p:grpSpPr>
        <a:xfrm>
          <a:off x="0" y="0"/>
          <a:ext cx="0" cy="0"/>
          <a:chOff x="0" y="0"/>
          <a:chExt cx="0" cy="0"/>
        </a:xfrm>
      </p:grpSpPr>
      <p:sp>
        <p:nvSpPr>
          <p:cNvPr id="376" name="Google Shape;376;p9"/>
          <p:cNvSpPr txBox="1">
            <a:spLocks noGrp="1"/>
          </p:cNvSpPr>
          <p:nvPr>
            <p:ph type="title"/>
          </p:nvPr>
        </p:nvSpPr>
        <p:spPr>
          <a:xfrm>
            <a:off x="720000" y="479750"/>
            <a:ext cx="3145200" cy="1843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9"/>
          <p:cNvSpPr txBox="1">
            <a:spLocks noGrp="1"/>
          </p:cNvSpPr>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lvl1pPr lvl="0" rtl="0">
              <a:spcBef>
                <a:spcPts val="0"/>
              </a:spcBef>
              <a:spcAft>
                <a:spcPts val="0"/>
              </a:spcAft>
              <a:buSzPts val="800"/>
              <a:buFont typeface="Open Sans"/>
              <a:buChar char="●"/>
              <a:defRPr/>
            </a:lvl1pPr>
            <a:lvl2pPr lvl="1" algn="ctr" rtl="0">
              <a:lnSpc>
                <a:spcPct val="100000"/>
              </a:lnSpc>
              <a:spcBef>
                <a:spcPts val="0"/>
              </a:spcBef>
              <a:spcAft>
                <a:spcPts val="0"/>
              </a:spcAft>
              <a:buSzPts val="800"/>
              <a:buFont typeface="Open Sans"/>
              <a:buChar char="○"/>
              <a:defRPr/>
            </a:lvl2pPr>
            <a:lvl3pPr lvl="2" algn="ctr" rtl="0">
              <a:lnSpc>
                <a:spcPct val="100000"/>
              </a:lnSpc>
              <a:spcBef>
                <a:spcPts val="0"/>
              </a:spcBef>
              <a:spcAft>
                <a:spcPts val="0"/>
              </a:spcAft>
              <a:buSzPts val="800"/>
              <a:buFont typeface="Open Sans"/>
              <a:buChar char="■"/>
              <a:defRPr/>
            </a:lvl3pPr>
            <a:lvl4pPr lvl="3" algn="ctr" rtl="0">
              <a:lnSpc>
                <a:spcPct val="100000"/>
              </a:lnSpc>
              <a:spcBef>
                <a:spcPts val="0"/>
              </a:spcBef>
              <a:spcAft>
                <a:spcPts val="0"/>
              </a:spcAft>
              <a:buSzPts val="800"/>
              <a:buFont typeface="Open Sans"/>
              <a:buChar char="●"/>
              <a:defRPr/>
            </a:lvl4pPr>
            <a:lvl5pPr lvl="4" algn="ctr" rtl="0">
              <a:lnSpc>
                <a:spcPct val="100000"/>
              </a:lnSpc>
              <a:spcBef>
                <a:spcPts val="0"/>
              </a:spcBef>
              <a:spcAft>
                <a:spcPts val="0"/>
              </a:spcAft>
              <a:buSzPts val="1200"/>
              <a:buFont typeface="Open Sans"/>
              <a:buChar char="○"/>
              <a:defRPr/>
            </a:lvl5pPr>
            <a:lvl6pPr lvl="5" algn="ctr" rtl="0">
              <a:lnSpc>
                <a:spcPct val="100000"/>
              </a:lnSpc>
              <a:spcBef>
                <a:spcPts val="0"/>
              </a:spcBef>
              <a:spcAft>
                <a:spcPts val="0"/>
              </a:spcAft>
              <a:buSzPts val="1200"/>
              <a:buFont typeface="Open Sans"/>
              <a:buChar char="■"/>
              <a:defRPr/>
            </a:lvl6pPr>
            <a:lvl7pPr lvl="6" algn="ctr" rtl="0">
              <a:lnSpc>
                <a:spcPct val="100000"/>
              </a:lnSpc>
              <a:spcBef>
                <a:spcPts val="0"/>
              </a:spcBef>
              <a:spcAft>
                <a:spcPts val="0"/>
              </a:spcAft>
              <a:buSzPts val="700"/>
              <a:buFont typeface="Open Sans"/>
              <a:buChar char="●"/>
              <a:defRPr/>
            </a:lvl7pPr>
            <a:lvl8pPr lvl="7" algn="ctr" rtl="0">
              <a:lnSpc>
                <a:spcPct val="100000"/>
              </a:lnSpc>
              <a:spcBef>
                <a:spcPts val="0"/>
              </a:spcBef>
              <a:spcAft>
                <a:spcPts val="0"/>
              </a:spcAft>
              <a:buSzPts val="700"/>
              <a:buFont typeface="Open Sans"/>
              <a:buChar char="○"/>
              <a:defRPr/>
            </a:lvl8pPr>
            <a:lvl9pPr lvl="8" algn="ctr" rtl="0">
              <a:lnSpc>
                <a:spcPct val="100000"/>
              </a:lnSpc>
              <a:spcBef>
                <a:spcPts val="0"/>
              </a:spcBef>
              <a:spcAft>
                <a:spcPts val="0"/>
              </a:spcAft>
              <a:buSzPts val="600"/>
              <a:buFont typeface="Open Sans"/>
              <a:buChar char="■"/>
              <a:defRPr/>
            </a:lvl9pPr>
          </a:lstStyle>
          <a:p>
            <a:endParaRPr/>
          </a:p>
        </p:txBody>
      </p:sp>
      <p:sp>
        <p:nvSpPr>
          <p:cNvPr id="378" name="Google Shape;378;p9"/>
          <p:cNvSpPr>
            <a:spLocks noGrp="1"/>
          </p:cNvSpPr>
          <p:nvPr>
            <p:ph type="pic" idx="2"/>
          </p:nvPr>
        </p:nvSpPr>
        <p:spPr>
          <a:xfrm>
            <a:off x="4135800" y="539500"/>
            <a:ext cx="4295100" cy="4069200"/>
          </a:xfrm>
          <a:prstGeom prst="snip1Rect">
            <a:avLst>
              <a:gd name="adj" fmla="val 16667"/>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l="16960" t="24719" r="7121" b="26177"/>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8" name="Google Shape;398;p9"/>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 name="Google Shape;409;p9"/>
            <p:cNvPicPr preferRelativeResize="0"/>
            <p:nvPr/>
          </p:nvPicPr>
          <p:blipFill rotWithShape="1">
            <a:blip r:embed="rId2">
              <a:alphaModFix/>
            </a:blip>
            <a:srcRect l="16960" t="24719" r="7121" b="26177"/>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9"/>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2" name="Google Shape;422;p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23" name="Google Shape;423;p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4"/>
        <p:cNvGrpSpPr/>
        <p:nvPr/>
      </p:nvGrpSpPr>
      <p:grpSpPr>
        <a:xfrm>
          <a:off x="0" y="0"/>
          <a:ext cx="0" cy="0"/>
          <a:chOff x="0" y="0"/>
          <a:chExt cx="0" cy="0"/>
        </a:xfrm>
      </p:grpSpPr>
      <p:sp>
        <p:nvSpPr>
          <p:cNvPr id="425" name="Google Shape;425;p10"/>
          <p:cNvSpPr>
            <a:spLocks noGrp="1"/>
          </p:cNvSpPr>
          <p:nvPr>
            <p:ph type="pic" idx="2"/>
          </p:nvPr>
        </p:nvSpPr>
        <p:spPr>
          <a:xfrm>
            <a:off x="0" y="0"/>
            <a:ext cx="9144000" cy="5143500"/>
          </a:xfrm>
          <a:prstGeom prst="rect">
            <a:avLst/>
          </a:prstGeom>
          <a:noFill/>
          <a:ln>
            <a:noFill/>
          </a:ln>
        </p:spPr>
      </p:sp>
      <p:sp>
        <p:nvSpPr>
          <p:cNvPr id="426" name="Google Shape;426;p10"/>
          <p:cNvSpPr txBox="1">
            <a:spLocks noGrp="1"/>
          </p:cNvSpPr>
          <p:nvPr>
            <p:ph type="title"/>
          </p:nvPr>
        </p:nvSpPr>
        <p:spPr>
          <a:xfrm>
            <a:off x="720000" y="539500"/>
            <a:ext cx="3672000" cy="93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sz="25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7"/>
        <p:cNvGrpSpPr/>
        <p:nvPr/>
      </p:nvGrpSpPr>
      <p:grpSpPr>
        <a:xfrm>
          <a:off x="0" y="0"/>
          <a:ext cx="0" cy="0"/>
          <a:chOff x="0" y="0"/>
          <a:chExt cx="0" cy="0"/>
        </a:xfrm>
      </p:grpSpPr>
      <p:sp>
        <p:nvSpPr>
          <p:cNvPr id="428" name="Google Shape;428;p11"/>
          <p:cNvSpPr txBox="1">
            <a:spLocks noGrp="1"/>
          </p:cNvSpPr>
          <p:nvPr>
            <p:ph type="title" hasCustomPrompt="1"/>
          </p:nvPr>
        </p:nvSpPr>
        <p:spPr>
          <a:xfrm>
            <a:off x="713225" y="1766475"/>
            <a:ext cx="6576000" cy="1036200"/>
          </a:xfrm>
          <a:prstGeom prst="rect">
            <a:avLst/>
          </a:prstGeom>
        </p:spPr>
        <p:txBody>
          <a:bodyPr spcFirstLastPara="1" wrap="square" lIns="91425" tIns="91425" rIns="91425" bIns="91425" anchor="b" anchorCtr="0">
            <a:noAutofit/>
          </a:bodyPr>
          <a:lstStyle>
            <a:lvl1pPr lvl="0">
              <a:spcBef>
                <a:spcPts val="0"/>
              </a:spcBef>
              <a:spcAft>
                <a:spcPts val="0"/>
              </a:spcAft>
              <a:buSzPts val="9600"/>
              <a:buFont typeface="Be Vietnam Pro"/>
              <a:buNone/>
              <a:defRPr sz="6000">
                <a:latin typeface="Be Vietnam Pro"/>
                <a:ea typeface="Be Vietnam Pro"/>
                <a:cs typeface="Be Vietnam Pro"/>
                <a:sym typeface="Be Vietnam Pro"/>
              </a:defRPr>
            </a:lvl1pPr>
            <a:lvl2pPr lvl="1" algn="ctr">
              <a:spcBef>
                <a:spcPts val="0"/>
              </a:spcBef>
              <a:spcAft>
                <a:spcPts val="0"/>
              </a:spcAft>
              <a:buSzPts val="9600"/>
              <a:buFont typeface="Be Vietnam Pro"/>
              <a:buNone/>
              <a:defRPr sz="9600">
                <a:latin typeface="Be Vietnam Pro"/>
                <a:ea typeface="Be Vietnam Pro"/>
                <a:cs typeface="Be Vietnam Pro"/>
                <a:sym typeface="Be Vietnam Pro"/>
              </a:defRPr>
            </a:lvl2pPr>
            <a:lvl3pPr lvl="2" algn="ctr">
              <a:spcBef>
                <a:spcPts val="0"/>
              </a:spcBef>
              <a:spcAft>
                <a:spcPts val="0"/>
              </a:spcAft>
              <a:buSzPts val="9600"/>
              <a:buFont typeface="Be Vietnam Pro"/>
              <a:buNone/>
              <a:defRPr sz="9600">
                <a:latin typeface="Be Vietnam Pro"/>
                <a:ea typeface="Be Vietnam Pro"/>
                <a:cs typeface="Be Vietnam Pro"/>
                <a:sym typeface="Be Vietnam Pro"/>
              </a:defRPr>
            </a:lvl3pPr>
            <a:lvl4pPr lvl="3" algn="ctr">
              <a:spcBef>
                <a:spcPts val="0"/>
              </a:spcBef>
              <a:spcAft>
                <a:spcPts val="0"/>
              </a:spcAft>
              <a:buSzPts val="9600"/>
              <a:buFont typeface="Be Vietnam Pro"/>
              <a:buNone/>
              <a:defRPr sz="9600">
                <a:latin typeface="Be Vietnam Pro"/>
                <a:ea typeface="Be Vietnam Pro"/>
                <a:cs typeface="Be Vietnam Pro"/>
                <a:sym typeface="Be Vietnam Pro"/>
              </a:defRPr>
            </a:lvl4pPr>
            <a:lvl5pPr lvl="4" algn="ctr">
              <a:spcBef>
                <a:spcPts val="0"/>
              </a:spcBef>
              <a:spcAft>
                <a:spcPts val="0"/>
              </a:spcAft>
              <a:buSzPts val="9600"/>
              <a:buFont typeface="Be Vietnam Pro"/>
              <a:buNone/>
              <a:defRPr sz="9600">
                <a:latin typeface="Be Vietnam Pro"/>
                <a:ea typeface="Be Vietnam Pro"/>
                <a:cs typeface="Be Vietnam Pro"/>
                <a:sym typeface="Be Vietnam Pro"/>
              </a:defRPr>
            </a:lvl5pPr>
            <a:lvl6pPr lvl="5" algn="ctr">
              <a:spcBef>
                <a:spcPts val="0"/>
              </a:spcBef>
              <a:spcAft>
                <a:spcPts val="0"/>
              </a:spcAft>
              <a:buSzPts val="9600"/>
              <a:buFont typeface="Be Vietnam Pro"/>
              <a:buNone/>
              <a:defRPr sz="9600">
                <a:latin typeface="Be Vietnam Pro"/>
                <a:ea typeface="Be Vietnam Pro"/>
                <a:cs typeface="Be Vietnam Pro"/>
                <a:sym typeface="Be Vietnam Pro"/>
              </a:defRPr>
            </a:lvl6pPr>
            <a:lvl7pPr lvl="6" algn="ctr">
              <a:spcBef>
                <a:spcPts val="0"/>
              </a:spcBef>
              <a:spcAft>
                <a:spcPts val="0"/>
              </a:spcAft>
              <a:buSzPts val="9600"/>
              <a:buFont typeface="Be Vietnam Pro"/>
              <a:buNone/>
              <a:defRPr sz="9600">
                <a:latin typeface="Be Vietnam Pro"/>
                <a:ea typeface="Be Vietnam Pro"/>
                <a:cs typeface="Be Vietnam Pro"/>
                <a:sym typeface="Be Vietnam Pro"/>
              </a:defRPr>
            </a:lvl7pPr>
            <a:lvl8pPr lvl="7" algn="ctr">
              <a:spcBef>
                <a:spcPts val="0"/>
              </a:spcBef>
              <a:spcAft>
                <a:spcPts val="0"/>
              </a:spcAft>
              <a:buSzPts val="9600"/>
              <a:buFont typeface="Be Vietnam Pro"/>
              <a:buNone/>
              <a:defRPr sz="9600">
                <a:latin typeface="Be Vietnam Pro"/>
                <a:ea typeface="Be Vietnam Pro"/>
                <a:cs typeface="Be Vietnam Pro"/>
                <a:sym typeface="Be Vietnam Pro"/>
              </a:defRPr>
            </a:lvl8pPr>
            <a:lvl9pPr lvl="8" algn="ctr">
              <a:spcBef>
                <a:spcPts val="0"/>
              </a:spcBef>
              <a:spcAft>
                <a:spcPts val="0"/>
              </a:spcAft>
              <a:buSzPts val="9600"/>
              <a:buFont typeface="Be Vietnam Pro"/>
              <a:buNone/>
              <a:defRPr sz="9600">
                <a:latin typeface="Be Vietnam Pro"/>
                <a:ea typeface="Be Vietnam Pro"/>
                <a:cs typeface="Be Vietnam Pro"/>
                <a:sym typeface="Be Vietnam Pro"/>
              </a:defRPr>
            </a:lvl9pPr>
          </a:lstStyle>
          <a:p>
            <a:r>
              <a:t>xx%</a:t>
            </a:r>
          </a:p>
        </p:txBody>
      </p:sp>
      <p:sp>
        <p:nvSpPr>
          <p:cNvPr id="429" name="Google Shape;429;p11"/>
          <p:cNvSpPr txBox="1">
            <a:spLocks noGrp="1"/>
          </p:cNvSpPr>
          <p:nvPr>
            <p:ph type="subTitle" idx="1"/>
          </p:nvPr>
        </p:nvSpPr>
        <p:spPr>
          <a:xfrm>
            <a:off x="713225" y="3118375"/>
            <a:ext cx="6576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1"/>
              <p:cNvSpPr/>
              <p:nvPr/>
            </p:nvSpPr>
            <p:spPr>
              <a:xfrm rot="-5400000">
                <a:off x="891329" y="3148090"/>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8" name="Google Shape;478;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9" name="Google Shape;489;p11"/>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1"/>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44"/>
        <p:cNvGrpSpPr/>
        <p:nvPr/>
      </p:nvGrpSpPr>
      <p:grpSpPr>
        <a:xfrm>
          <a:off x="0" y="0"/>
          <a:ext cx="0" cy="0"/>
          <a:chOff x="0" y="0"/>
          <a:chExt cx="0" cy="0"/>
        </a:xfrm>
      </p:grpSpPr>
      <p:sp>
        <p:nvSpPr>
          <p:cNvPr id="545" name="Google Shape;545;p14"/>
          <p:cNvSpPr txBox="1">
            <a:spLocks noGrp="1"/>
          </p:cNvSpPr>
          <p:nvPr>
            <p:ph type="title"/>
          </p:nvPr>
        </p:nvSpPr>
        <p:spPr>
          <a:xfrm>
            <a:off x="713225" y="3349250"/>
            <a:ext cx="6691200" cy="5319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46" name="Google Shape;546;p14"/>
          <p:cNvSpPr txBox="1">
            <a:spLocks noGrp="1"/>
          </p:cNvSpPr>
          <p:nvPr>
            <p:ph type="subTitle" idx="1"/>
          </p:nvPr>
        </p:nvSpPr>
        <p:spPr>
          <a:xfrm>
            <a:off x="713225" y="1511313"/>
            <a:ext cx="6691200" cy="1478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8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547"/>
        <p:cNvGrpSpPr/>
        <p:nvPr/>
      </p:nvGrpSpPr>
      <p:grpSpPr>
        <a:xfrm>
          <a:off x="0" y="0"/>
          <a:ext cx="0" cy="0"/>
          <a:chOff x="0" y="0"/>
          <a:chExt cx="0" cy="0"/>
        </a:xfrm>
      </p:grpSpPr>
      <p:sp>
        <p:nvSpPr>
          <p:cNvPr id="548" name="Google Shape;548;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549" name="Google Shape;549;p15"/>
          <p:cNvGrpSpPr/>
          <p:nvPr/>
        </p:nvGrpSpPr>
        <p:grpSpPr>
          <a:xfrm>
            <a:off x="4967675" y="4931713"/>
            <a:ext cx="439200" cy="439100"/>
            <a:chOff x="1101075" y="2142375"/>
            <a:chExt cx="439200" cy="439100"/>
          </a:xfrm>
        </p:grpSpPr>
        <p:sp>
          <p:nvSpPr>
            <p:cNvPr id="550" name="Google Shape;550;p1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15"/>
          <p:cNvGrpSpPr/>
          <p:nvPr/>
        </p:nvGrpSpPr>
        <p:grpSpPr>
          <a:xfrm>
            <a:off x="2176605" y="-3695660"/>
            <a:ext cx="7317722" cy="6983297"/>
            <a:chOff x="2100405" y="-3619460"/>
            <a:chExt cx="7317722" cy="6983297"/>
          </a:xfrm>
        </p:grpSpPr>
        <p:sp>
          <p:nvSpPr>
            <p:cNvPr id="553" name="Google Shape;553;p15"/>
            <p:cNvSpPr/>
            <p:nvPr/>
          </p:nvSpPr>
          <p:spPr>
            <a:xfrm rot="8100000" flipH="1">
              <a:off x="3778999" y="-2106462"/>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4" name="Google Shape;554;p15"/>
            <p:cNvGrpSpPr/>
            <p:nvPr/>
          </p:nvGrpSpPr>
          <p:grpSpPr>
            <a:xfrm rot="2700000">
              <a:off x="7787417" y="120497"/>
              <a:ext cx="582044" cy="582419"/>
              <a:chOff x="959750" y="3039275"/>
              <a:chExt cx="582050" cy="582425"/>
            </a:xfrm>
          </p:grpSpPr>
          <p:sp>
            <p:nvSpPr>
              <p:cNvPr id="555" name="Google Shape;555;p1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15"/>
            <p:cNvGrpSpPr/>
            <p:nvPr/>
          </p:nvGrpSpPr>
          <p:grpSpPr>
            <a:xfrm rot="2700000">
              <a:off x="8310742" y="-75303"/>
              <a:ext cx="582044" cy="582419"/>
              <a:chOff x="959750" y="3039275"/>
              <a:chExt cx="582050" cy="582425"/>
            </a:xfrm>
          </p:grpSpPr>
          <p:sp>
            <p:nvSpPr>
              <p:cNvPr id="563" name="Google Shape;563;p1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0" name="Google Shape;570;p15"/>
            <p:cNvSpPr/>
            <p:nvPr/>
          </p:nvSpPr>
          <p:spPr>
            <a:xfrm rot="5400000">
              <a:off x="8142048" y="-57566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5"/>
            <p:cNvSpPr/>
            <p:nvPr/>
          </p:nvSpPr>
          <p:spPr>
            <a:xfrm rot="10800000">
              <a:off x="8365398" y="-290023"/>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5"/>
            <p:cNvSpPr/>
            <p:nvPr/>
          </p:nvSpPr>
          <p:spPr>
            <a:xfrm rot="10800000">
              <a:off x="8490148" y="2"/>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5"/>
            <p:cNvSpPr/>
            <p:nvPr/>
          </p:nvSpPr>
          <p:spPr>
            <a:xfrm rot="-2700000" flipH="1">
              <a:off x="3192849" y="-2898537"/>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 name="Google Shape;574;p15"/>
          <p:cNvGrpSpPr/>
          <p:nvPr/>
        </p:nvGrpSpPr>
        <p:grpSpPr>
          <a:xfrm>
            <a:off x="-2424242" y="2074146"/>
            <a:ext cx="6274943" cy="6257753"/>
            <a:chOff x="-2447692" y="2022396"/>
            <a:chExt cx="6274943" cy="6257753"/>
          </a:xfrm>
        </p:grpSpPr>
        <p:grpSp>
          <p:nvGrpSpPr>
            <p:cNvPr id="575" name="Google Shape;575;p15"/>
            <p:cNvGrpSpPr/>
            <p:nvPr/>
          </p:nvGrpSpPr>
          <p:grpSpPr>
            <a:xfrm rot="10800000" flipH="1">
              <a:off x="-25334" y="4406387"/>
              <a:ext cx="1538562" cy="971589"/>
              <a:chOff x="-191059" y="95963"/>
              <a:chExt cx="1538562" cy="971589"/>
            </a:xfrm>
          </p:grpSpPr>
          <p:grpSp>
            <p:nvGrpSpPr>
              <p:cNvPr id="576" name="Google Shape;576;p15"/>
              <p:cNvGrpSpPr/>
              <p:nvPr/>
            </p:nvGrpSpPr>
            <p:grpSpPr>
              <a:xfrm>
                <a:off x="-191059" y="201619"/>
                <a:ext cx="904284" cy="865933"/>
                <a:chOff x="2038491" y="-937756"/>
                <a:chExt cx="904284" cy="865933"/>
              </a:xfrm>
            </p:grpSpPr>
            <p:grpSp>
              <p:nvGrpSpPr>
                <p:cNvPr id="577" name="Google Shape;577;p15"/>
                <p:cNvGrpSpPr/>
                <p:nvPr/>
              </p:nvGrpSpPr>
              <p:grpSpPr>
                <a:xfrm>
                  <a:off x="2096570" y="-863491"/>
                  <a:ext cx="717621" cy="717392"/>
                  <a:chOff x="1483457" y="3953671"/>
                  <a:chExt cx="717621" cy="717392"/>
                </a:xfrm>
              </p:grpSpPr>
              <p:sp>
                <p:nvSpPr>
                  <p:cNvPr id="578" name="Google Shape;578;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3" name="Google Shape;583;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15"/>
              <p:cNvGrpSpPr/>
              <p:nvPr/>
            </p:nvGrpSpPr>
            <p:grpSpPr>
              <a:xfrm>
                <a:off x="584533" y="95963"/>
                <a:ext cx="473483" cy="453403"/>
                <a:chOff x="2038491" y="-937756"/>
                <a:chExt cx="904284" cy="865933"/>
              </a:xfrm>
            </p:grpSpPr>
            <p:grpSp>
              <p:nvGrpSpPr>
                <p:cNvPr id="585" name="Google Shape;585;p15"/>
                <p:cNvGrpSpPr/>
                <p:nvPr/>
              </p:nvGrpSpPr>
              <p:grpSpPr>
                <a:xfrm>
                  <a:off x="2096570" y="-863491"/>
                  <a:ext cx="717621" cy="717392"/>
                  <a:chOff x="1483457" y="3953671"/>
                  <a:chExt cx="717621" cy="717392"/>
                </a:xfrm>
              </p:grpSpPr>
              <p:sp>
                <p:nvSpPr>
                  <p:cNvPr id="586" name="Google Shape;586;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1" name="Google Shape;591;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15"/>
              <p:cNvGrpSpPr/>
              <p:nvPr/>
            </p:nvGrpSpPr>
            <p:grpSpPr>
              <a:xfrm>
                <a:off x="530445" y="481913"/>
                <a:ext cx="473483" cy="453403"/>
                <a:chOff x="2038491" y="-937756"/>
                <a:chExt cx="904284" cy="865933"/>
              </a:xfrm>
            </p:grpSpPr>
            <p:grpSp>
              <p:nvGrpSpPr>
                <p:cNvPr id="593" name="Google Shape;593;p15"/>
                <p:cNvGrpSpPr/>
                <p:nvPr/>
              </p:nvGrpSpPr>
              <p:grpSpPr>
                <a:xfrm>
                  <a:off x="2096570" y="-863491"/>
                  <a:ext cx="717621" cy="717392"/>
                  <a:chOff x="1483457" y="3953671"/>
                  <a:chExt cx="717621" cy="717392"/>
                </a:xfrm>
              </p:grpSpPr>
              <p:sp>
                <p:nvSpPr>
                  <p:cNvPr id="594" name="Google Shape;594;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9" name="Google Shape;599;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15"/>
              <p:cNvGrpSpPr/>
              <p:nvPr/>
            </p:nvGrpSpPr>
            <p:grpSpPr>
              <a:xfrm>
                <a:off x="874020" y="312788"/>
                <a:ext cx="473483" cy="453403"/>
                <a:chOff x="2038491" y="-937756"/>
                <a:chExt cx="904284" cy="865933"/>
              </a:xfrm>
            </p:grpSpPr>
            <p:grpSp>
              <p:nvGrpSpPr>
                <p:cNvPr id="601" name="Google Shape;601;p15"/>
                <p:cNvGrpSpPr/>
                <p:nvPr/>
              </p:nvGrpSpPr>
              <p:grpSpPr>
                <a:xfrm>
                  <a:off x="2096570" y="-863491"/>
                  <a:ext cx="717621" cy="717392"/>
                  <a:chOff x="1483457" y="3953671"/>
                  <a:chExt cx="717621" cy="717392"/>
                </a:xfrm>
              </p:grpSpPr>
              <p:sp>
                <p:nvSpPr>
                  <p:cNvPr id="602" name="Google Shape;602;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8" name="Google Shape;608;p15"/>
            <p:cNvGrpSpPr/>
            <p:nvPr/>
          </p:nvGrpSpPr>
          <p:grpSpPr>
            <a:xfrm rot="-3320950" flipH="1">
              <a:off x="-1885521" y="3185658"/>
              <a:ext cx="4889863" cy="3931229"/>
              <a:chOff x="7103825" y="-713112"/>
              <a:chExt cx="3785226" cy="3043150"/>
            </a:xfrm>
          </p:grpSpPr>
          <p:sp>
            <p:nvSpPr>
              <p:cNvPr id="609" name="Google Shape;609;p15"/>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0" name="Google Shape;610;p15"/>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sp>
          <p:nvSpPr>
            <p:cNvPr id="611" name="Google Shape;611;p15"/>
            <p:cNvSpPr/>
            <p:nvPr/>
          </p:nvSpPr>
          <p:spPr>
            <a:xfrm rot="-2700000" flipH="1">
              <a:off x="249333" y="3270782"/>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2" name="Google Shape;612;p15"/>
            <p:cNvGrpSpPr/>
            <p:nvPr/>
          </p:nvGrpSpPr>
          <p:grpSpPr>
            <a:xfrm rot="5400000">
              <a:off x="1987130" y="4230949"/>
              <a:ext cx="88142" cy="1137387"/>
              <a:chOff x="3054755" y="4367024"/>
              <a:chExt cx="88142" cy="1137387"/>
            </a:xfrm>
          </p:grpSpPr>
          <p:sp>
            <p:nvSpPr>
              <p:cNvPr id="613" name="Google Shape;613;p15"/>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5"/>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615"/>
        <p:cNvGrpSpPr/>
        <p:nvPr/>
      </p:nvGrpSpPr>
      <p:grpSpPr>
        <a:xfrm>
          <a:off x="0" y="0"/>
          <a:ext cx="0" cy="0"/>
          <a:chOff x="0" y="0"/>
          <a:chExt cx="0" cy="0"/>
        </a:xfrm>
      </p:grpSpPr>
      <p:sp>
        <p:nvSpPr>
          <p:cNvPr id="616" name="Google Shape;61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617" name="Google Shape;617;p16"/>
          <p:cNvGrpSpPr/>
          <p:nvPr/>
        </p:nvGrpSpPr>
        <p:grpSpPr>
          <a:xfrm>
            <a:off x="7810267" y="-622132"/>
            <a:ext cx="2587792" cy="2725916"/>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6"/>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6"/>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27" name="Google Shape;627;p16"/>
            <p:cNvSpPr/>
            <p:nvPr/>
          </p:nvSpPr>
          <p:spPr>
            <a:xfrm rot="2700000">
              <a:off x="8482428" y="-42254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6"/>
            <p:cNvSpPr/>
            <p:nvPr/>
          </p:nvSpPr>
          <p:spPr>
            <a:xfrm rot="2700000">
              <a:off x="8744103" y="-21319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16"/>
          <p:cNvGrpSpPr/>
          <p:nvPr/>
        </p:nvGrpSpPr>
        <p:grpSpPr>
          <a:xfrm>
            <a:off x="8332551" y="-7"/>
            <a:ext cx="2386151" cy="3293873"/>
            <a:chOff x="8256351" y="-7"/>
            <a:chExt cx="2386151" cy="3293873"/>
          </a:xfrm>
        </p:grpSpPr>
        <p:pic>
          <p:nvPicPr>
            <p:cNvPr id="630" name="Google Shape;630;p16"/>
            <p:cNvPicPr preferRelativeResize="0"/>
            <p:nvPr/>
          </p:nvPicPr>
          <p:blipFill rotWithShape="1">
            <a:blip r:embed="rId2">
              <a:alphaModFix/>
            </a:blip>
            <a:srcRect l="16960" t="24719" r="7121" b="26177"/>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36" name="Google Shape;636;p16"/>
          <p:cNvGrpSpPr/>
          <p:nvPr/>
        </p:nvGrpSpPr>
        <p:grpSpPr>
          <a:xfrm>
            <a:off x="-213525" y="171225"/>
            <a:ext cx="439200" cy="439100"/>
            <a:chOff x="1101075" y="2142375"/>
            <a:chExt cx="439200" cy="439100"/>
          </a:xfrm>
        </p:grpSpPr>
        <p:sp>
          <p:nvSpPr>
            <p:cNvPr id="637" name="Google Shape;637;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16"/>
          <p:cNvGrpSpPr/>
          <p:nvPr/>
        </p:nvGrpSpPr>
        <p:grpSpPr>
          <a:xfrm>
            <a:off x="-1262974" y="3161328"/>
            <a:ext cx="4822591" cy="2934500"/>
            <a:chOff x="-1186774" y="3161328"/>
            <a:chExt cx="4822591" cy="2934500"/>
          </a:xfrm>
        </p:grpSpPr>
        <p:pic>
          <p:nvPicPr>
            <p:cNvPr id="640" name="Google Shape;640;p16"/>
            <p:cNvPicPr preferRelativeResize="0"/>
            <p:nvPr/>
          </p:nvPicPr>
          <p:blipFill rotWithShape="1">
            <a:blip r:embed="rId2">
              <a:alphaModFix/>
            </a:blip>
            <a:srcRect l="16960" t="24719" r="7121" b="26177"/>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9" name="Google Shape;669;p1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670" name="Google Shape;670;p1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671"/>
        <p:cNvGrpSpPr/>
        <p:nvPr/>
      </p:nvGrpSpPr>
      <p:grpSpPr>
        <a:xfrm>
          <a:off x="0" y="0"/>
          <a:ext cx="0" cy="0"/>
          <a:chOff x="0" y="0"/>
          <a:chExt cx="0" cy="0"/>
        </a:xfrm>
      </p:grpSpPr>
      <p:sp>
        <p:nvSpPr>
          <p:cNvPr id="672" name="Google Shape;672;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673" name="Google Shape;673;p17"/>
          <p:cNvGrpSpPr/>
          <p:nvPr/>
        </p:nvGrpSpPr>
        <p:grpSpPr>
          <a:xfrm>
            <a:off x="-2176650" y="-112745"/>
            <a:ext cx="4680670" cy="5935195"/>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2" name="Google Shape;692;p17"/>
              <p:cNvSpPr/>
              <p:nvPr/>
            </p:nvSpPr>
            <p:spPr>
              <a:xfrm rot="2700000" flipH="1">
                <a:off x="-1073899" y="4736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99" name="Google Shape;699;p17"/>
          <p:cNvGrpSpPr/>
          <p:nvPr/>
        </p:nvGrpSpPr>
        <p:grpSpPr>
          <a:xfrm>
            <a:off x="6642300" y="-415701"/>
            <a:ext cx="4558967" cy="1887075"/>
            <a:chOff x="6566100" y="-415701"/>
            <a:chExt cx="4558967" cy="1887075"/>
          </a:xfrm>
        </p:grpSpPr>
        <p:pic>
          <p:nvPicPr>
            <p:cNvPr id="700" name="Google Shape;700;p17"/>
            <p:cNvPicPr preferRelativeResize="0"/>
            <p:nvPr/>
          </p:nvPicPr>
          <p:blipFill rotWithShape="1">
            <a:blip r:embed="rId2">
              <a:alphaModFix/>
            </a:blip>
            <a:srcRect l="16960" t="24719" r="7121" b="26177"/>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7"/>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5" name="Google Shape;705;p17"/>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7"/>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7" name="Google Shape;707;p17"/>
              <p:cNvGrpSpPr/>
              <p:nvPr/>
            </p:nvGrpSpPr>
            <p:grpSpPr>
              <a:xfrm rot="-2700000" flipH="1">
                <a:off x="-216370" y="1084101"/>
                <a:ext cx="708093" cy="708493"/>
                <a:chOff x="3678700" y="407275"/>
                <a:chExt cx="708100" cy="708500"/>
              </a:xfrm>
            </p:grpSpPr>
            <p:sp>
              <p:nvSpPr>
                <p:cNvPr id="708" name="Google Shape;708;p1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7" name="Google Shape;717;p1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718" name="Google Shape;718;p1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CUSTOM_10_1_1_1">
    <p:spTree>
      <p:nvGrpSpPr>
        <p:cNvPr id="1" name="Shape 719"/>
        <p:cNvGrpSpPr/>
        <p:nvPr/>
      </p:nvGrpSpPr>
      <p:grpSpPr>
        <a:xfrm>
          <a:off x="0" y="0"/>
          <a:ext cx="0" cy="0"/>
          <a:chOff x="0" y="0"/>
          <a:chExt cx="0" cy="0"/>
        </a:xfrm>
      </p:grpSpPr>
      <p:grpSp>
        <p:nvGrpSpPr>
          <p:cNvPr id="720" name="Google Shape;720;p18"/>
          <p:cNvGrpSpPr/>
          <p:nvPr/>
        </p:nvGrpSpPr>
        <p:grpSpPr>
          <a:xfrm>
            <a:off x="5404975" y="2221118"/>
            <a:ext cx="4263000" cy="3617400"/>
            <a:chOff x="5328775" y="2221118"/>
            <a:chExt cx="4263000" cy="3617400"/>
          </a:xfrm>
        </p:grpSpPr>
        <p:sp>
          <p:nvSpPr>
            <p:cNvPr id="721" name="Google Shape;721;p18"/>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2" name="Google Shape;722;p18"/>
            <p:cNvGrpSpPr/>
            <p:nvPr/>
          </p:nvGrpSpPr>
          <p:grpSpPr>
            <a:xfrm>
              <a:off x="7218100" y="4855088"/>
              <a:ext cx="931125" cy="525763"/>
              <a:chOff x="7218100" y="4855088"/>
              <a:chExt cx="931125" cy="525763"/>
            </a:xfrm>
          </p:grpSpPr>
          <p:grpSp>
            <p:nvGrpSpPr>
              <p:cNvPr id="723" name="Google Shape;723;p18"/>
              <p:cNvGrpSpPr/>
              <p:nvPr/>
            </p:nvGrpSpPr>
            <p:grpSpPr>
              <a:xfrm>
                <a:off x="7710025" y="4941750"/>
                <a:ext cx="439200" cy="439100"/>
                <a:chOff x="1101075" y="2142375"/>
                <a:chExt cx="439200" cy="439100"/>
              </a:xfrm>
            </p:grpSpPr>
            <p:sp>
              <p:nvSpPr>
                <p:cNvPr id="724" name="Google Shape;724;p1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6" name="Google Shape;726;p18"/>
              <p:cNvGrpSpPr/>
              <p:nvPr/>
            </p:nvGrpSpPr>
            <p:grpSpPr>
              <a:xfrm>
                <a:off x="7218100" y="4855088"/>
                <a:ext cx="439200" cy="439100"/>
                <a:chOff x="1101075" y="2142375"/>
                <a:chExt cx="439200" cy="439100"/>
              </a:xfrm>
            </p:grpSpPr>
            <p:sp>
              <p:nvSpPr>
                <p:cNvPr id="727" name="Google Shape;727;p1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29" name="Google Shape;729;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730" name="Google Shape;730;p18"/>
          <p:cNvGrpSpPr/>
          <p:nvPr/>
        </p:nvGrpSpPr>
        <p:grpSpPr>
          <a:xfrm>
            <a:off x="-2175000" y="3012192"/>
            <a:ext cx="3701086" cy="3345172"/>
            <a:chOff x="-1886500" y="2599117"/>
            <a:chExt cx="3701086" cy="3345172"/>
          </a:xfrm>
        </p:grpSpPr>
        <p:pic>
          <p:nvPicPr>
            <p:cNvPr id="731" name="Google Shape;731;p18"/>
            <p:cNvPicPr preferRelativeResize="0"/>
            <p:nvPr/>
          </p:nvPicPr>
          <p:blipFill rotWithShape="1">
            <a:blip r:embed="rId2">
              <a:alphaModFix/>
            </a:blip>
            <a:srcRect l="16960" t="24719" r="7121" b="26177"/>
            <a:stretch/>
          </p:blipFill>
          <p:spPr>
            <a:xfrm rot="10800000">
              <a:off x="-1886500" y="3119537"/>
              <a:ext cx="3701086" cy="2824751"/>
            </a:xfrm>
            <a:prstGeom prst="rect">
              <a:avLst/>
            </a:prstGeom>
            <a:noFill/>
            <a:ln>
              <a:noFill/>
            </a:ln>
          </p:spPr>
        </p:pic>
        <p:sp>
          <p:nvSpPr>
            <p:cNvPr id="732" name="Google Shape;732;p18"/>
            <p:cNvSpPr/>
            <p:nvPr/>
          </p:nvSpPr>
          <p:spPr>
            <a:xfrm rot="10800000">
              <a:off x="-402274" y="2599117"/>
              <a:ext cx="1201697" cy="2824744"/>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8"/>
            <p:cNvSpPr/>
            <p:nvPr/>
          </p:nvSpPr>
          <p:spPr>
            <a:xfrm rot="10800000">
              <a:off x="-207237" y="2599870"/>
              <a:ext cx="1201697" cy="2824744"/>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4" name="Google Shape;734;p18"/>
            <p:cNvGrpSpPr/>
            <p:nvPr/>
          </p:nvGrpSpPr>
          <p:grpSpPr>
            <a:xfrm rot="10800000">
              <a:off x="-37979" y="5013439"/>
              <a:ext cx="134004" cy="134004"/>
              <a:chOff x="8356813" y="1074288"/>
              <a:chExt cx="351900" cy="351900"/>
            </a:xfrm>
          </p:grpSpPr>
          <p:sp>
            <p:nvSpPr>
              <p:cNvPr id="735" name="Google Shape;735;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18"/>
            <p:cNvGrpSpPr/>
            <p:nvPr/>
          </p:nvGrpSpPr>
          <p:grpSpPr>
            <a:xfrm rot="10800000">
              <a:off x="447446" y="4173589"/>
              <a:ext cx="134004" cy="134004"/>
              <a:chOff x="8356813" y="1074288"/>
              <a:chExt cx="351900" cy="351900"/>
            </a:xfrm>
          </p:grpSpPr>
          <p:sp>
            <p:nvSpPr>
              <p:cNvPr id="738" name="Google Shape;738;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18"/>
            <p:cNvGrpSpPr/>
            <p:nvPr/>
          </p:nvGrpSpPr>
          <p:grpSpPr>
            <a:xfrm rot="10800000">
              <a:off x="539621" y="2985514"/>
              <a:ext cx="134004" cy="134004"/>
              <a:chOff x="8356813" y="1074288"/>
              <a:chExt cx="351900" cy="351900"/>
            </a:xfrm>
          </p:grpSpPr>
          <p:sp>
            <p:nvSpPr>
              <p:cNvPr id="741" name="Google Shape;741;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3" name="Google Shape;743;p18"/>
          <p:cNvGrpSpPr/>
          <p:nvPr/>
        </p:nvGrpSpPr>
        <p:grpSpPr>
          <a:xfrm>
            <a:off x="5928900" y="-249669"/>
            <a:ext cx="5688165" cy="3493826"/>
            <a:chOff x="5852700" y="-249669"/>
            <a:chExt cx="5688165" cy="3493826"/>
          </a:xfrm>
        </p:grpSpPr>
        <p:grpSp>
          <p:nvGrpSpPr>
            <p:cNvPr id="744" name="Google Shape;744;p18"/>
            <p:cNvGrpSpPr/>
            <p:nvPr/>
          </p:nvGrpSpPr>
          <p:grpSpPr>
            <a:xfrm>
              <a:off x="8783705" y="1899359"/>
              <a:ext cx="402160" cy="1344798"/>
              <a:chOff x="8668555" y="1976884"/>
              <a:chExt cx="402160" cy="1344798"/>
            </a:xfrm>
          </p:grpSpPr>
          <p:sp>
            <p:nvSpPr>
              <p:cNvPr id="745" name="Google Shape;745;p18"/>
              <p:cNvSpPr/>
              <p:nvPr/>
            </p:nvSpPr>
            <p:spPr>
              <a:xfrm flipH="1">
                <a:off x="8823846" y="2094964"/>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9900FF">
                      <a:alpha val="46667"/>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8"/>
              <p:cNvSpPr/>
              <p:nvPr/>
            </p:nvSpPr>
            <p:spPr>
              <a:xfrm flipH="1">
                <a:off x="8668555" y="19768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18"/>
            <p:cNvGrpSpPr/>
            <p:nvPr/>
          </p:nvGrpSpPr>
          <p:grpSpPr>
            <a:xfrm>
              <a:off x="8598675" y="1421188"/>
              <a:ext cx="904666" cy="726121"/>
              <a:chOff x="7945225" y="4302000"/>
              <a:chExt cx="904666" cy="726121"/>
            </a:xfrm>
          </p:grpSpPr>
          <p:sp>
            <p:nvSpPr>
              <p:cNvPr id="748" name="Google Shape;748;p1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18"/>
            <p:cNvGrpSpPr/>
            <p:nvPr/>
          </p:nvGrpSpPr>
          <p:grpSpPr>
            <a:xfrm rot="10800000" flipH="1">
              <a:off x="7579756" y="-249669"/>
              <a:ext cx="2601921" cy="2438355"/>
              <a:chOff x="7340128" y="2866613"/>
              <a:chExt cx="2439225" cy="2438355"/>
            </a:xfrm>
          </p:grpSpPr>
          <p:sp>
            <p:nvSpPr>
              <p:cNvPr id="752" name="Google Shape;752;p18"/>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8"/>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18"/>
            <p:cNvSpPr/>
            <p:nvPr/>
          </p:nvSpPr>
          <p:spPr>
            <a:xfrm rot="5400000" flipH="1">
              <a:off x="6551329"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5" name="Google Shape;755;p18"/>
            <p:cNvGrpSpPr/>
            <p:nvPr/>
          </p:nvGrpSpPr>
          <p:grpSpPr>
            <a:xfrm>
              <a:off x="6917731" y="246011"/>
              <a:ext cx="4623133" cy="134070"/>
              <a:chOff x="6917731" y="246011"/>
              <a:chExt cx="4623133" cy="134070"/>
            </a:xfrm>
          </p:grpSpPr>
          <p:sp>
            <p:nvSpPr>
              <p:cNvPr id="756" name="Google Shape;756;p18"/>
              <p:cNvSpPr/>
              <p:nvPr/>
            </p:nvSpPr>
            <p:spPr>
              <a:xfrm flipH="1">
                <a:off x="6917731" y="246011"/>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8"/>
              <p:cNvSpPr/>
              <p:nvPr/>
            </p:nvSpPr>
            <p:spPr>
              <a:xfrm flipH="1">
                <a:off x="6947845" y="276153"/>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8" name="Google Shape;758;p18"/>
              <p:cNvCxnSpPr/>
              <p:nvPr/>
            </p:nvCxnSpPr>
            <p:spPr>
              <a:xfrm rot="10800000">
                <a:off x="7013865" y="313050"/>
                <a:ext cx="4527000" cy="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9"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98"/>
        <p:cNvGrpSpPr/>
        <p:nvPr/>
      </p:nvGrpSpPr>
      <p:grpSpPr>
        <a:xfrm>
          <a:off x="0" y="0"/>
          <a:ext cx="0" cy="0"/>
          <a:chOff x="0" y="0"/>
          <a:chExt cx="0" cy="0"/>
        </a:xfrm>
      </p:grpSpPr>
      <p:sp>
        <p:nvSpPr>
          <p:cNvPr id="799" name="Google Shape;799;p20"/>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00" name="Google Shape;800;p20"/>
          <p:cNvSpPr txBox="1">
            <a:spLocks noGrp="1"/>
          </p:cNvSpPr>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l="16960" t="24719" r="7121" b="26177"/>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2" name="Google Shape;822;p20"/>
            <p:cNvSpPr/>
            <p:nvPr/>
          </p:nvSpPr>
          <p:spPr>
            <a:xfrm>
              <a:off x="-630272" y="2499757"/>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l="16960" t="24719" r="7121" b="26177"/>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0"/>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0"/>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842"/>
        <p:cNvGrpSpPr/>
        <p:nvPr/>
      </p:nvGrpSpPr>
      <p:grpSpPr>
        <a:xfrm>
          <a:off x="0" y="0"/>
          <a:ext cx="0" cy="0"/>
          <a:chOff x="0" y="0"/>
          <a:chExt cx="0" cy="0"/>
        </a:xfrm>
      </p:grpSpPr>
      <p:sp>
        <p:nvSpPr>
          <p:cNvPr id="843" name="Google Shape;843;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44" name="Google Shape;844;p21"/>
          <p:cNvSpPr txBox="1">
            <a:spLocks noGrp="1"/>
          </p:cNvSpPr>
          <p:nvPr>
            <p:ph type="body" idx="1"/>
          </p:nvPr>
        </p:nvSpPr>
        <p:spPr>
          <a:xfrm>
            <a:off x="720000" y="1139550"/>
            <a:ext cx="4528500" cy="6978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AutoNum type="arabicPeriod"/>
              <a:defRPr/>
            </a:lvl1pPr>
            <a:lvl2pPr marL="914400" lvl="1"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a:endParaRPr/>
          </a:p>
        </p:txBody>
      </p:sp>
      <p:grpSp>
        <p:nvGrpSpPr>
          <p:cNvPr id="845" name="Google Shape;845;p21"/>
          <p:cNvGrpSpPr/>
          <p:nvPr/>
        </p:nvGrpSpPr>
        <p:grpSpPr>
          <a:xfrm>
            <a:off x="6846993" y="-1382193"/>
            <a:ext cx="4230595" cy="4230595"/>
            <a:chOff x="6597168" y="-1305993"/>
            <a:chExt cx="4230595" cy="4230595"/>
          </a:xfrm>
        </p:grpSpPr>
        <p:sp>
          <p:nvSpPr>
            <p:cNvPr id="846" name="Google Shape;846;p21"/>
            <p:cNvSpPr/>
            <p:nvPr/>
          </p:nvSpPr>
          <p:spPr>
            <a:xfrm rot="-8100000" flipH="1">
              <a:off x="7249845" y="-719557"/>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1"/>
            <p:cNvSpPr/>
            <p:nvPr/>
          </p:nvSpPr>
          <p:spPr>
            <a:xfrm>
              <a:off x="8355611" y="-2920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1"/>
            <p:cNvSpPr/>
            <p:nvPr/>
          </p:nvSpPr>
          <p:spPr>
            <a:xfrm>
              <a:off x="8608100" y="703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9" name="Google Shape;849;p21"/>
            <p:cNvGrpSpPr/>
            <p:nvPr/>
          </p:nvGrpSpPr>
          <p:grpSpPr>
            <a:xfrm>
              <a:off x="8449011" y="1244697"/>
              <a:ext cx="134100" cy="134100"/>
              <a:chOff x="-1999139" y="3143772"/>
              <a:chExt cx="134100" cy="134100"/>
            </a:xfrm>
          </p:grpSpPr>
          <p:sp>
            <p:nvSpPr>
              <p:cNvPr id="850" name="Google Shape;850;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 name="Google Shape;852;p21"/>
            <p:cNvGrpSpPr/>
            <p:nvPr/>
          </p:nvGrpSpPr>
          <p:grpSpPr>
            <a:xfrm>
              <a:off x="8577286" y="2178484"/>
              <a:ext cx="134100" cy="134100"/>
              <a:chOff x="-1999139" y="3143772"/>
              <a:chExt cx="134100" cy="134100"/>
            </a:xfrm>
          </p:grpSpPr>
          <p:sp>
            <p:nvSpPr>
              <p:cNvPr id="853" name="Google Shape;853;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5" name="Google Shape;855;p21"/>
            <p:cNvGrpSpPr/>
            <p:nvPr/>
          </p:nvGrpSpPr>
          <p:grpSpPr>
            <a:xfrm>
              <a:off x="8526386" y="311022"/>
              <a:ext cx="134004" cy="134004"/>
              <a:chOff x="8356813" y="1074288"/>
              <a:chExt cx="351900" cy="351900"/>
            </a:xfrm>
          </p:grpSpPr>
          <p:sp>
            <p:nvSpPr>
              <p:cNvPr id="856" name="Google Shape;856;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58" name="Google Shape;858;p21"/>
            <p:cNvPicPr preferRelativeResize="0"/>
            <p:nvPr/>
          </p:nvPicPr>
          <p:blipFill rotWithShape="1">
            <a:blip r:embed="rId2">
              <a:alphaModFix/>
            </a:blip>
            <a:srcRect l="16960" t="24719" r="7121" b="26177"/>
            <a:stretch/>
          </p:blipFill>
          <p:spPr>
            <a:xfrm>
              <a:off x="6929350" y="-1036475"/>
              <a:ext cx="2441950" cy="1863749"/>
            </a:xfrm>
            <a:prstGeom prst="rect">
              <a:avLst/>
            </a:prstGeom>
            <a:noFill/>
            <a:ln>
              <a:noFill/>
            </a:ln>
          </p:spPr>
        </p:pic>
      </p:grpSp>
      <p:grpSp>
        <p:nvGrpSpPr>
          <p:cNvPr id="859" name="Google Shape;859;p21"/>
          <p:cNvGrpSpPr/>
          <p:nvPr/>
        </p:nvGrpSpPr>
        <p:grpSpPr>
          <a:xfrm rot="5400000">
            <a:off x="-1981527" y="1924690"/>
            <a:ext cx="6191222" cy="6191222"/>
            <a:chOff x="-2825827" y="1271890"/>
            <a:chExt cx="6191222" cy="6191222"/>
          </a:xfrm>
        </p:grpSpPr>
        <p:pic>
          <p:nvPicPr>
            <p:cNvPr id="860" name="Google Shape;860;p21"/>
            <p:cNvPicPr preferRelativeResize="0"/>
            <p:nvPr/>
          </p:nvPicPr>
          <p:blipFill rotWithShape="1">
            <a:blip r:embed="rId2">
              <a:alphaModFix/>
            </a:blip>
            <a:srcRect l="16960" t="24719" r="7121" b="26177"/>
            <a:stretch/>
          </p:blipFill>
          <p:spPr>
            <a:xfrm>
              <a:off x="-680950" y="3866725"/>
              <a:ext cx="2441950" cy="1863749"/>
            </a:xfrm>
            <a:prstGeom prst="rect">
              <a:avLst/>
            </a:prstGeom>
            <a:noFill/>
            <a:ln>
              <a:noFill/>
            </a:ln>
          </p:spPr>
        </p:pic>
        <p:grpSp>
          <p:nvGrpSpPr>
            <p:cNvPr id="861" name="Google Shape;861;p21"/>
            <p:cNvGrpSpPr/>
            <p:nvPr/>
          </p:nvGrpSpPr>
          <p:grpSpPr>
            <a:xfrm>
              <a:off x="-2825827" y="1271890"/>
              <a:ext cx="6191222" cy="6191222"/>
              <a:chOff x="-2825827" y="1271890"/>
              <a:chExt cx="6191222" cy="6191222"/>
            </a:xfrm>
          </p:grpSpPr>
          <p:sp>
            <p:nvSpPr>
              <p:cNvPr id="862" name="Google Shape;862;p21"/>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1"/>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4" name="Google Shape;864;p21"/>
              <p:cNvGrpSpPr/>
              <p:nvPr/>
            </p:nvGrpSpPr>
            <p:grpSpPr>
              <a:xfrm rot="10800000">
                <a:off x="384881" y="3042905"/>
                <a:ext cx="134100" cy="134100"/>
                <a:chOff x="-1999139" y="3143772"/>
                <a:chExt cx="134100" cy="134100"/>
              </a:xfrm>
            </p:grpSpPr>
            <p:sp>
              <p:nvSpPr>
                <p:cNvPr id="865" name="Google Shape;865;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 name="Google Shape;867;p21"/>
              <p:cNvGrpSpPr/>
              <p:nvPr/>
            </p:nvGrpSpPr>
            <p:grpSpPr>
              <a:xfrm rot="10800000">
                <a:off x="146106" y="3710980"/>
                <a:ext cx="134100" cy="134100"/>
                <a:chOff x="-1999139" y="3143772"/>
                <a:chExt cx="134100" cy="134100"/>
              </a:xfrm>
            </p:grpSpPr>
            <p:sp>
              <p:nvSpPr>
                <p:cNvPr id="868" name="Google Shape;868;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21"/>
              <p:cNvGrpSpPr/>
              <p:nvPr/>
            </p:nvGrpSpPr>
            <p:grpSpPr>
              <a:xfrm>
                <a:off x="-102297" y="3780153"/>
                <a:ext cx="939901" cy="2449421"/>
                <a:chOff x="-102297" y="3780153"/>
                <a:chExt cx="939901" cy="2449421"/>
              </a:xfrm>
            </p:grpSpPr>
            <p:sp>
              <p:nvSpPr>
                <p:cNvPr id="871" name="Google Shape;871;p21"/>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1"/>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3" name="Google Shape;873;p21"/>
                <p:cNvGrpSpPr/>
                <p:nvPr/>
              </p:nvGrpSpPr>
              <p:grpSpPr>
                <a:xfrm rot="10800000">
                  <a:off x="532825" y="5492502"/>
                  <a:ext cx="134004" cy="134004"/>
                  <a:chOff x="8356813" y="1074288"/>
                  <a:chExt cx="351900" cy="351900"/>
                </a:xfrm>
              </p:grpSpPr>
              <p:sp>
                <p:nvSpPr>
                  <p:cNvPr id="874" name="Google Shape;874;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876"/>
        <p:cNvGrpSpPr/>
        <p:nvPr/>
      </p:nvGrpSpPr>
      <p:grpSpPr>
        <a:xfrm>
          <a:off x="0" y="0"/>
          <a:ext cx="0" cy="0"/>
          <a:chOff x="0" y="0"/>
          <a:chExt cx="0" cy="0"/>
        </a:xfrm>
      </p:grpSpPr>
      <p:grpSp>
        <p:nvGrpSpPr>
          <p:cNvPr id="877" name="Google Shape;877;p22"/>
          <p:cNvGrpSpPr/>
          <p:nvPr/>
        </p:nvGrpSpPr>
        <p:grpSpPr>
          <a:xfrm>
            <a:off x="4582521" y="2433470"/>
            <a:ext cx="5022035" cy="4764449"/>
            <a:chOff x="4571996" y="2268220"/>
            <a:chExt cx="5022035" cy="4764449"/>
          </a:xfrm>
        </p:grpSpPr>
        <p:pic>
          <p:nvPicPr>
            <p:cNvPr id="878" name="Google Shape;878;p22"/>
            <p:cNvPicPr preferRelativeResize="0"/>
            <p:nvPr/>
          </p:nvPicPr>
          <p:blipFill rotWithShape="1">
            <a:blip r:embed="rId2">
              <a:alphaModFix/>
            </a:blip>
            <a:srcRect l="16960" t="24719" r="7121" b="26177"/>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96" name="Google Shape;89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06" name="Google Shape;90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16" name="Google Shape;91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23" name="Google Shape;923;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24" name="Google Shape;924;p22"/>
          <p:cNvSpPr txBox="1">
            <a:spLocks noGrp="1"/>
          </p:cNvSpPr>
          <p:nvPr>
            <p:ph type="body" idx="1"/>
          </p:nvPr>
        </p:nvSpPr>
        <p:spPr>
          <a:xfrm>
            <a:off x="720000" y="1139550"/>
            <a:ext cx="4290900" cy="3431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Char char="●"/>
              <a:defRPr sz="1200">
                <a:solidFill>
                  <a:srgbClr val="191919"/>
                </a:solidFill>
              </a:defRPr>
            </a:lvl1pPr>
            <a:lvl2pPr marL="914400" lvl="1" indent="-304800" rtl="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sp>
        <p:nvSpPr>
          <p:cNvPr id="925" name="Google Shape;925;p22"/>
          <p:cNvSpPr txBox="1">
            <a:spLocks noGrp="1"/>
          </p:cNvSpPr>
          <p:nvPr>
            <p:ph type="body" idx="2"/>
          </p:nvPr>
        </p:nvSpPr>
        <p:spPr>
          <a:xfrm>
            <a:off x="5249025" y="1139550"/>
            <a:ext cx="3174900" cy="3431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Char char="●"/>
              <a:defRPr sz="1200">
                <a:solidFill>
                  <a:srgbClr val="191919"/>
                </a:solidFill>
              </a:defRPr>
            </a:lvl1pPr>
            <a:lvl2pPr marL="914400" lvl="1" indent="-304800" rtl="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grpSp>
        <p:nvGrpSpPr>
          <p:cNvPr id="926" name="Google Shape;926;p22"/>
          <p:cNvGrpSpPr/>
          <p:nvPr/>
        </p:nvGrpSpPr>
        <p:grpSpPr>
          <a:xfrm>
            <a:off x="-913829" y="-2335097"/>
            <a:ext cx="5022161" cy="4764814"/>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3" name="Google Shape;943;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4" name="Google Shape;944;p22"/>
          <p:cNvGrpSpPr/>
          <p:nvPr/>
        </p:nvGrpSpPr>
        <p:grpSpPr>
          <a:xfrm>
            <a:off x="-224248" y="3297090"/>
            <a:ext cx="605804" cy="2417785"/>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51" name="Google Shape;951;p22"/>
          <p:cNvGrpSpPr/>
          <p:nvPr/>
        </p:nvGrpSpPr>
        <p:grpSpPr>
          <a:xfrm>
            <a:off x="3585480" y="-1456810"/>
            <a:ext cx="3681465" cy="2759625"/>
            <a:chOff x="3585480" y="-1380610"/>
            <a:chExt cx="3681465" cy="2759625"/>
          </a:xfrm>
        </p:grpSpPr>
        <p:pic>
          <p:nvPicPr>
            <p:cNvPr id="952" name="Google Shape;952;p22"/>
            <p:cNvPicPr preferRelativeResize="0"/>
            <p:nvPr/>
          </p:nvPicPr>
          <p:blipFill rotWithShape="1">
            <a:blip r:embed="rId2">
              <a:alphaModFix/>
            </a:blip>
            <a:srcRect l="16960" t="24719" r="7121" b="26177"/>
            <a:stretch/>
          </p:blipFill>
          <p:spPr>
            <a:xfrm rot="10800000" flipH="1">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62" name="Google Shape;96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72" name="Google Shape;97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73"/>
        <p:cNvGrpSpPr/>
        <p:nvPr/>
      </p:nvGrpSpPr>
      <p:grpSpPr>
        <a:xfrm>
          <a:off x="0" y="0"/>
          <a:ext cx="0" cy="0"/>
          <a:chOff x="0" y="0"/>
          <a:chExt cx="0" cy="0"/>
        </a:xfrm>
      </p:grpSpPr>
      <p:sp>
        <p:nvSpPr>
          <p:cNvPr id="974" name="Google Shape;974;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75" name="Google Shape;975;p23"/>
          <p:cNvSpPr txBox="1">
            <a:spLocks noGrp="1"/>
          </p:cNvSpPr>
          <p:nvPr>
            <p:ph type="subTitle" idx="1"/>
          </p:nvPr>
        </p:nvSpPr>
        <p:spPr>
          <a:xfrm>
            <a:off x="713225" y="2041525"/>
            <a:ext cx="5578500" cy="606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76" name="Google Shape;976;p23"/>
          <p:cNvSpPr txBox="1">
            <a:spLocks noGrp="1"/>
          </p:cNvSpPr>
          <p:nvPr>
            <p:ph type="subTitle" idx="2"/>
          </p:nvPr>
        </p:nvSpPr>
        <p:spPr>
          <a:xfrm>
            <a:off x="713225" y="3366650"/>
            <a:ext cx="5578500" cy="642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77" name="Google Shape;977;p23"/>
          <p:cNvSpPr txBox="1">
            <a:spLocks noGrp="1"/>
          </p:cNvSpPr>
          <p:nvPr>
            <p:ph type="subTitle" idx="3"/>
          </p:nvPr>
        </p:nvSpPr>
        <p:spPr>
          <a:xfrm>
            <a:off x="713225" y="1679400"/>
            <a:ext cx="55785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8" name="Google Shape;978;p23"/>
          <p:cNvSpPr txBox="1">
            <a:spLocks noGrp="1"/>
          </p:cNvSpPr>
          <p:nvPr>
            <p:ph type="subTitle" idx="4"/>
          </p:nvPr>
        </p:nvSpPr>
        <p:spPr>
          <a:xfrm>
            <a:off x="713225" y="3040550"/>
            <a:ext cx="55785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79" name="Google Shape;979;p23"/>
          <p:cNvGrpSpPr/>
          <p:nvPr/>
        </p:nvGrpSpPr>
        <p:grpSpPr>
          <a:xfrm rot="-5400000" flipH="1">
            <a:off x="6239121" y="1032770"/>
            <a:ext cx="5022035" cy="4764449"/>
            <a:chOff x="4571996" y="2268220"/>
            <a:chExt cx="5022035" cy="4764449"/>
          </a:xfrm>
        </p:grpSpPr>
        <p:pic>
          <p:nvPicPr>
            <p:cNvPr id="980" name="Google Shape;980;p23"/>
            <p:cNvPicPr preferRelativeResize="0"/>
            <p:nvPr/>
          </p:nvPicPr>
          <p:blipFill rotWithShape="1">
            <a:blip r:embed="rId2">
              <a:alphaModFix/>
            </a:blip>
            <a:srcRect l="16960" t="24719" r="7121" b="26177"/>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8" name="Google Shape;99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08" name="Google Shape;100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8" name="Google Shape;101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025" name="Google Shape;1025;p23"/>
          <p:cNvPicPr preferRelativeResize="0"/>
          <p:nvPr/>
        </p:nvPicPr>
        <p:blipFill rotWithShape="1">
          <a:blip r:embed="rId2">
            <a:alphaModFix/>
          </a:blip>
          <a:srcRect l="16960" t="24719" r="7121" b="26177"/>
          <a:stretch/>
        </p:blipFill>
        <p:spPr>
          <a:xfrm rot="5400000">
            <a:off x="-1432850" y="882950"/>
            <a:ext cx="2441950" cy="1863749"/>
          </a:xfrm>
          <a:prstGeom prst="rect">
            <a:avLst/>
          </a:prstGeom>
          <a:noFill/>
          <a:ln>
            <a:noFill/>
          </a:ln>
        </p:spPr>
      </p:pic>
      <p:grpSp>
        <p:nvGrpSpPr>
          <p:cNvPr id="1026" name="Google Shape;1026;p23"/>
          <p:cNvGrpSpPr/>
          <p:nvPr/>
        </p:nvGrpSpPr>
        <p:grpSpPr>
          <a:xfrm rot="10800000">
            <a:off x="6045700" y="237976"/>
            <a:ext cx="4558967" cy="134100"/>
            <a:chOff x="796100" y="3019701"/>
            <a:chExt cx="4558967" cy="134100"/>
          </a:xfrm>
        </p:grpSpPr>
        <p:sp>
          <p:nvSpPr>
            <p:cNvPr id="1027" name="Google Shape;1027;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28" name="Google Shape;1028;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29" name="Google Shape;1029;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23"/>
          <p:cNvGrpSpPr/>
          <p:nvPr/>
        </p:nvGrpSpPr>
        <p:grpSpPr>
          <a:xfrm>
            <a:off x="-1143750" y="3925887"/>
            <a:ext cx="4558967" cy="1517787"/>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3"/>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3"/>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3"/>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4" name="Google Shape;1044;p23"/>
            <p:cNvSpPr/>
            <p:nvPr/>
          </p:nvSpPr>
          <p:spPr>
            <a:xfrm rot="-5400000">
              <a:off x="362395"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7" name="Google Shape;1047;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48" name="Google Shape;1048;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3" name="Google Shape;1053;p24"/>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6" name="Google Shape;1056;p2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57" name="Google Shape;1057;p2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8" name="Google Shape;1058;p24"/>
          <p:cNvSpPr txBox="1">
            <a:spLocks noGrp="1"/>
          </p:cNvSpPr>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9" name="Google Shape;1059;p24"/>
          <p:cNvSpPr txBox="1">
            <a:spLocks noGrp="1"/>
          </p:cNvSpPr>
          <p:nvPr>
            <p:ph type="subTitle" idx="2"/>
          </p:nvPr>
        </p:nvSpPr>
        <p:spPr>
          <a:xfrm>
            <a:off x="3584484"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0" name="Google Shape;1060;p24"/>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1" name="Google Shape;1061;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2" name="Google Shape;1062;p24"/>
          <p:cNvSpPr txBox="1">
            <a:spLocks noGrp="1"/>
          </p:cNvSpPr>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3" name="Google Shape;1063;p24"/>
          <p:cNvSpPr txBox="1">
            <a:spLocks noGrp="1"/>
          </p:cNvSpPr>
          <p:nvPr>
            <p:ph type="subTitle" idx="5"/>
          </p:nvPr>
        </p:nvSpPr>
        <p:spPr>
          <a:xfrm>
            <a:off x="3584483"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4" name="Google Shape;1064;p24"/>
          <p:cNvSpPr txBox="1">
            <a:spLocks noGrp="1"/>
          </p:cNvSpPr>
          <p:nvPr>
            <p:ph type="subTitle" idx="6"/>
          </p:nvPr>
        </p:nvSpPr>
        <p:spPr>
          <a:xfrm>
            <a:off x="6448972"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4"/>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l="16960" t="24719" r="7121" b="26177"/>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4"/>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4"/>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4"/>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4"/>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4"/>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1" name="Google Shape;1101;p24"/>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4"/>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3" name="Google Shape;1103;p24"/>
            <p:cNvGrpSpPr/>
            <p:nvPr/>
          </p:nvGrpSpPr>
          <p:grpSpPr>
            <a:xfrm rot="-2700000" flipH="1">
              <a:off x="-216370" y="1084101"/>
              <a:ext cx="708093" cy="708493"/>
              <a:chOff x="3678700" y="407275"/>
              <a:chExt cx="708100" cy="708500"/>
            </a:xfrm>
          </p:grpSpPr>
          <p:sp>
            <p:nvSpPr>
              <p:cNvPr id="1104" name="Google Shape;1104;p24"/>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4"/>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4"/>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4"/>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4"/>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4"/>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4"/>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111"/>
        <p:cNvGrpSpPr/>
        <p:nvPr/>
      </p:nvGrpSpPr>
      <p:grpSpPr>
        <a:xfrm>
          <a:off x="0" y="0"/>
          <a:ext cx="0" cy="0"/>
          <a:chOff x="0" y="0"/>
          <a:chExt cx="0" cy="0"/>
        </a:xfrm>
      </p:grpSpPr>
      <p:sp>
        <p:nvSpPr>
          <p:cNvPr id="1112" name="Google Shape;1112;p25"/>
          <p:cNvSpPr txBox="1">
            <a:spLocks noGrp="1"/>
          </p:cNvSpPr>
          <p:nvPr>
            <p:ph type="subTitle" idx="1"/>
          </p:nvPr>
        </p:nvSpPr>
        <p:spPr>
          <a:xfrm>
            <a:off x="720000"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3" name="Google Shape;1113;p25"/>
          <p:cNvSpPr txBox="1">
            <a:spLocks noGrp="1"/>
          </p:cNvSpPr>
          <p:nvPr>
            <p:ph type="subTitle" idx="2"/>
          </p:nvPr>
        </p:nvSpPr>
        <p:spPr>
          <a:xfrm>
            <a:off x="3584484"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4" name="Google Shape;1114;p25"/>
          <p:cNvSpPr txBox="1">
            <a:spLocks noGrp="1"/>
          </p:cNvSpPr>
          <p:nvPr>
            <p:ph type="subTitle" idx="3"/>
          </p:nvPr>
        </p:nvSpPr>
        <p:spPr>
          <a:xfrm>
            <a:off x="6448975"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5" name="Google Shape;1115;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16" name="Google Shape;1116;p25"/>
          <p:cNvSpPr txBox="1">
            <a:spLocks noGrp="1"/>
          </p:cNvSpPr>
          <p:nvPr>
            <p:ph type="subTitle" idx="4"/>
          </p:nvPr>
        </p:nvSpPr>
        <p:spPr>
          <a:xfrm>
            <a:off x="720000"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7" name="Google Shape;1117;p25"/>
          <p:cNvSpPr txBox="1">
            <a:spLocks noGrp="1"/>
          </p:cNvSpPr>
          <p:nvPr>
            <p:ph type="subTitle" idx="5"/>
          </p:nvPr>
        </p:nvSpPr>
        <p:spPr>
          <a:xfrm>
            <a:off x="3584483"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8" name="Google Shape;1118;p25"/>
          <p:cNvSpPr txBox="1">
            <a:spLocks noGrp="1"/>
          </p:cNvSpPr>
          <p:nvPr>
            <p:ph type="subTitle" idx="6"/>
          </p:nvPr>
        </p:nvSpPr>
        <p:spPr>
          <a:xfrm>
            <a:off x="6448972"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9" name="Google Shape;1119;p25"/>
          <p:cNvSpPr>
            <a:spLocks noGrp="1"/>
          </p:cNvSpPr>
          <p:nvPr>
            <p:ph type="pic" idx="7"/>
          </p:nvPr>
        </p:nvSpPr>
        <p:spPr>
          <a:xfrm>
            <a:off x="720000" y="1236800"/>
            <a:ext cx="1981800" cy="1662300"/>
          </a:xfrm>
          <a:prstGeom prst="snip1Rect">
            <a:avLst>
              <a:gd name="adj" fmla="val 16667"/>
            </a:avLst>
          </a:prstGeom>
          <a:noFill/>
          <a:ln>
            <a:noFill/>
          </a:ln>
        </p:spPr>
      </p:sp>
      <p:sp>
        <p:nvSpPr>
          <p:cNvPr id="1120" name="Google Shape;1120;p25"/>
          <p:cNvSpPr>
            <a:spLocks noGrp="1"/>
          </p:cNvSpPr>
          <p:nvPr>
            <p:ph type="pic" idx="8"/>
          </p:nvPr>
        </p:nvSpPr>
        <p:spPr>
          <a:xfrm>
            <a:off x="3584475" y="1236800"/>
            <a:ext cx="1981800" cy="1662300"/>
          </a:xfrm>
          <a:prstGeom prst="snip1Rect">
            <a:avLst>
              <a:gd name="adj" fmla="val 16667"/>
            </a:avLst>
          </a:prstGeom>
          <a:noFill/>
          <a:ln>
            <a:noFill/>
          </a:ln>
        </p:spPr>
      </p:sp>
      <p:sp>
        <p:nvSpPr>
          <p:cNvPr id="1121" name="Google Shape;1121;p25"/>
          <p:cNvSpPr>
            <a:spLocks noGrp="1"/>
          </p:cNvSpPr>
          <p:nvPr>
            <p:ph type="pic" idx="9"/>
          </p:nvPr>
        </p:nvSpPr>
        <p:spPr>
          <a:xfrm>
            <a:off x="6448950" y="1236800"/>
            <a:ext cx="1981800" cy="1662300"/>
          </a:xfrm>
          <a:prstGeom prst="snip1Rect">
            <a:avLst>
              <a:gd name="adj" fmla="val 16667"/>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5"/>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5"/>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5"/>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6" name="Google Shape;1136;p25"/>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9" name="Google Shape;1139;p25"/>
            <p:cNvPicPr preferRelativeResize="0"/>
            <p:nvPr/>
          </p:nvPicPr>
          <p:blipFill rotWithShape="1">
            <a:blip r:embed="rId2">
              <a:alphaModFix/>
            </a:blip>
            <a:srcRect l="16960" t="24719" r="7121" b="26177"/>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2" name="Google Shape;1162;p2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163" name="Google Shape;1163;p2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6" name="Google Shape;1166;p26"/>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26"/>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26"/>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26"/>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26"/>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1" name="Google Shape;1171;p26"/>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2" name="Google Shape;1172;p26"/>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3" name="Google Shape;1173;p26"/>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l="16960" t="24719"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07" name="Google Shape;1207;p26"/>
            <p:cNvPicPr preferRelativeResize="0"/>
            <p:nvPr/>
          </p:nvPicPr>
          <p:blipFill rotWithShape="1">
            <a:blip r:embed="rId2">
              <a:alphaModFix/>
            </a:blip>
            <a:srcRect l="16960" t="24719"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15"/>
        <p:cNvGrpSpPr/>
        <p:nvPr/>
      </p:nvGrpSpPr>
      <p:grpSpPr>
        <a:xfrm>
          <a:off x="0" y="0"/>
          <a:ext cx="0" cy="0"/>
          <a:chOff x="0" y="0"/>
          <a:chExt cx="0" cy="0"/>
        </a:xfrm>
      </p:grpSpPr>
      <p:sp>
        <p:nvSpPr>
          <p:cNvPr id="1216" name="Google Shape;1216;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17" name="Google Shape;1217;p27"/>
          <p:cNvSpPr txBox="1">
            <a:spLocks noGrp="1"/>
          </p:cNvSpPr>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8" name="Google Shape;1218;p27"/>
          <p:cNvSpPr txBox="1">
            <a:spLocks noGrp="1"/>
          </p:cNvSpPr>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9" name="Google Shape;1219;p27"/>
          <p:cNvSpPr txBox="1">
            <a:spLocks noGrp="1"/>
          </p:cNvSpPr>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0" name="Google Shape;1220;p27"/>
          <p:cNvSpPr txBox="1">
            <a:spLocks noGrp="1"/>
          </p:cNvSpPr>
          <p:nvPr>
            <p:ph type="subTitle" idx="4"/>
          </p:nvPr>
        </p:nvSpPr>
        <p:spPr>
          <a:xfrm>
            <a:off x="3469872"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1" name="Google Shape;1221;p27"/>
          <p:cNvSpPr txBox="1">
            <a:spLocks noGrp="1"/>
          </p:cNvSpPr>
          <p:nvPr>
            <p:ph type="subTitle" idx="5"/>
          </p:nvPr>
        </p:nvSpPr>
        <p:spPr>
          <a:xfrm>
            <a:off x="6219751"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2" name="Google Shape;1222;p27"/>
          <p:cNvSpPr txBox="1">
            <a:spLocks noGrp="1"/>
          </p:cNvSpPr>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3" name="Google Shape;1223;p27"/>
          <p:cNvSpPr txBox="1">
            <a:spLocks noGrp="1"/>
          </p:cNvSpPr>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4" name="Google Shape;1224;p27"/>
          <p:cNvSpPr txBox="1">
            <a:spLocks noGrp="1"/>
          </p:cNvSpPr>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5" name="Google Shape;1225;p27"/>
          <p:cNvSpPr txBox="1">
            <a:spLocks noGrp="1"/>
          </p:cNvSpPr>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6" name="Google Shape;1226;p27"/>
          <p:cNvSpPr txBox="1">
            <a:spLocks noGrp="1"/>
          </p:cNvSpPr>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7" name="Google Shape;1227;p27"/>
          <p:cNvSpPr txBox="1">
            <a:spLocks noGrp="1"/>
          </p:cNvSpPr>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8" name="Google Shape;1228;p27"/>
          <p:cNvSpPr txBox="1">
            <a:spLocks noGrp="1"/>
          </p:cNvSpPr>
          <p:nvPr>
            <p:ph type="subTitle" idx="15"/>
          </p:nvPr>
        </p:nvSpPr>
        <p:spPr>
          <a:xfrm>
            <a:off x="6219752"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l="16960" t="24719" r="7121" b="26177"/>
            <a:stretch/>
          </p:blipFill>
          <p:spPr>
            <a:xfrm>
              <a:off x="7361325" y="-596625"/>
              <a:ext cx="2441950" cy="1863749"/>
            </a:xfrm>
            <a:prstGeom prst="rect">
              <a:avLst/>
            </a:prstGeom>
            <a:noFill/>
            <a:ln>
              <a:noFill/>
            </a:ln>
          </p:spPr>
        </p:pic>
        <p:grpSp>
          <p:nvGrpSpPr>
            <p:cNvPr id="1231" name="Google Shape;1231;p27"/>
            <p:cNvGrpSpPr/>
            <p:nvPr/>
          </p:nvGrpSpPr>
          <p:grpSpPr>
            <a:xfrm rot="-2700000" flipH="1">
              <a:off x="7289785" y="-1246897"/>
              <a:ext cx="2552124" cy="3347490"/>
              <a:chOff x="2976325" y="908175"/>
              <a:chExt cx="4028179" cy="5283555"/>
            </a:xfrm>
          </p:grpSpPr>
          <p:sp>
            <p:nvSpPr>
              <p:cNvPr id="1232" name="Google Shape;1232;p2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43" name="Google Shape;1243;p27"/>
            <p:cNvPicPr preferRelativeResize="0"/>
            <p:nvPr/>
          </p:nvPicPr>
          <p:blipFill rotWithShape="1">
            <a:blip r:embed="rId2">
              <a:alphaModFix/>
            </a:blip>
            <a:srcRect l="16960" t="24719" r="7121" b="26177"/>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3" name="Google Shape;1263;p2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64" name="Google Shape;1264;p2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265"/>
        <p:cNvGrpSpPr/>
        <p:nvPr/>
      </p:nvGrpSpPr>
      <p:grpSpPr>
        <a:xfrm>
          <a:off x="0" y="0"/>
          <a:ext cx="0" cy="0"/>
          <a:chOff x="0" y="0"/>
          <a:chExt cx="0" cy="0"/>
        </a:xfrm>
      </p:grpSpPr>
      <p:sp>
        <p:nvSpPr>
          <p:cNvPr id="1266" name="Google Shape;1266;p28"/>
          <p:cNvSpPr txBox="1">
            <a:spLocks noGrp="1"/>
          </p:cNvSpPr>
          <p:nvPr>
            <p:ph type="title" hasCustomPrompt="1"/>
          </p:nvPr>
        </p:nvSpPr>
        <p:spPr>
          <a:xfrm>
            <a:off x="2358450" y="664988"/>
            <a:ext cx="46968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67" name="Google Shape;1267;p28"/>
          <p:cNvSpPr txBox="1">
            <a:spLocks noGrp="1"/>
          </p:cNvSpPr>
          <p:nvPr>
            <p:ph type="subTitle" idx="1"/>
          </p:nvPr>
        </p:nvSpPr>
        <p:spPr>
          <a:xfrm>
            <a:off x="2358450" y="1282313"/>
            <a:ext cx="46968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a:endParaRPr/>
          </a:p>
        </p:txBody>
      </p:sp>
      <p:sp>
        <p:nvSpPr>
          <p:cNvPr id="1268" name="Google Shape;1268;p28"/>
          <p:cNvSpPr txBox="1">
            <a:spLocks noGrp="1"/>
          </p:cNvSpPr>
          <p:nvPr>
            <p:ph type="title" idx="2" hasCustomPrompt="1"/>
          </p:nvPr>
        </p:nvSpPr>
        <p:spPr>
          <a:xfrm>
            <a:off x="2358450" y="2027244"/>
            <a:ext cx="46968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69" name="Google Shape;1269;p28"/>
          <p:cNvSpPr txBox="1">
            <a:spLocks noGrp="1"/>
          </p:cNvSpPr>
          <p:nvPr>
            <p:ph type="subTitle" idx="3"/>
          </p:nvPr>
        </p:nvSpPr>
        <p:spPr>
          <a:xfrm>
            <a:off x="2358450" y="2645558"/>
            <a:ext cx="46968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a:endParaRPr/>
          </a:p>
        </p:txBody>
      </p:sp>
      <p:sp>
        <p:nvSpPr>
          <p:cNvPr id="1270" name="Google Shape;1270;p28"/>
          <p:cNvSpPr txBox="1">
            <a:spLocks noGrp="1"/>
          </p:cNvSpPr>
          <p:nvPr>
            <p:ph type="title" idx="4" hasCustomPrompt="1"/>
          </p:nvPr>
        </p:nvSpPr>
        <p:spPr>
          <a:xfrm>
            <a:off x="2358450" y="3390475"/>
            <a:ext cx="46968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71" name="Google Shape;1271;p28"/>
          <p:cNvSpPr txBox="1">
            <a:spLocks noGrp="1"/>
          </p:cNvSpPr>
          <p:nvPr>
            <p:ph type="subTitle" idx="5"/>
          </p:nvPr>
        </p:nvSpPr>
        <p:spPr>
          <a:xfrm>
            <a:off x="2358450" y="4009779"/>
            <a:ext cx="46968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a:endParaRPr/>
          </a:p>
        </p:txBody>
      </p:sp>
      <p:sp>
        <p:nvSpPr>
          <p:cNvPr id="1272" name="Google Shape;1272;p28"/>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3" name="Google Shape;1273;p28"/>
          <p:cNvGrpSpPr/>
          <p:nvPr/>
        </p:nvGrpSpPr>
        <p:grpSpPr>
          <a:xfrm rot="5400000">
            <a:off x="8359950" y="-226050"/>
            <a:ext cx="439200" cy="439100"/>
            <a:chOff x="1101075" y="2142375"/>
            <a:chExt cx="439200" cy="439100"/>
          </a:xfrm>
        </p:grpSpPr>
        <p:sp>
          <p:nvSpPr>
            <p:cNvPr id="1274" name="Google Shape;1274;p2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6" name="Google Shape;1276;p28"/>
          <p:cNvGrpSpPr/>
          <p:nvPr/>
        </p:nvGrpSpPr>
        <p:grpSpPr>
          <a:xfrm>
            <a:off x="-903250" y="4838101"/>
            <a:ext cx="4558967" cy="134100"/>
            <a:chOff x="796100" y="3019701"/>
            <a:chExt cx="4558967" cy="134100"/>
          </a:xfrm>
        </p:grpSpPr>
        <p:sp>
          <p:nvSpPr>
            <p:cNvPr id="1277" name="Google Shape;1277;p2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78" name="Google Shape;1278;p2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79" name="Google Shape;1279;p2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1280"/>
        <p:cNvGrpSpPr/>
        <p:nvPr/>
      </p:nvGrpSpPr>
      <p:grpSpPr>
        <a:xfrm>
          <a:off x="0" y="0"/>
          <a:ext cx="0" cy="0"/>
          <a:chOff x="0" y="0"/>
          <a:chExt cx="0" cy="0"/>
        </a:xfrm>
      </p:grpSpPr>
      <p:sp>
        <p:nvSpPr>
          <p:cNvPr id="1281" name="Google Shape;1281;p29"/>
          <p:cNvSpPr txBox="1">
            <a:spLocks noGrp="1"/>
          </p:cNvSpPr>
          <p:nvPr>
            <p:ph type="subTitle" idx="1"/>
          </p:nvPr>
        </p:nvSpPr>
        <p:spPr>
          <a:xfrm>
            <a:off x="1157250" y="1609575"/>
            <a:ext cx="4448100" cy="1239300"/>
          </a:xfrm>
          <a:prstGeom prst="rect">
            <a:avLst/>
          </a:prstGeom>
        </p:spPr>
        <p:txBody>
          <a:bodyPr spcFirstLastPara="1" wrap="square" lIns="91425" tIns="91425" rIns="91425" bIns="91425" anchor="t" anchorCtr="0">
            <a:noAutofit/>
          </a:bodyPr>
          <a:lstStyle>
            <a:lvl1pPr lvl="0">
              <a:spcBef>
                <a:spcPts val="0"/>
              </a:spcBef>
              <a:spcAft>
                <a:spcPts val="0"/>
              </a:spcAft>
              <a:buSzPts val="2500"/>
              <a:buFont typeface="IBM Plex Mono"/>
              <a:buNone/>
              <a:defRPr sz="2000" b="1">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2" name="Google Shape;1282;p29"/>
          <p:cNvSpPr txBox="1">
            <a:spLocks noGrp="1"/>
          </p:cNvSpPr>
          <p:nvPr>
            <p:ph type="title"/>
          </p:nvPr>
        </p:nvSpPr>
        <p:spPr>
          <a:xfrm>
            <a:off x="1157302" y="494775"/>
            <a:ext cx="51267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283" name="Google Shape;1283;p29"/>
          <p:cNvGrpSpPr/>
          <p:nvPr/>
        </p:nvGrpSpPr>
        <p:grpSpPr>
          <a:xfrm>
            <a:off x="-291585" y="-494819"/>
            <a:ext cx="1448824" cy="2238804"/>
            <a:chOff x="-308635" y="-494819"/>
            <a:chExt cx="1448824" cy="2238804"/>
          </a:xfrm>
        </p:grpSpPr>
        <p:grpSp>
          <p:nvGrpSpPr>
            <p:cNvPr id="1284" name="Google Shape;1284;p29"/>
            <p:cNvGrpSpPr/>
            <p:nvPr/>
          </p:nvGrpSpPr>
          <p:grpSpPr>
            <a:xfrm>
              <a:off x="-275757" y="-242066"/>
              <a:ext cx="981772" cy="1986051"/>
              <a:chOff x="-293545" y="3454371"/>
              <a:chExt cx="981772" cy="1986051"/>
            </a:xfrm>
          </p:grpSpPr>
          <p:sp>
            <p:nvSpPr>
              <p:cNvPr id="1285" name="Google Shape;1285;p29"/>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9"/>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7" name="Google Shape;1287;p29"/>
            <p:cNvGrpSpPr/>
            <p:nvPr/>
          </p:nvGrpSpPr>
          <p:grpSpPr>
            <a:xfrm>
              <a:off x="364499" y="794648"/>
              <a:ext cx="699940" cy="478601"/>
              <a:chOff x="39722" y="4349021"/>
              <a:chExt cx="1061964" cy="726143"/>
            </a:xfrm>
          </p:grpSpPr>
          <p:grpSp>
            <p:nvGrpSpPr>
              <p:cNvPr id="1288" name="Google Shape;1288;p29"/>
              <p:cNvGrpSpPr/>
              <p:nvPr/>
            </p:nvGrpSpPr>
            <p:grpSpPr>
              <a:xfrm rot="2700000">
                <a:off x="140502" y="4460924"/>
                <a:ext cx="524584" cy="502337"/>
                <a:chOff x="1189791" y="-1767331"/>
                <a:chExt cx="904284" cy="865933"/>
              </a:xfrm>
            </p:grpSpPr>
            <p:sp>
              <p:nvSpPr>
                <p:cNvPr id="1289" name="Google Shape;1289;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0" name="Google Shape;1290;p29"/>
                <p:cNvGrpSpPr/>
                <p:nvPr/>
              </p:nvGrpSpPr>
              <p:grpSpPr>
                <a:xfrm>
                  <a:off x="1232795" y="-1740829"/>
                  <a:ext cx="717621" cy="717392"/>
                  <a:chOff x="1483457" y="3953671"/>
                  <a:chExt cx="717621" cy="717392"/>
                </a:xfrm>
              </p:grpSpPr>
              <p:sp>
                <p:nvSpPr>
                  <p:cNvPr id="1291" name="Google Shape;1291;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96" name="Google Shape;1296;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7" name="Google Shape;1297;p29"/>
            <p:cNvGrpSpPr/>
            <p:nvPr/>
          </p:nvGrpSpPr>
          <p:grpSpPr>
            <a:xfrm rot="-5400000">
              <a:off x="-460623" y="-342832"/>
              <a:ext cx="1351491" cy="1047516"/>
              <a:chOff x="-2460210" y="2758493"/>
              <a:chExt cx="1351491" cy="1047516"/>
            </a:xfrm>
          </p:grpSpPr>
          <p:sp>
            <p:nvSpPr>
              <p:cNvPr id="1298" name="Google Shape;1298;p29"/>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9"/>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9"/>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9"/>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29"/>
            <p:cNvGrpSpPr/>
            <p:nvPr/>
          </p:nvGrpSpPr>
          <p:grpSpPr>
            <a:xfrm>
              <a:off x="440249" y="455173"/>
              <a:ext cx="699940" cy="478601"/>
              <a:chOff x="39722" y="4349021"/>
              <a:chExt cx="1061964" cy="726143"/>
            </a:xfrm>
          </p:grpSpPr>
          <p:grpSp>
            <p:nvGrpSpPr>
              <p:cNvPr id="1303" name="Google Shape;1303;p29"/>
              <p:cNvGrpSpPr/>
              <p:nvPr/>
            </p:nvGrpSpPr>
            <p:grpSpPr>
              <a:xfrm rot="2700000">
                <a:off x="140502" y="4460924"/>
                <a:ext cx="524584" cy="502337"/>
                <a:chOff x="1189791" y="-1767331"/>
                <a:chExt cx="904284" cy="865933"/>
              </a:xfrm>
            </p:grpSpPr>
            <p:sp>
              <p:nvSpPr>
                <p:cNvPr id="1304" name="Google Shape;1304;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5" name="Google Shape;1305;p29"/>
                <p:cNvGrpSpPr/>
                <p:nvPr/>
              </p:nvGrpSpPr>
              <p:grpSpPr>
                <a:xfrm>
                  <a:off x="1232795" y="-1740829"/>
                  <a:ext cx="717621" cy="717392"/>
                  <a:chOff x="1483457" y="3953671"/>
                  <a:chExt cx="717621" cy="717392"/>
                </a:xfrm>
              </p:grpSpPr>
              <p:sp>
                <p:nvSpPr>
                  <p:cNvPr id="1306" name="Google Shape;1306;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11" name="Google Shape;1311;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2" name="Google Shape;1312;p29"/>
            <p:cNvGrpSpPr/>
            <p:nvPr/>
          </p:nvGrpSpPr>
          <p:grpSpPr>
            <a:xfrm>
              <a:off x="-63826" y="511661"/>
              <a:ext cx="699940" cy="478601"/>
              <a:chOff x="39722" y="4349021"/>
              <a:chExt cx="1061964" cy="726143"/>
            </a:xfrm>
          </p:grpSpPr>
          <p:grpSp>
            <p:nvGrpSpPr>
              <p:cNvPr id="1313" name="Google Shape;1313;p29"/>
              <p:cNvGrpSpPr/>
              <p:nvPr/>
            </p:nvGrpSpPr>
            <p:grpSpPr>
              <a:xfrm rot="2700000">
                <a:off x="140502" y="4460924"/>
                <a:ext cx="524584" cy="502337"/>
                <a:chOff x="1189791" y="-1767331"/>
                <a:chExt cx="904284" cy="865933"/>
              </a:xfrm>
            </p:grpSpPr>
            <p:sp>
              <p:nvSpPr>
                <p:cNvPr id="1314" name="Google Shape;1314;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5" name="Google Shape;1315;p29"/>
                <p:cNvGrpSpPr/>
                <p:nvPr/>
              </p:nvGrpSpPr>
              <p:grpSpPr>
                <a:xfrm>
                  <a:off x="1232795" y="-1740829"/>
                  <a:ext cx="717621" cy="717392"/>
                  <a:chOff x="1483457" y="3953671"/>
                  <a:chExt cx="717621" cy="717392"/>
                </a:xfrm>
              </p:grpSpPr>
              <p:sp>
                <p:nvSpPr>
                  <p:cNvPr id="1316" name="Google Shape;1316;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21" name="Google Shape;1321;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2" name="Google Shape;1322;p29"/>
          <p:cNvGrpSpPr/>
          <p:nvPr/>
        </p:nvGrpSpPr>
        <p:grpSpPr>
          <a:xfrm>
            <a:off x="2659712" y="4275400"/>
            <a:ext cx="4952059" cy="2992224"/>
            <a:chOff x="2659712" y="4275400"/>
            <a:chExt cx="4952059" cy="2992224"/>
          </a:xfrm>
        </p:grpSpPr>
        <p:pic>
          <p:nvPicPr>
            <p:cNvPr id="1323" name="Google Shape;1323;p29"/>
            <p:cNvPicPr preferRelativeResize="0"/>
            <p:nvPr/>
          </p:nvPicPr>
          <p:blipFill rotWithShape="1">
            <a:blip r:embed="rId2">
              <a:alphaModFix/>
            </a:blip>
            <a:srcRect l="16960" t="24719" r="7121" b="26177"/>
            <a:stretch/>
          </p:blipFill>
          <p:spPr>
            <a:xfrm rot="10800000">
              <a:off x="2659712" y="4275400"/>
              <a:ext cx="3549051" cy="2992224"/>
            </a:xfrm>
            <a:prstGeom prst="rect">
              <a:avLst/>
            </a:prstGeom>
            <a:noFill/>
            <a:ln>
              <a:noFill/>
            </a:ln>
          </p:spPr>
        </p:pic>
        <p:grpSp>
          <p:nvGrpSpPr>
            <p:cNvPr id="1324" name="Google Shape;1324;p29"/>
            <p:cNvGrpSpPr/>
            <p:nvPr/>
          </p:nvGrpSpPr>
          <p:grpSpPr>
            <a:xfrm rot="-5400000">
              <a:off x="3258038" y="4413859"/>
              <a:ext cx="906953" cy="1517787"/>
              <a:chOff x="79748" y="2808602"/>
              <a:chExt cx="906953" cy="1517787"/>
            </a:xfrm>
          </p:grpSpPr>
          <p:sp>
            <p:nvSpPr>
              <p:cNvPr id="1325" name="Google Shape;1325;p29"/>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9"/>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9"/>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9"/>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9" name="Google Shape;1329;p29"/>
            <p:cNvGrpSpPr/>
            <p:nvPr/>
          </p:nvGrpSpPr>
          <p:grpSpPr>
            <a:xfrm rot="5400000">
              <a:off x="5484569" y="3756062"/>
              <a:ext cx="1421047" cy="2833357"/>
              <a:chOff x="334358" y="2186737"/>
              <a:chExt cx="1421047" cy="2833357"/>
            </a:xfrm>
          </p:grpSpPr>
          <p:sp>
            <p:nvSpPr>
              <p:cNvPr id="1330" name="Google Shape;1330;p29"/>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1" name="Google Shape;1331;p29"/>
              <p:cNvGrpSpPr/>
              <p:nvPr/>
            </p:nvGrpSpPr>
            <p:grpSpPr>
              <a:xfrm rot="5400000">
                <a:off x="1046250" y="3181856"/>
                <a:ext cx="161977" cy="161940"/>
                <a:chOff x="1101075" y="2142375"/>
                <a:chExt cx="439200" cy="439100"/>
              </a:xfrm>
            </p:grpSpPr>
            <p:sp>
              <p:nvSpPr>
                <p:cNvPr id="1332" name="Google Shape;1332;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4" name="Google Shape;1334;p29"/>
              <p:cNvGrpSpPr/>
              <p:nvPr/>
            </p:nvGrpSpPr>
            <p:grpSpPr>
              <a:xfrm rot="-5400000">
                <a:off x="628029" y="4564272"/>
                <a:ext cx="161977" cy="161940"/>
                <a:chOff x="1101075" y="2142375"/>
                <a:chExt cx="439200" cy="439100"/>
              </a:xfrm>
            </p:grpSpPr>
            <p:sp>
              <p:nvSpPr>
                <p:cNvPr id="1335" name="Google Shape;1335;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9"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9"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9"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423"/>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1424"/>
        <p:cNvGrpSpPr/>
        <p:nvPr/>
      </p:nvGrpSpPr>
      <p:grpSpPr>
        <a:xfrm>
          <a:off x="0" y="0"/>
          <a:ext cx="0" cy="0"/>
          <a:chOff x="0" y="0"/>
          <a:chExt cx="0" cy="0"/>
        </a:xfrm>
      </p:grpSpPr>
      <p:sp>
        <p:nvSpPr>
          <p:cNvPr id="1425" name="Google Shape;1425;p34"/>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1pPr>
            <a:lvl2pPr marL="914400" lvl="1"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2pPr>
            <a:lvl3pPr marL="1371600" lvl="2"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3pPr>
            <a:lvl4pPr marL="1828800" lvl="3"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4pPr>
            <a:lvl5pPr marL="2286000" lvl="4"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5pPr>
            <a:lvl6pPr marL="2743200" lvl="5"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6pPr>
            <a:lvl7pPr marL="3200400" lvl="6"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7pPr>
            <a:lvl8pPr marL="3657600" lvl="7"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8pPr>
            <a:lvl9pPr marL="4114800" lvl="8"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420"/>
        <p:cNvGrpSpPr/>
        <p:nvPr/>
      </p:nvGrpSpPr>
      <p:grpSpPr>
        <a:xfrm>
          <a:off x="0" y="0"/>
          <a:ext cx="0" cy="0"/>
          <a:chOff x="0" y="0"/>
          <a:chExt cx="0" cy="0"/>
        </a:xfrm>
      </p:grpSpPr>
      <p:sp>
        <p:nvSpPr>
          <p:cNvPr id="1421" name="Google Shape;1421;p32"/>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422" name="Google Shape;1422;p32"/>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1pPr>
            <a:lvl2pPr marL="914400" lvl="1"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2pPr>
            <a:lvl3pPr marL="1371600" lvl="2"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3pPr>
            <a:lvl4pPr marL="1828800" lvl="3"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4pPr>
            <a:lvl5pPr marL="2286000" lvl="4"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5pPr>
            <a:lvl6pPr marL="2743200" lvl="5"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6pPr>
            <a:lvl7pPr marL="3200400" lvl="6"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7pPr>
            <a:lvl8pPr marL="3657600" lvl="7"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8pPr>
            <a:lvl9pPr marL="4114800" lvl="8"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3.jpe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chart" Target="../charts/char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9"/>
        <p:cNvGrpSpPr/>
        <p:nvPr/>
      </p:nvGrpSpPr>
      <p:grpSpPr>
        <a:xfrm>
          <a:off x="0" y="0"/>
          <a:ext cx="0" cy="0"/>
          <a:chOff x="0" y="0"/>
          <a:chExt cx="0" cy="0"/>
        </a:xfrm>
      </p:grpSpPr>
      <p:sp>
        <p:nvSpPr>
          <p:cNvPr id="1430" name="Google Shape;1430;p35"/>
          <p:cNvSpPr txBox="1">
            <a:spLocks noGrp="1"/>
          </p:cNvSpPr>
          <p:nvPr>
            <p:ph type="subTitle" idx="1"/>
          </p:nvPr>
        </p:nvSpPr>
        <p:spPr>
          <a:xfrm>
            <a:off x="1096850" y="3456250"/>
            <a:ext cx="5760720" cy="8229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000"/>
              <a:t>Joint UAV Trajectory, Relay Selection, and Bandwidth Allocation for Deadline-Aware Alert Delivery in Disaster Networks</a:t>
            </a:r>
          </a:p>
          <a:p>
            <a:pPr marL="0" indent="0">
              <a:lnSpc>
                <a:spcPct val="114999"/>
              </a:lnSpc>
            </a:pPr>
            <a:r>
              <a:rPr lang="en-US" sz="1000"/>
              <a:t>Group 5</a:t>
            </a:r>
          </a:p>
          <a:p>
            <a:pPr marL="0" lvl="0" indent="0" algn="l" rtl="0">
              <a:spcBef>
                <a:spcPts val="600"/>
              </a:spcBef>
              <a:spcAft>
                <a:spcPts val="0"/>
              </a:spcAft>
              <a:buNone/>
            </a:pPr>
            <a:r>
              <a:rPr lang="vi-VN" sz="1000" b="1"/>
              <a:t>Doãn Văn An · Nguyễn Bá Minh Đạt · Phạm Sơn Tùng · Lê Tuấn Đạt · Lê Xuân Lợi</a:t>
            </a:r>
          </a:p>
        </p:txBody>
      </p:sp>
      <p:sp>
        <p:nvSpPr>
          <p:cNvPr id="1431" name="Google Shape;1431;p35"/>
          <p:cNvSpPr txBox="1">
            <a:spLocks noGrp="1"/>
          </p:cNvSpPr>
          <p:nvPr>
            <p:ph type="ctrTitle"/>
          </p:nvPr>
        </p:nvSpPr>
        <p:spPr>
          <a:xfrm>
            <a:off x="1096850" y="816324"/>
            <a:ext cx="576072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200">
                <a:solidFill>
                  <a:schemeClr val="dk2"/>
                </a:solidFill>
              </a:rPr>
              <a:t>Tối ưu đồng thời quỹ đạo UAV, lựa chọn relay và phân bổ băng thông cho truyền cảnh báo kịp hạn trong mạng sau thảm họa</a:t>
            </a: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3200">
                <a:solidFill>
                  <a:schemeClr val="dk2"/>
                </a:solidFill>
                <a:latin typeface="IBM Plex Mono"/>
                <a:ea typeface="IBM Plex Mono"/>
                <a:cs typeface="IBM Plex Mono"/>
                <a:sym typeface="IBM Plex Mono"/>
              </a:rPr>
              <a:t>Nội dung</a:t>
            </a:r>
          </a:p>
        </p:txBody>
      </p:sp>
      <p:sp>
        <p:nvSpPr>
          <p:cNvPr id="1467" name="Google Shape;1467;p37"/>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Bài toán</a:t>
            </a:r>
          </a:p>
        </p:txBody>
      </p:sp>
      <p:sp>
        <p:nvSpPr>
          <p:cNvPr id="1468" name="Google Shape;1468;p37"/>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Từ paper gốc đến bài toán thực tế hơn</a:t>
            </a:r>
          </a:p>
        </p:txBody>
      </p:sp>
      <p:sp>
        <p:nvSpPr>
          <p:cNvPr id="1469" name="Google Shape;1469;p37"/>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Mô hình bài toán, độ khó và cận trên LP</a:t>
            </a:r>
          </a:p>
        </p:txBody>
      </p:sp>
      <p:sp>
        <p:nvSpPr>
          <p:cNvPr id="1470" name="Google Shape;1470;p37"/>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Thuật toán tìm kiếm SBS và bản có sửa lỗi SBS-R</a:t>
            </a:r>
          </a:p>
        </p:txBody>
      </p:sp>
      <p:sp>
        <p:nvSpPr>
          <p:cNvPr id="1471" name="Google Shape;1471;p37"/>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So sánh với phương pháp khác, thử trên bản đồ thật</a:t>
            </a:r>
          </a:p>
        </p:txBody>
      </p:sp>
      <p:sp>
        <p:nvSpPr>
          <p:cNvPr id="1472" name="Google Shape;1472;p37"/>
          <p:cNvSpPr txBox="1">
            <a:spLocks noGrp="1"/>
          </p:cNvSpPr>
          <p:nvPr>
            <p:ph type="title" idx="5"/>
          </p:nvPr>
        </p:nvSpPr>
        <p:spPr>
          <a:xfrm>
            <a:off x="720003"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473" name="Google Shape;1473;p37"/>
          <p:cNvSpPr txBox="1">
            <a:spLocks noGrp="1"/>
          </p:cNvSpPr>
          <p:nvPr>
            <p:ph type="title" idx="6"/>
          </p:nvPr>
        </p:nvSpPr>
        <p:spPr>
          <a:xfrm>
            <a:off x="7200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474" name="Google Shape;1474;p37"/>
          <p:cNvSpPr txBox="1">
            <a:spLocks noGrp="1"/>
          </p:cNvSpPr>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475" name="Google Shape;1475;p37"/>
          <p:cNvSpPr txBox="1">
            <a:spLocks noGrp="1"/>
          </p:cNvSpPr>
          <p:nvPr>
            <p:ph type="title" idx="8"/>
          </p:nvPr>
        </p:nvSpPr>
        <p:spPr>
          <a:xfrm>
            <a:off x="4366698"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476" name="Google Shape;1476;p37"/>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Formulation</a:t>
            </a:r>
          </a:p>
        </p:txBody>
      </p:sp>
      <p:sp>
        <p:nvSpPr>
          <p:cNvPr id="1477" name="Google Shape;1477;p37"/>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Phương pháp</a:t>
            </a:r>
          </a:p>
        </p:txBody>
      </p:sp>
      <p:sp>
        <p:nvSpPr>
          <p:cNvPr id="1478" name="Google Shape;1478;p37"/>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Kết quả</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2"/>
        <p:cNvGrpSpPr/>
        <p:nvPr/>
      </p:nvGrpSpPr>
      <p:grpSpPr>
        <a:xfrm>
          <a:off x="0" y="0"/>
          <a:ext cx="0" cy="0"/>
          <a:chOff x="0" y="0"/>
          <a:chExt cx="0" cy="0"/>
        </a:xfrm>
      </p:grpSpPr>
      <p:sp>
        <p:nvSpPr>
          <p:cNvPr id="1483" name="Google Shape;1483;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01</a:t>
            </a:r>
          </a:p>
        </p:txBody>
      </p:sp>
      <p:sp>
        <p:nvSpPr>
          <p:cNvPr id="1484" name="Google Shape;1484;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Paper gốc (Huang et al., 2025) và bài toán của nhóm</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l="16960" t="24719" r="7121" b="26177"/>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1" name="Google Shape;1491;p38"/>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Bài toán</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8" name="Google Shape;1498;p38"/>
            <p:cNvPicPr preferRelativeResize="0"/>
            <p:nvPr/>
          </p:nvPicPr>
          <p:blipFill rotWithShape="1">
            <a:blip r:embed="rId3">
              <a:alphaModFix/>
            </a:blip>
            <a:srcRect l="16960" t="24719" r="7121" b="26177"/>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4" name="Google Shape;1524;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5" name="Google Shape;1525;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p39"/>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algn="l"/>
            <a:r>
              <a:rPr lang="vi-VN"/>
              <a:t>Paper gốc vs Project của nhóm</a:t>
            </a:r>
          </a:p>
        </p:txBody>
      </p:sp>
      <p:sp>
        <p:nvSpPr>
          <p:cNvPr id="1531" name="Rounded Rectangle 1530"/>
          <p:cNvSpPr/>
          <p:nvPr/>
        </p:nvSpPr>
        <p:spPr>
          <a:xfrm>
            <a:off x="566928" y="1207008"/>
            <a:ext cx="3794760" cy="2395728"/>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2" name="Rounded Rectangle 1531"/>
          <p:cNvSpPr/>
          <p:nvPr/>
        </p:nvSpPr>
        <p:spPr>
          <a:xfrm>
            <a:off x="4782312" y="1207008"/>
            <a:ext cx="3794760" cy="2395728"/>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33" name="Picture 1532" descr="figure-01.png"/>
          <p:cNvPicPr>
            <a:picLocks noChangeAspect="1"/>
          </p:cNvPicPr>
          <p:nvPr/>
        </p:nvPicPr>
        <p:blipFill>
          <a:blip r:embed="rId3"/>
          <a:stretch>
            <a:fillRect/>
          </a:stretch>
        </p:blipFill>
        <p:spPr>
          <a:xfrm>
            <a:off x="658368" y="1273149"/>
            <a:ext cx="3611880" cy="2263445"/>
          </a:xfrm>
          <a:prstGeom prst="rect">
            <a:avLst/>
          </a:prstGeom>
        </p:spPr>
      </p:pic>
      <p:pic>
        <p:nvPicPr>
          <p:cNvPr id="1534" name="Picture 1533" descr="ours.png"/>
          <p:cNvPicPr>
            <a:picLocks noChangeAspect="1"/>
          </p:cNvPicPr>
          <p:nvPr/>
        </p:nvPicPr>
        <p:blipFill>
          <a:blip r:embed="rId4"/>
          <a:stretch>
            <a:fillRect/>
          </a:stretch>
        </p:blipFill>
        <p:spPr>
          <a:xfrm>
            <a:off x="4864608" y="1439606"/>
            <a:ext cx="3630168" cy="1930531"/>
          </a:xfrm>
          <a:prstGeom prst="rect">
            <a:avLst/>
          </a:prstGeom>
        </p:spPr>
      </p:pic>
      <p:sp>
        <p:nvSpPr>
          <p:cNvPr id="1535" name="Oval 1534"/>
          <p:cNvSpPr/>
          <p:nvPr/>
        </p:nvSpPr>
        <p:spPr>
          <a:xfrm>
            <a:off x="4297680" y="2157984"/>
            <a:ext cx="548640" cy="493776"/>
          </a:xfrm>
          <a:prstGeom prst="ellipse">
            <a:avLst/>
          </a:prstGeom>
          <a:solidFill>
            <a:srgbClr val="EB9109"/>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latin typeface="IBM Plex Mono"/>
              </a:rPr>
              <a:t>vs</a:t>
            </a:r>
          </a:p>
        </p:txBody>
      </p:sp>
      <p:sp>
        <p:nvSpPr>
          <p:cNvPr id="1536" name="TextBox 1535"/>
          <p:cNvSpPr txBox="1"/>
          <p:nvPr/>
        </p:nvSpPr>
        <p:spPr>
          <a:xfrm>
            <a:off x="566928" y="3675887"/>
            <a:ext cx="3794760" cy="274320"/>
          </a:xfrm>
          <a:prstGeom prst="rect">
            <a:avLst/>
          </a:prstGeom>
          <a:noFill/>
        </p:spPr>
        <p:txBody>
          <a:bodyPr wrap="square" lIns="36576" tIns="18288" rIns="36576" bIns="18288" anchor="t">
            <a:spAutoFit/>
          </a:bodyPr>
          <a:lstStyle/>
          <a:p>
            <a:pPr algn="l">
              <a:spcAft>
                <a:spcPts val="400"/>
              </a:spcAft>
            </a:pPr>
            <a:r>
              <a:rPr sz="1100" b="1">
                <a:solidFill>
                  <a:srgbClr val="0C0A9E"/>
                </a:solidFill>
                <a:latin typeface="IBM Plex Mono"/>
              </a:rPr>
              <a:t>Huang et al. (2025): DDATSAP</a:t>
            </a:r>
          </a:p>
        </p:txBody>
      </p:sp>
      <p:sp>
        <p:nvSpPr>
          <p:cNvPr id="1537" name="TextBox 1536"/>
          <p:cNvSpPr txBox="1"/>
          <p:nvPr/>
        </p:nvSpPr>
        <p:spPr>
          <a:xfrm>
            <a:off x="566928" y="3950208"/>
            <a:ext cx="3794760" cy="822960"/>
          </a:xfrm>
          <a:prstGeom prst="rect">
            <a:avLst/>
          </a:prstGeom>
          <a:noFill/>
        </p:spPr>
        <p:txBody>
          <a:bodyPr wrap="square" lIns="36576" tIns="18288" rIns="36576" bIns="18288" anchor="t">
            <a:spAutoFit/>
          </a:bodyPr>
          <a:lstStyle/>
          <a:p>
            <a:pPr marL="171450" indent="-171450" algn="l">
              <a:spcAft>
                <a:spcPts val="200"/>
              </a:spcAft>
              <a:buClr>
                <a:srgbClr val="EB9109"/>
              </a:buClr>
              <a:buFont typeface="Arial"/>
              <a:buChar char="•"/>
            </a:pPr>
            <a:r>
              <a:rPr sz="950" b="0">
                <a:solidFill>
                  <a:srgbClr val="1D1D1D"/>
                </a:solidFill>
                <a:latin typeface="Be Vietnam Pro"/>
              </a:rPr>
              <a:t>Đường đi: user → UAV → user, không có mạng mặt đất</a:t>
            </a:r>
          </a:p>
          <a:p>
            <a:pPr marL="171450" indent="-171450" algn="l">
              <a:spcAft>
                <a:spcPts val="200"/>
              </a:spcAft>
              <a:buClr>
                <a:srgbClr val="EB9109"/>
              </a:buClr>
              <a:buFont typeface="Arial"/>
              <a:buChar char="•"/>
            </a:pPr>
            <a:r>
              <a:rPr sz="950" b="0">
                <a:solidFill>
                  <a:srgbClr val="1D1D1D"/>
                </a:solidFill>
                <a:latin typeface="Be Vietnam Pro"/>
              </a:rPr>
              <a:t>Mục tiêu: cặp user chậm nhất có tốc độ cao nhất</a:t>
            </a:r>
          </a:p>
          <a:p>
            <a:pPr marL="171450" indent="-171450" algn="l">
              <a:spcAft>
                <a:spcPts val="200"/>
              </a:spcAft>
              <a:buClr>
                <a:srgbClr val="EB9109"/>
              </a:buClr>
              <a:buFont typeface="Arial"/>
              <a:buChar char="•"/>
            </a:pPr>
            <a:r>
              <a:rPr sz="950" b="0">
                <a:solidFill>
                  <a:srgbClr val="1D1D1D"/>
                </a:solidFill>
                <a:latin typeface="Be Vietnam Pro"/>
              </a:rPr>
              <a:t>Dữ liệu: truyền liên tục, không có deadline</a:t>
            </a:r>
          </a:p>
        </p:txBody>
      </p:sp>
      <p:sp>
        <p:nvSpPr>
          <p:cNvPr id="1538" name="TextBox 1537"/>
          <p:cNvSpPr txBox="1"/>
          <p:nvPr/>
        </p:nvSpPr>
        <p:spPr>
          <a:xfrm>
            <a:off x="4782312" y="3675887"/>
            <a:ext cx="3794760" cy="274320"/>
          </a:xfrm>
          <a:prstGeom prst="rect">
            <a:avLst/>
          </a:prstGeom>
          <a:noFill/>
        </p:spPr>
        <p:txBody>
          <a:bodyPr wrap="square" lIns="36576" tIns="18288" rIns="36576" bIns="18288" anchor="t">
            <a:spAutoFit/>
          </a:bodyPr>
          <a:lstStyle/>
          <a:p>
            <a:pPr algn="l">
              <a:spcAft>
                <a:spcPts val="400"/>
              </a:spcAft>
            </a:pPr>
            <a:r>
              <a:rPr sz="1100" b="1">
                <a:solidFill>
                  <a:srgbClr val="8208D5"/>
                </a:solidFill>
                <a:latin typeface="IBM Plex Mono"/>
              </a:rPr>
              <a:t>Bài của nhóm: gửi alert cứu hộ</a:t>
            </a:r>
          </a:p>
        </p:txBody>
      </p:sp>
      <p:sp>
        <p:nvSpPr>
          <p:cNvPr id="1539" name="TextBox 1538"/>
          <p:cNvSpPr txBox="1"/>
          <p:nvPr/>
        </p:nvSpPr>
        <p:spPr>
          <a:xfrm>
            <a:off x="4782312" y="3950208"/>
            <a:ext cx="3794760" cy="822960"/>
          </a:xfrm>
          <a:prstGeom prst="rect">
            <a:avLst/>
          </a:prstGeom>
          <a:noFill/>
        </p:spPr>
        <p:txBody>
          <a:bodyPr wrap="square" lIns="36576" tIns="18288" rIns="36576" bIns="18288" anchor="t">
            <a:spAutoFit/>
          </a:bodyPr>
          <a:lstStyle/>
          <a:p>
            <a:pPr marL="171450" indent="-171450" algn="l">
              <a:spcAft>
                <a:spcPts val="200"/>
              </a:spcAft>
              <a:buClr>
                <a:srgbClr val="EB9109"/>
              </a:buClr>
              <a:buFont typeface="Arial"/>
              <a:buChar char="•"/>
            </a:pPr>
            <a:r>
              <a:rPr sz="950" b="0">
                <a:solidFill>
                  <a:srgbClr val="1D1D1D"/>
                </a:solidFill>
                <a:latin typeface="Be Vietnam Pro"/>
              </a:rPr>
              <a:t>Đường đi: source → UAV/relay → mạng mặt đất → center</a:t>
            </a:r>
          </a:p>
          <a:p>
            <a:pPr marL="171450" indent="-171450" algn="l">
              <a:spcAft>
                <a:spcPts val="200"/>
              </a:spcAft>
              <a:buClr>
                <a:srgbClr val="EB9109"/>
              </a:buClr>
              <a:buFont typeface="Arial"/>
              <a:buChar char="•"/>
            </a:pPr>
            <a:r>
              <a:rPr sz="950" b="0">
                <a:solidFill>
                  <a:srgbClr val="1D1D1D"/>
                </a:solidFill>
                <a:latin typeface="Be Vietnam Pro"/>
              </a:rPr>
              <a:t>Mục tiêu: nhiều alert tới center đúng hạn nhất</a:t>
            </a:r>
          </a:p>
          <a:p>
            <a:pPr marL="171450" indent="-171450" algn="l">
              <a:spcAft>
                <a:spcPts val="200"/>
              </a:spcAft>
              <a:buClr>
                <a:srgbClr val="EB9109"/>
              </a:buClr>
              <a:buFont typeface="Arial"/>
              <a:buChar char="•"/>
            </a:pPr>
            <a:r>
              <a:rPr sz="950" b="0">
                <a:solidFill>
                  <a:srgbClr val="1D1D1D"/>
                </a:solidFill>
                <a:latin typeface="Be Vietnam Pro"/>
              </a:rPr>
              <a:t>Dữ liệu: từng alert, có thời điểm phát, deadline và kích thước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sp>
        <p:nvSpPr>
          <p:cNvPr id="1666" name="Google Shape;1666;p42"/>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Vì sao cần bài toán mới?</a:t>
            </a:r>
          </a:p>
        </p:txBody>
      </p:sp>
      <p:sp>
        <p:nvSpPr>
          <p:cNvPr id="1667" name="Google Shape;1667;p42"/>
          <p:cNvSpPr txBox="1">
            <a:spLocks noGrp="1"/>
          </p:cNvSpPr>
          <p:nvPr>
            <p:ph type="subTitle" idx="6"/>
          </p:nvPr>
        </p:nvSpPr>
        <p:spPr>
          <a:xfrm>
            <a:off x="6448972" y="2323875"/>
            <a:ext cx="237744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Kênh ngẫu nhiên</a:t>
            </a:r>
          </a:p>
        </p:txBody>
      </p:sp>
      <p:sp>
        <p:nvSpPr>
          <p:cNvPr id="1668" name="Google Shape;1668;p42"/>
          <p:cNvSpPr txBox="1">
            <a:spLocks noGrp="1"/>
          </p:cNvSpPr>
          <p:nvPr>
            <p:ph type="subTitle" idx="1"/>
          </p:nvPr>
        </p:nvSpPr>
        <p:spPr>
          <a:xfrm>
            <a:off x="720000" y="2649975"/>
            <a:ext cx="2377440" cy="1463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Alert phải tới rescue center đầy đủ trước deadline mới có ích. Cần đếm số alert đúng hạn, không phải đo tốc độ trung bình</a:t>
            </a:r>
          </a:p>
        </p:txBody>
      </p:sp>
      <p:sp>
        <p:nvSpPr>
          <p:cNvPr id="1669" name="Google Shape;1669;p42"/>
          <p:cNvSpPr txBox="1">
            <a:spLocks noGrp="1"/>
          </p:cNvSpPr>
          <p:nvPr>
            <p:ph type="subTitle" idx="2"/>
          </p:nvPr>
        </p:nvSpPr>
        <p:spPr>
          <a:xfrm>
            <a:off x="3584484" y="2649975"/>
            <a:ext cx="2377440" cy="1463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Relay gần vùng thảm họa có thể mất đường về center hoặc bị nghẽn. Phải chọn đường đi cho từng alert</a:t>
            </a:r>
          </a:p>
        </p:txBody>
      </p:sp>
      <p:sp>
        <p:nvSpPr>
          <p:cNvPr id="1670" name="Google Shape;1670;p42"/>
          <p:cNvSpPr txBox="1">
            <a:spLocks noGrp="1"/>
          </p:cNvSpPr>
          <p:nvPr>
            <p:ph type="subTitle" idx="3"/>
          </p:nvPr>
        </p:nvSpPr>
        <p:spPr>
          <a:xfrm>
            <a:off x="6448975" y="2649975"/>
            <a:ext cx="2377440" cy="1463040"/>
          </a:xfrm>
          <a:prstGeom prst="rect">
            <a:avLst/>
          </a:prstGeom>
        </p:spPr>
        <p:txBody>
          <a:bodyPr spcFirstLastPara="1" wrap="square" lIns="91425" tIns="91425" rIns="91425" bIns="91425" anchor="t" anchorCtr="0">
            <a:noAutofit/>
          </a:bodyPr>
          <a:lstStyle/>
          <a:p>
            <a:pPr marL="0" indent="0"/>
            <a:r>
              <a:rPr lang="vi-VN"/>
              <a:t>Paper gốc lập kế hoạch theo tốc độ trung bình. Có deadline thì kế hoạch vừa kịp theo trung bình vẫn có thể trễ khi kênh xấu</a:t>
            </a:r>
          </a:p>
        </p:txBody>
      </p:sp>
      <p:sp>
        <p:nvSpPr>
          <p:cNvPr id="1671" name="Google Shape;1671;p42"/>
          <p:cNvSpPr txBox="1">
            <a:spLocks noGrp="1"/>
          </p:cNvSpPr>
          <p:nvPr>
            <p:ph type="subTitle" idx="4"/>
          </p:nvPr>
        </p:nvSpPr>
        <p:spPr>
          <a:xfrm>
            <a:off x="720000" y="2323875"/>
            <a:ext cx="237744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Alert có deadline</a:t>
            </a:r>
          </a:p>
        </p:txBody>
      </p:sp>
      <p:sp>
        <p:nvSpPr>
          <p:cNvPr id="1672" name="Google Shape;1672;p42"/>
          <p:cNvSpPr txBox="1">
            <a:spLocks noGrp="1"/>
          </p:cNvSpPr>
          <p:nvPr>
            <p:ph type="subTitle" idx="5"/>
          </p:nvPr>
        </p:nvSpPr>
        <p:spPr>
          <a:xfrm>
            <a:off x="3584483" y="2323875"/>
            <a:ext cx="237744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Backhaul bị hỏng</a:t>
            </a:r>
          </a:p>
        </p:txBody>
      </p:sp>
      <p:grpSp>
        <p:nvGrpSpPr>
          <p:cNvPr id="1673" name="Google Shape;1673;p42"/>
          <p:cNvGrpSpPr/>
          <p:nvPr/>
        </p:nvGrpSpPr>
        <p:grpSpPr>
          <a:xfrm>
            <a:off x="812448" y="1849801"/>
            <a:ext cx="341227" cy="302177"/>
            <a:chOff x="713167" y="740543"/>
            <a:chExt cx="476707" cy="422153"/>
          </a:xfrm>
        </p:grpSpPr>
        <p:sp>
          <p:nvSpPr>
            <p:cNvPr id="1674" name="Google Shape;1674;p42"/>
            <p:cNvSpPr/>
            <p:nvPr/>
          </p:nvSpPr>
          <p:spPr>
            <a:xfrm>
              <a:off x="713167" y="740543"/>
              <a:ext cx="476707" cy="422153"/>
            </a:xfrm>
            <a:custGeom>
              <a:avLst/>
              <a:gdLst/>
              <a:ahLst/>
              <a:cxnLst/>
              <a:rect l="l" t="t" r="r" b="b"/>
              <a:pathLst>
                <a:path w="12583" h="11143" extrusionOk="0">
                  <a:moveTo>
                    <a:pt x="3671" y="1967"/>
                  </a:moveTo>
                  <a:lnTo>
                    <a:pt x="3671" y="4501"/>
                  </a:lnTo>
                  <a:cubicBezTo>
                    <a:pt x="3671" y="4596"/>
                    <a:pt x="3740" y="4681"/>
                    <a:pt x="3835" y="4691"/>
                  </a:cubicBezTo>
                  <a:cubicBezTo>
                    <a:pt x="3840" y="4691"/>
                    <a:pt x="3846" y="4691"/>
                    <a:pt x="3851" y="4691"/>
                  </a:cubicBezTo>
                  <a:cubicBezTo>
                    <a:pt x="3951" y="4691"/>
                    <a:pt x="4032" y="4609"/>
                    <a:pt x="4032" y="4507"/>
                  </a:cubicBezTo>
                  <a:lnTo>
                    <a:pt x="4032" y="1968"/>
                  </a:lnTo>
                  <a:lnTo>
                    <a:pt x="12223" y="1968"/>
                  </a:lnTo>
                  <a:lnTo>
                    <a:pt x="12223" y="10529"/>
                  </a:lnTo>
                  <a:lnTo>
                    <a:pt x="12222" y="10529"/>
                  </a:lnTo>
                  <a:cubicBezTo>
                    <a:pt x="12222" y="10667"/>
                    <a:pt x="12109" y="10780"/>
                    <a:pt x="11971" y="10780"/>
                  </a:cubicBezTo>
                  <a:lnTo>
                    <a:pt x="4030" y="10780"/>
                  </a:lnTo>
                  <a:lnTo>
                    <a:pt x="4030" y="5342"/>
                  </a:lnTo>
                  <a:cubicBezTo>
                    <a:pt x="4030" y="5254"/>
                    <a:pt x="3973" y="5174"/>
                    <a:pt x="3886" y="5157"/>
                  </a:cubicBezTo>
                  <a:cubicBezTo>
                    <a:pt x="3873" y="5154"/>
                    <a:pt x="3861" y="5153"/>
                    <a:pt x="3849" y="5153"/>
                  </a:cubicBezTo>
                  <a:cubicBezTo>
                    <a:pt x="3750" y="5153"/>
                    <a:pt x="3670" y="5236"/>
                    <a:pt x="3670" y="5337"/>
                  </a:cubicBezTo>
                  <a:lnTo>
                    <a:pt x="3670" y="10780"/>
                  </a:lnTo>
                  <a:lnTo>
                    <a:pt x="614" y="10780"/>
                  </a:lnTo>
                  <a:cubicBezTo>
                    <a:pt x="475" y="10780"/>
                    <a:pt x="362" y="10667"/>
                    <a:pt x="362" y="10529"/>
                  </a:cubicBezTo>
                  <a:lnTo>
                    <a:pt x="362" y="1967"/>
                  </a:lnTo>
                  <a:close/>
                  <a:moveTo>
                    <a:pt x="8476" y="1"/>
                  </a:moveTo>
                  <a:cubicBezTo>
                    <a:pt x="8476" y="1"/>
                    <a:pt x="8475" y="1"/>
                    <a:pt x="8474" y="1"/>
                  </a:cubicBezTo>
                  <a:lnTo>
                    <a:pt x="637" y="1"/>
                  </a:lnTo>
                  <a:cubicBezTo>
                    <a:pt x="295" y="1"/>
                    <a:pt x="16" y="278"/>
                    <a:pt x="0" y="622"/>
                  </a:cubicBezTo>
                  <a:lnTo>
                    <a:pt x="33" y="10521"/>
                  </a:lnTo>
                  <a:cubicBezTo>
                    <a:pt x="33" y="10865"/>
                    <a:pt x="310" y="11142"/>
                    <a:pt x="654" y="11142"/>
                  </a:cubicBezTo>
                  <a:lnTo>
                    <a:pt x="11961" y="11142"/>
                  </a:lnTo>
                  <a:cubicBezTo>
                    <a:pt x="12305" y="11142"/>
                    <a:pt x="12582" y="10865"/>
                    <a:pt x="12582" y="10521"/>
                  </a:cubicBezTo>
                  <a:lnTo>
                    <a:pt x="12582" y="623"/>
                  </a:lnTo>
                  <a:cubicBezTo>
                    <a:pt x="12582" y="278"/>
                    <a:pt x="12305" y="1"/>
                    <a:pt x="11964" y="1"/>
                  </a:cubicBezTo>
                  <a:lnTo>
                    <a:pt x="9348" y="1"/>
                  </a:lnTo>
                  <a:cubicBezTo>
                    <a:pt x="9253" y="1"/>
                    <a:pt x="9168" y="71"/>
                    <a:pt x="9159" y="165"/>
                  </a:cubicBezTo>
                  <a:cubicBezTo>
                    <a:pt x="9150" y="272"/>
                    <a:pt x="9234" y="361"/>
                    <a:pt x="9339" y="361"/>
                  </a:cubicBezTo>
                  <a:lnTo>
                    <a:pt x="11969" y="361"/>
                  </a:lnTo>
                  <a:cubicBezTo>
                    <a:pt x="12108" y="361"/>
                    <a:pt x="12221" y="474"/>
                    <a:pt x="12221" y="612"/>
                  </a:cubicBezTo>
                  <a:lnTo>
                    <a:pt x="12221" y="1574"/>
                  </a:lnTo>
                  <a:lnTo>
                    <a:pt x="360" y="1571"/>
                  </a:lnTo>
                  <a:lnTo>
                    <a:pt x="360" y="612"/>
                  </a:lnTo>
                  <a:cubicBezTo>
                    <a:pt x="360" y="474"/>
                    <a:pt x="472" y="361"/>
                    <a:pt x="611" y="361"/>
                  </a:cubicBezTo>
                  <a:lnTo>
                    <a:pt x="8474" y="361"/>
                  </a:lnTo>
                  <a:cubicBezTo>
                    <a:pt x="8474" y="361"/>
                    <a:pt x="8660" y="287"/>
                    <a:pt x="8660" y="184"/>
                  </a:cubicBezTo>
                  <a:cubicBezTo>
                    <a:pt x="8660" y="83"/>
                    <a:pt x="8578" y="1"/>
                    <a:pt x="84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2"/>
            <p:cNvSpPr/>
            <p:nvPr/>
          </p:nvSpPr>
          <p:spPr>
            <a:xfrm>
              <a:off x="756621" y="834914"/>
              <a:ext cx="37468" cy="13676"/>
            </a:xfrm>
            <a:custGeom>
              <a:avLst/>
              <a:gdLst/>
              <a:ahLst/>
              <a:cxnLst/>
              <a:rect l="l" t="t" r="r" b="b"/>
              <a:pathLst>
                <a:path w="989" h="361" extrusionOk="0">
                  <a:moveTo>
                    <a:pt x="198" y="0"/>
                  </a:moveTo>
                  <a:cubicBezTo>
                    <a:pt x="103" y="0"/>
                    <a:pt x="17" y="69"/>
                    <a:pt x="10" y="164"/>
                  </a:cubicBezTo>
                  <a:cubicBezTo>
                    <a:pt x="0" y="272"/>
                    <a:pt x="84" y="361"/>
                    <a:pt x="189" y="361"/>
                  </a:cubicBezTo>
                  <a:lnTo>
                    <a:pt x="791" y="361"/>
                  </a:lnTo>
                  <a:cubicBezTo>
                    <a:pt x="886" y="361"/>
                    <a:pt x="972" y="290"/>
                    <a:pt x="979" y="196"/>
                  </a:cubicBezTo>
                  <a:cubicBezTo>
                    <a:pt x="989" y="89"/>
                    <a:pt x="905" y="0"/>
                    <a:pt x="8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2"/>
            <p:cNvSpPr/>
            <p:nvPr/>
          </p:nvSpPr>
          <p:spPr>
            <a:xfrm>
              <a:off x="756583" y="869617"/>
              <a:ext cx="37506" cy="13714"/>
            </a:xfrm>
            <a:custGeom>
              <a:avLst/>
              <a:gdLst/>
              <a:ahLst/>
              <a:cxnLst/>
              <a:rect l="l" t="t" r="r" b="b"/>
              <a:pathLst>
                <a:path w="990" h="362" extrusionOk="0">
                  <a:moveTo>
                    <a:pt x="198" y="1"/>
                  </a:moveTo>
                  <a:cubicBezTo>
                    <a:pt x="102" y="1"/>
                    <a:pt x="17" y="70"/>
                    <a:pt x="10" y="164"/>
                  </a:cubicBezTo>
                  <a:cubicBezTo>
                    <a:pt x="0" y="272"/>
                    <a:pt x="84" y="361"/>
                    <a:pt x="189" y="361"/>
                  </a:cubicBezTo>
                  <a:lnTo>
                    <a:pt x="792" y="361"/>
                  </a:lnTo>
                  <a:cubicBezTo>
                    <a:pt x="887" y="361"/>
                    <a:pt x="973" y="291"/>
                    <a:pt x="980" y="197"/>
                  </a:cubicBezTo>
                  <a:cubicBezTo>
                    <a:pt x="990" y="91"/>
                    <a:pt x="906" y="1"/>
                    <a:pt x="8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2"/>
            <p:cNvSpPr/>
            <p:nvPr/>
          </p:nvSpPr>
          <p:spPr>
            <a:xfrm>
              <a:off x="756583" y="904395"/>
              <a:ext cx="37506" cy="13676"/>
            </a:xfrm>
            <a:custGeom>
              <a:avLst/>
              <a:gdLst/>
              <a:ahLst/>
              <a:cxnLst/>
              <a:rect l="l" t="t" r="r" b="b"/>
              <a:pathLst>
                <a:path w="990" h="361" extrusionOk="0">
                  <a:moveTo>
                    <a:pt x="198" y="0"/>
                  </a:moveTo>
                  <a:cubicBezTo>
                    <a:pt x="102" y="0"/>
                    <a:pt x="17" y="69"/>
                    <a:pt x="10" y="164"/>
                  </a:cubicBezTo>
                  <a:cubicBezTo>
                    <a:pt x="0" y="271"/>
                    <a:pt x="84" y="360"/>
                    <a:pt x="189" y="360"/>
                  </a:cubicBezTo>
                  <a:lnTo>
                    <a:pt x="792" y="360"/>
                  </a:lnTo>
                  <a:cubicBezTo>
                    <a:pt x="887" y="360"/>
                    <a:pt x="973" y="290"/>
                    <a:pt x="980" y="196"/>
                  </a:cubicBezTo>
                  <a:cubicBezTo>
                    <a:pt x="990" y="90"/>
                    <a:pt x="906" y="0"/>
                    <a:pt x="8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2"/>
            <p:cNvSpPr/>
            <p:nvPr/>
          </p:nvSpPr>
          <p:spPr>
            <a:xfrm>
              <a:off x="756621" y="939136"/>
              <a:ext cx="37468" cy="13676"/>
            </a:xfrm>
            <a:custGeom>
              <a:avLst/>
              <a:gdLst/>
              <a:ahLst/>
              <a:cxnLst/>
              <a:rect l="l" t="t" r="r" b="b"/>
              <a:pathLst>
                <a:path w="989" h="361" extrusionOk="0">
                  <a:moveTo>
                    <a:pt x="198" y="1"/>
                  </a:moveTo>
                  <a:cubicBezTo>
                    <a:pt x="103" y="1"/>
                    <a:pt x="17" y="71"/>
                    <a:pt x="10" y="165"/>
                  </a:cubicBezTo>
                  <a:cubicBezTo>
                    <a:pt x="0" y="272"/>
                    <a:pt x="84" y="361"/>
                    <a:pt x="189" y="361"/>
                  </a:cubicBezTo>
                  <a:lnTo>
                    <a:pt x="791" y="361"/>
                  </a:lnTo>
                  <a:cubicBezTo>
                    <a:pt x="886" y="361"/>
                    <a:pt x="972" y="292"/>
                    <a:pt x="979" y="198"/>
                  </a:cubicBezTo>
                  <a:cubicBezTo>
                    <a:pt x="989" y="90"/>
                    <a:pt x="905" y="1"/>
                    <a:pt x="8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2"/>
            <p:cNvSpPr/>
            <p:nvPr/>
          </p:nvSpPr>
          <p:spPr>
            <a:xfrm>
              <a:off x="756583" y="975164"/>
              <a:ext cx="37506" cy="13676"/>
            </a:xfrm>
            <a:custGeom>
              <a:avLst/>
              <a:gdLst/>
              <a:ahLst/>
              <a:cxnLst/>
              <a:rect l="l" t="t" r="r" b="b"/>
              <a:pathLst>
                <a:path w="990" h="361" extrusionOk="0">
                  <a:moveTo>
                    <a:pt x="198" y="1"/>
                  </a:moveTo>
                  <a:cubicBezTo>
                    <a:pt x="102" y="1"/>
                    <a:pt x="17" y="70"/>
                    <a:pt x="10" y="164"/>
                  </a:cubicBezTo>
                  <a:cubicBezTo>
                    <a:pt x="0" y="272"/>
                    <a:pt x="84" y="361"/>
                    <a:pt x="189" y="361"/>
                  </a:cubicBezTo>
                  <a:lnTo>
                    <a:pt x="792" y="361"/>
                  </a:lnTo>
                  <a:cubicBezTo>
                    <a:pt x="887" y="361"/>
                    <a:pt x="973" y="291"/>
                    <a:pt x="980" y="195"/>
                  </a:cubicBezTo>
                  <a:cubicBezTo>
                    <a:pt x="990" y="90"/>
                    <a:pt x="906" y="1"/>
                    <a:pt x="8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2"/>
            <p:cNvSpPr/>
            <p:nvPr/>
          </p:nvSpPr>
          <p:spPr>
            <a:xfrm>
              <a:off x="756621" y="1009905"/>
              <a:ext cx="37468" cy="13676"/>
            </a:xfrm>
            <a:custGeom>
              <a:avLst/>
              <a:gdLst/>
              <a:ahLst/>
              <a:cxnLst/>
              <a:rect l="l" t="t" r="r" b="b"/>
              <a:pathLst>
                <a:path w="989" h="361" extrusionOk="0">
                  <a:moveTo>
                    <a:pt x="198" y="0"/>
                  </a:moveTo>
                  <a:cubicBezTo>
                    <a:pt x="103" y="0"/>
                    <a:pt x="17" y="69"/>
                    <a:pt x="10" y="164"/>
                  </a:cubicBezTo>
                  <a:cubicBezTo>
                    <a:pt x="0" y="271"/>
                    <a:pt x="84" y="360"/>
                    <a:pt x="189" y="360"/>
                  </a:cubicBezTo>
                  <a:lnTo>
                    <a:pt x="791" y="360"/>
                  </a:lnTo>
                  <a:cubicBezTo>
                    <a:pt x="886" y="360"/>
                    <a:pt x="972" y="290"/>
                    <a:pt x="979" y="196"/>
                  </a:cubicBezTo>
                  <a:cubicBezTo>
                    <a:pt x="989" y="90"/>
                    <a:pt x="905" y="0"/>
                    <a:pt x="8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2"/>
            <p:cNvSpPr/>
            <p:nvPr/>
          </p:nvSpPr>
          <p:spPr>
            <a:xfrm>
              <a:off x="756583" y="1044645"/>
              <a:ext cx="37506" cy="13714"/>
            </a:xfrm>
            <a:custGeom>
              <a:avLst/>
              <a:gdLst/>
              <a:ahLst/>
              <a:cxnLst/>
              <a:rect l="l" t="t" r="r" b="b"/>
              <a:pathLst>
                <a:path w="990" h="362" extrusionOk="0">
                  <a:moveTo>
                    <a:pt x="198" y="1"/>
                  </a:moveTo>
                  <a:cubicBezTo>
                    <a:pt x="102" y="1"/>
                    <a:pt x="17" y="70"/>
                    <a:pt x="10" y="166"/>
                  </a:cubicBezTo>
                  <a:cubicBezTo>
                    <a:pt x="0" y="273"/>
                    <a:pt x="84" y="362"/>
                    <a:pt x="189" y="362"/>
                  </a:cubicBezTo>
                  <a:lnTo>
                    <a:pt x="792" y="362"/>
                  </a:lnTo>
                  <a:cubicBezTo>
                    <a:pt x="887" y="362"/>
                    <a:pt x="973" y="293"/>
                    <a:pt x="980" y="199"/>
                  </a:cubicBezTo>
                  <a:cubicBezTo>
                    <a:pt x="990" y="91"/>
                    <a:pt x="906" y="1"/>
                    <a:pt x="8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2"/>
            <p:cNvSpPr/>
            <p:nvPr/>
          </p:nvSpPr>
          <p:spPr>
            <a:xfrm>
              <a:off x="756621" y="1079424"/>
              <a:ext cx="37468" cy="13676"/>
            </a:xfrm>
            <a:custGeom>
              <a:avLst/>
              <a:gdLst/>
              <a:ahLst/>
              <a:cxnLst/>
              <a:rect l="l" t="t" r="r" b="b"/>
              <a:pathLst>
                <a:path w="989" h="361" extrusionOk="0">
                  <a:moveTo>
                    <a:pt x="198" y="0"/>
                  </a:moveTo>
                  <a:cubicBezTo>
                    <a:pt x="103" y="0"/>
                    <a:pt x="17" y="70"/>
                    <a:pt x="10" y="165"/>
                  </a:cubicBezTo>
                  <a:cubicBezTo>
                    <a:pt x="0" y="271"/>
                    <a:pt x="84" y="360"/>
                    <a:pt x="189" y="360"/>
                  </a:cubicBezTo>
                  <a:lnTo>
                    <a:pt x="791" y="360"/>
                  </a:lnTo>
                  <a:cubicBezTo>
                    <a:pt x="886" y="360"/>
                    <a:pt x="972" y="291"/>
                    <a:pt x="979" y="197"/>
                  </a:cubicBezTo>
                  <a:cubicBezTo>
                    <a:pt x="989" y="89"/>
                    <a:pt x="905" y="0"/>
                    <a:pt x="8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2"/>
            <p:cNvSpPr/>
            <p:nvPr/>
          </p:nvSpPr>
          <p:spPr>
            <a:xfrm>
              <a:off x="756621" y="1114202"/>
              <a:ext cx="37468" cy="13639"/>
            </a:xfrm>
            <a:custGeom>
              <a:avLst/>
              <a:gdLst/>
              <a:ahLst/>
              <a:cxnLst/>
              <a:rect l="l" t="t" r="r" b="b"/>
              <a:pathLst>
                <a:path w="989" h="360" extrusionOk="0">
                  <a:moveTo>
                    <a:pt x="198" y="1"/>
                  </a:moveTo>
                  <a:cubicBezTo>
                    <a:pt x="103" y="1"/>
                    <a:pt x="17" y="70"/>
                    <a:pt x="10" y="164"/>
                  </a:cubicBezTo>
                  <a:cubicBezTo>
                    <a:pt x="0" y="271"/>
                    <a:pt x="84" y="360"/>
                    <a:pt x="189" y="360"/>
                  </a:cubicBezTo>
                  <a:lnTo>
                    <a:pt x="791" y="360"/>
                  </a:lnTo>
                  <a:cubicBezTo>
                    <a:pt x="886" y="360"/>
                    <a:pt x="972" y="291"/>
                    <a:pt x="979" y="196"/>
                  </a:cubicBezTo>
                  <a:cubicBezTo>
                    <a:pt x="989" y="90"/>
                    <a:pt x="905" y="1"/>
                    <a:pt x="8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2"/>
            <p:cNvSpPr/>
            <p:nvPr/>
          </p:nvSpPr>
          <p:spPr>
            <a:xfrm>
              <a:off x="931309" y="834497"/>
              <a:ext cx="43681" cy="84029"/>
            </a:xfrm>
            <a:custGeom>
              <a:avLst/>
              <a:gdLst/>
              <a:ahLst/>
              <a:cxnLst/>
              <a:rect l="l" t="t" r="r" b="b"/>
              <a:pathLst>
                <a:path w="1153" h="2218" extrusionOk="0">
                  <a:moveTo>
                    <a:pt x="944" y="0"/>
                  </a:moveTo>
                  <a:cubicBezTo>
                    <a:pt x="870" y="0"/>
                    <a:pt x="800" y="45"/>
                    <a:pt x="772" y="117"/>
                  </a:cubicBezTo>
                  <a:lnTo>
                    <a:pt x="37" y="1965"/>
                  </a:lnTo>
                  <a:cubicBezTo>
                    <a:pt x="1" y="2059"/>
                    <a:pt x="46" y="2166"/>
                    <a:pt x="140" y="2204"/>
                  </a:cubicBezTo>
                  <a:cubicBezTo>
                    <a:pt x="163" y="2213"/>
                    <a:pt x="186" y="2217"/>
                    <a:pt x="208" y="2217"/>
                  </a:cubicBezTo>
                  <a:cubicBezTo>
                    <a:pt x="281" y="2217"/>
                    <a:pt x="352" y="2173"/>
                    <a:pt x="380" y="2101"/>
                  </a:cubicBezTo>
                  <a:lnTo>
                    <a:pt x="1114" y="253"/>
                  </a:lnTo>
                  <a:cubicBezTo>
                    <a:pt x="1153" y="159"/>
                    <a:pt x="1106" y="52"/>
                    <a:pt x="1011" y="13"/>
                  </a:cubicBezTo>
                  <a:cubicBezTo>
                    <a:pt x="989" y="5"/>
                    <a:pt x="966" y="0"/>
                    <a:pt x="9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2"/>
            <p:cNvSpPr/>
            <p:nvPr/>
          </p:nvSpPr>
          <p:spPr>
            <a:xfrm>
              <a:off x="985598" y="837869"/>
              <a:ext cx="34097" cy="77248"/>
            </a:xfrm>
            <a:custGeom>
              <a:avLst/>
              <a:gdLst/>
              <a:ahLst/>
              <a:cxnLst/>
              <a:rect l="l" t="t" r="r" b="b"/>
              <a:pathLst>
                <a:path w="900" h="2039" extrusionOk="0">
                  <a:moveTo>
                    <a:pt x="212" y="0"/>
                  </a:moveTo>
                  <a:cubicBezTo>
                    <a:pt x="180" y="0"/>
                    <a:pt x="147" y="9"/>
                    <a:pt x="118" y="27"/>
                  </a:cubicBezTo>
                  <a:cubicBezTo>
                    <a:pt x="30" y="79"/>
                    <a:pt x="3" y="193"/>
                    <a:pt x="55" y="279"/>
                  </a:cubicBezTo>
                  <a:lnTo>
                    <a:pt x="492" y="1004"/>
                  </a:lnTo>
                  <a:lnTo>
                    <a:pt x="53" y="1762"/>
                  </a:lnTo>
                  <a:cubicBezTo>
                    <a:pt x="0" y="1850"/>
                    <a:pt x="31" y="1964"/>
                    <a:pt x="119" y="2014"/>
                  </a:cubicBezTo>
                  <a:cubicBezTo>
                    <a:pt x="147" y="2032"/>
                    <a:pt x="181" y="2039"/>
                    <a:pt x="212" y="2039"/>
                  </a:cubicBezTo>
                  <a:cubicBezTo>
                    <a:pt x="276" y="2039"/>
                    <a:pt x="338" y="2007"/>
                    <a:pt x="371" y="1948"/>
                  </a:cubicBezTo>
                  <a:lnTo>
                    <a:pt x="865" y="1095"/>
                  </a:lnTo>
                  <a:cubicBezTo>
                    <a:pt x="899" y="1038"/>
                    <a:pt x="898" y="965"/>
                    <a:pt x="863" y="908"/>
                  </a:cubicBezTo>
                  <a:lnTo>
                    <a:pt x="370" y="90"/>
                  </a:lnTo>
                  <a:cubicBezTo>
                    <a:pt x="336" y="32"/>
                    <a:pt x="275" y="0"/>
                    <a:pt x="2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2"/>
            <p:cNvSpPr/>
            <p:nvPr/>
          </p:nvSpPr>
          <p:spPr>
            <a:xfrm>
              <a:off x="886605" y="837869"/>
              <a:ext cx="34021" cy="77248"/>
            </a:xfrm>
            <a:custGeom>
              <a:avLst/>
              <a:gdLst/>
              <a:ahLst/>
              <a:cxnLst/>
              <a:rect l="l" t="t" r="r" b="b"/>
              <a:pathLst>
                <a:path w="898" h="2039" extrusionOk="0">
                  <a:moveTo>
                    <a:pt x="687" y="0"/>
                  </a:moveTo>
                  <a:cubicBezTo>
                    <a:pt x="624" y="0"/>
                    <a:pt x="564" y="32"/>
                    <a:pt x="529" y="90"/>
                  </a:cubicBezTo>
                  <a:lnTo>
                    <a:pt x="36" y="908"/>
                  </a:lnTo>
                  <a:cubicBezTo>
                    <a:pt x="2" y="965"/>
                    <a:pt x="0" y="1038"/>
                    <a:pt x="35" y="1095"/>
                  </a:cubicBezTo>
                  <a:lnTo>
                    <a:pt x="528" y="1948"/>
                  </a:lnTo>
                  <a:cubicBezTo>
                    <a:pt x="563" y="2007"/>
                    <a:pt x="623" y="2039"/>
                    <a:pt x="688" y="2039"/>
                  </a:cubicBezTo>
                  <a:cubicBezTo>
                    <a:pt x="720" y="2039"/>
                    <a:pt x="751" y="2031"/>
                    <a:pt x="780" y="2014"/>
                  </a:cubicBezTo>
                  <a:cubicBezTo>
                    <a:pt x="868" y="1964"/>
                    <a:pt x="898" y="1850"/>
                    <a:pt x="847" y="1762"/>
                  </a:cubicBezTo>
                  <a:lnTo>
                    <a:pt x="408" y="1005"/>
                  </a:lnTo>
                  <a:lnTo>
                    <a:pt x="846" y="279"/>
                  </a:lnTo>
                  <a:cubicBezTo>
                    <a:pt x="898" y="191"/>
                    <a:pt x="870" y="79"/>
                    <a:pt x="783" y="27"/>
                  </a:cubicBezTo>
                  <a:cubicBezTo>
                    <a:pt x="753" y="9"/>
                    <a:pt x="719" y="0"/>
                    <a:pt x="6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2"/>
            <p:cNvSpPr/>
            <p:nvPr/>
          </p:nvSpPr>
          <p:spPr>
            <a:xfrm>
              <a:off x="886643" y="939136"/>
              <a:ext cx="173097" cy="13676"/>
            </a:xfrm>
            <a:custGeom>
              <a:avLst/>
              <a:gdLst/>
              <a:ahLst/>
              <a:cxnLst/>
              <a:rect l="l" t="t" r="r" b="b"/>
              <a:pathLst>
                <a:path w="4569" h="361" extrusionOk="0">
                  <a:moveTo>
                    <a:pt x="200" y="1"/>
                  </a:moveTo>
                  <a:cubicBezTo>
                    <a:pt x="104" y="1"/>
                    <a:pt x="19" y="71"/>
                    <a:pt x="10" y="165"/>
                  </a:cubicBezTo>
                  <a:cubicBezTo>
                    <a:pt x="0" y="272"/>
                    <a:pt x="87" y="361"/>
                    <a:pt x="193" y="361"/>
                  </a:cubicBezTo>
                  <a:lnTo>
                    <a:pt x="4370" y="361"/>
                  </a:lnTo>
                  <a:cubicBezTo>
                    <a:pt x="4465" y="361"/>
                    <a:pt x="4550" y="292"/>
                    <a:pt x="4559" y="198"/>
                  </a:cubicBezTo>
                  <a:cubicBezTo>
                    <a:pt x="4569" y="90"/>
                    <a:pt x="4484" y="1"/>
                    <a:pt x="4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2"/>
            <p:cNvSpPr/>
            <p:nvPr/>
          </p:nvSpPr>
          <p:spPr>
            <a:xfrm>
              <a:off x="887135" y="975126"/>
              <a:ext cx="44629" cy="13714"/>
            </a:xfrm>
            <a:custGeom>
              <a:avLst/>
              <a:gdLst/>
              <a:ahLst/>
              <a:cxnLst/>
              <a:rect l="l" t="t" r="r" b="b"/>
              <a:pathLst>
                <a:path w="1178" h="362" extrusionOk="0">
                  <a:moveTo>
                    <a:pt x="199" y="1"/>
                  </a:moveTo>
                  <a:cubicBezTo>
                    <a:pt x="104" y="1"/>
                    <a:pt x="18" y="70"/>
                    <a:pt x="10" y="164"/>
                  </a:cubicBezTo>
                  <a:cubicBezTo>
                    <a:pt x="1" y="273"/>
                    <a:pt x="85" y="362"/>
                    <a:pt x="190" y="362"/>
                  </a:cubicBezTo>
                  <a:lnTo>
                    <a:pt x="979" y="362"/>
                  </a:lnTo>
                  <a:cubicBezTo>
                    <a:pt x="1075" y="362"/>
                    <a:pt x="1159" y="292"/>
                    <a:pt x="1168" y="196"/>
                  </a:cubicBezTo>
                  <a:cubicBezTo>
                    <a:pt x="1177" y="90"/>
                    <a:pt x="1093" y="1"/>
                    <a:pt x="9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2"/>
            <p:cNvSpPr/>
            <p:nvPr/>
          </p:nvSpPr>
          <p:spPr>
            <a:xfrm>
              <a:off x="954608" y="975164"/>
              <a:ext cx="44591" cy="13676"/>
            </a:xfrm>
            <a:custGeom>
              <a:avLst/>
              <a:gdLst/>
              <a:ahLst/>
              <a:cxnLst/>
              <a:rect l="l" t="t" r="r" b="b"/>
              <a:pathLst>
                <a:path w="1177" h="361" extrusionOk="0">
                  <a:moveTo>
                    <a:pt x="198" y="1"/>
                  </a:moveTo>
                  <a:cubicBezTo>
                    <a:pt x="103" y="1"/>
                    <a:pt x="17" y="70"/>
                    <a:pt x="10" y="164"/>
                  </a:cubicBezTo>
                  <a:cubicBezTo>
                    <a:pt x="0" y="272"/>
                    <a:pt x="84" y="361"/>
                    <a:pt x="189" y="361"/>
                  </a:cubicBezTo>
                  <a:lnTo>
                    <a:pt x="979" y="361"/>
                  </a:lnTo>
                  <a:cubicBezTo>
                    <a:pt x="1074" y="361"/>
                    <a:pt x="1159" y="291"/>
                    <a:pt x="1167" y="195"/>
                  </a:cubicBezTo>
                  <a:cubicBezTo>
                    <a:pt x="1177" y="90"/>
                    <a:pt x="1093" y="1"/>
                    <a:pt x="9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2"/>
            <p:cNvSpPr/>
            <p:nvPr/>
          </p:nvSpPr>
          <p:spPr>
            <a:xfrm>
              <a:off x="999199" y="1009943"/>
              <a:ext cx="44553" cy="13676"/>
            </a:xfrm>
            <a:custGeom>
              <a:avLst/>
              <a:gdLst/>
              <a:ahLst/>
              <a:cxnLst/>
              <a:rect l="l" t="t" r="r" b="b"/>
              <a:pathLst>
                <a:path w="1176" h="361" extrusionOk="0">
                  <a:moveTo>
                    <a:pt x="199" y="0"/>
                  </a:moveTo>
                  <a:cubicBezTo>
                    <a:pt x="102" y="0"/>
                    <a:pt x="17" y="69"/>
                    <a:pt x="10" y="164"/>
                  </a:cubicBezTo>
                  <a:cubicBezTo>
                    <a:pt x="1" y="270"/>
                    <a:pt x="84" y="360"/>
                    <a:pt x="189" y="360"/>
                  </a:cubicBezTo>
                  <a:lnTo>
                    <a:pt x="979" y="360"/>
                  </a:lnTo>
                  <a:cubicBezTo>
                    <a:pt x="1074" y="360"/>
                    <a:pt x="1159" y="290"/>
                    <a:pt x="1167" y="197"/>
                  </a:cubicBezTo>
                  <a:cubicBezTo>
                    <a:pt x="1176" y="89"/>
                    <a:pt x="1092" y="0"/>
                    <a:pt x="9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2"/>
            <p:cNvSpPr/>
            <p:nvPr/>
          </p:nvSpPr>
          <p:spPr>
            <a:xfrm>
              <a:off x="999199" y="1079424"/>
              <a:ext cx="44553" cy="13676"/>
            </a:xfrm>
            <a:custGeom>
              <a:avLst/>
              <a:gdLst/>
              <a:ahLst/>
              <a:cxnLst/>
              <a:rect l="l" t="t" r="r" b="b"/>
              <a:pathLst>
                <a:path w="1176" h="361" extrusionOk="0">
                  <a:moveTo>
                    <a:pt x="199" y="0"/>
                  </a:moveTo>
                  <a:cubicBezTo>
                    <a:pt x="102" y="0"/>
                    <a:pt x="17" y="70"/>
                    <a:pt x="10" y="165"/>
                  </a:cubicBezTo>
                  <a:cubicBezTo>
                    <a:pt x="1" y="271"/>
                    <a:pt x="84" y="360"/>
                    <a:pt x="189" y="360"/>
                  </a:cubicBezTo>
                  <a:lnTo>
                    <a:pt x="979" y="360"/>
                  </a:lnTo>
                  <a:cubicBezTo>
                    <a:pt x="1074" y="360"/>
                    <a:pt x="1159" y="291"/>
                    <a:pt x="1167" y="197"/>
                  </a:cubicBezTo>
                  <a:cubicBezTo>
                    <a:pt x="1176" y="89"/>
                    <a:pt x="1092" y="0"/>
                    <a:pt x="9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2"/>
            <p:cNvSpPr/>
            <p:nvPr/>
          </p:nvSpPr>
          <p:spPr>
            <a:xfrm>
              <a:off x="887741" y="1114202"/>
              <a:ext cx="95432" cy="13639"/>
            </a:xfrm>
            <a:custGeom>
              <a:avLst/>
              <a:gdLst/>
              <a:ahLst/>
              <a:cxnLst/>
              <a:rect l="l" t="t" r="r" b="b"/>
              <a:pathLst>
                <a:path w="2519" h="360" extrusionOk="0">
                  <a:moveTo>
                    <a:pt x="199" y="1"/>
                  </a:moveTo>
                  <a:cubicBezTo>
                    <a:pt x="103" y="1"/>
                    <a:pt x="17" y="70"/>
                    <a:pt x="10" y="164"/>
                  </a:cubicBezTo>
                  <a:cubicBezTo>
                    <a:pt x="1" y="271"/>
                    <a:pt x="84" y="360"/>
                    <a:pt x="189" y="360"/>
                  </a:cubicBezTo>
                  <a:lnTo>
                    <a:pt x="2321" y="360"/>
                  </a:lnTo>
                  <a:cubicBezTo>
                    <a:pt x="2416" y="360"/>
                    <a:pt x="2502" y="291"/>
                    <a:pt x="2509" y="196"/>
                  </a:cubicBezTo>
                  <a:cubicBezTo>
                    <a:pt x="2519" y="90"/>
                    <a:pt x="2435" y="1"/>
                    <a:pt x="2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2"/>
            <p:cNvSpPr/>
            <p:nvPr/>
          </p:nvSpPr>
          <p:spPr>
            <a:xfrm>
              <a:off x="887741" y="1009943"/>
              <a:ext cx="95394" cy="13676"/>
            </a:xfrm>
            <a:custGeom>
              <a:avLst/>
              <a:gdLst/>
              <a:ahLst/>
              <a:cxnLst/>
              <a:rect l="l" t="t" r="r" b="b"/>
              <a:pathLst>
                <a:path w="2518" h="361" extrusionOk="0">
                  <a:moveTo>
                    <a:pt x="199" y="0"/>
                  </a:moveTo>
                  <a:cubicBezTo>
                    <a:pt x="103" y="0"/>
                    <a:pt x="17" y="69"/>
                    <a:pt x="10" y="164"/>
                  </a:cubicBezTo>
                  <a:cubicBezTo>
                    <a:pt x="1" y="270"/>
                    <a:pt x="84" y="360"/>
                    <a:pt x="189" y="360"/>
                  </a:cubicBezTo>
                  <a:lnTo>
                    <a:pt x="2320" y="360"/>
                  </a:lnTo>
                  <a:cubicBezTo>
                    <a:pt x="2415" y="360"/>
                    <a:pt x="2500" y="290"/>
                    <a:pt x="2508" y="197"/>
                  </a:cubicBezTo>
                  <a:cubicBezTo>
                    <a:pt x="2517" y="89"/>
                    <a:pt x="2433" y="0"/>
                    <a:pt x="23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2"/>
            <p:cNvSpPr/>
            <p:nvPr/>
          </p:nvSpPr>
          <p:spPr>
            <a:xfrm>
              <a:off x="1059777" y="1009943"/>
              <a:ext cx="95432" cy="13676"/>
            </a:xfrm>
            <a:custGeom>
              <a:avLst/>
              <a:gdLst/>
              <a:ahLst/>
              <a:cxnLst/>
              <a:rect l="l" t="t" r="r" b="b"/>
              <a:pathLst>
                <a:path w="2519" h="361" extrusionOk="0">
                  <a:moveTo>
                    <a:pt x="200" y="0"/>
                  </a:moveTo>
                  <a:cubicBezTo>
                    <a:pt x="105" y="0"/>
                    <a:pt x="20" y="69"/>
                    <a:pt x="11" y="164"/>
                  </a:cubicBezTo>
                  <a:cubicBezTo>
                    <a:pt x="1" y="270"/>
                    <a:pt x="87" y="360"/>
                    <a:pt x="192" y="360"/>
                  </a:cubicBezTo>
                  <a:lnTo>
                    <a:pt x="2321" y="360"/>
                  </a:lnTo>
                  <a:cubicBezTo>
                    <a:pt x="2416" y="360"/>
                    <a:pt x="2502" y="290"/>
                    <a:pt x="2509" y="197"/>
                  </a:cubicBezTo>
                  <a:cubicBezTo>
                    <a:pt x="2519" y="89"/>
                    <a:pt x="2435" y="0"/>
                    <a:pt x="23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2"/>
            <p:cNvSpPr/>
            <p:nvPr/>
          </p:nvSpPr>
          <p:spPr>
            <a:xfrm>
              <a:off x="886984" y="1044645"/>
              <a:ext cx="32695" cy="13714"/>
            </a:xfrm>
            <a:custGeom>
              <a:avLst/>
              <a:gdLst/>
              <a:ahLst/>
              <a:cxnLst/>
              <a:rect l="l" t="t" r="r" b="b"/>
              <a:pathLst>
                <a:path w="863" h="362" extrusionOk="0">
                  <a:moveTo>
                    <a:pt x="202" y="1"/>
                  </a:moveTo>
                  <a:cubicBezTo>
                    <a:pt x="106" y="1"/>
                    <a:pt x="21" y="70"/>
                    <a:pt x="13" y="164"/>
                  </a:cubicBezTo>
                  <a:cubicBezTo>
                    <a:pt x="1" y="272"/>
                    <a:pt x="85" y="362"/>
                    <a:pt x="191" y="362"/>
                  </a:cubicBezTo>
                  <a:lnTo>
                    <a:pt x="665" y="362"/>
                  </a:lnTo>
                  <a:cubicBezTo>
                    <a:pt x="760" y="362"/>
                    <a:pt x="846" y="293"/>
                    <a:pt x="853" y="197"/>
                  </a:cubicBezTo>
                  <a:cubicBezTo>
                    <a:pt x="863" y="90"/>
                    <a:pt x="779" y="1"/>
                    <a:pt x="6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2"/>
            <p:cNvSpPr/>
            <p:nvPr/>
          </p:nvSpPr>
          <p:spPr>
            <a:xfrm>
              <a:off x="935325" y="1044645"/>
              <a:ext cx="161996" cy="13714"/>
            </a:xfrm>
            <a:custGeom>
              <a:avLst/>
              <a:gdLst/>
              <a:ahLst/>
              <a:cxnLst/>
              <a:rect l="l" t="t" r="r" b="b"/>
              <a:pathLst>
                <a:path w="4276" h="362" extrusionOk="0">
                  <a:moveTo>
                    <a:pt x="198" y="1"/>
                  </a:moveTo>
                  <a:cubicBezTo>
                    <a:pt x="102" y="1"/>
                    <a:pt x="17" y="70"/>
                    <a:pt x="10" y="166"/>
                  </a:cubicBezTo>
                  <a:cubicBezTo>
                    <a:pt x="0" y="273"/>
                    <a:pt x="84" y="362"/>
                    <a:pt x="189" y="362"/>
                  </a:cubicBezTo>
                  <a:lnTo>
                    <a:pt x="4077" y="362"/>
                  </a:lnTo>
                  <a:cubicBezTo>
                    <a:pt x="4173" y="362"/>
                    <a:pt x="4258" y="293"/>
                    <a:pt x="4265" y="199"/>
                  </a:cubicBezTo>
                  <a:cubicBezTo>
                    <a:pt x="4276" y="91"/>
                    <a:pt x="4191" y="1"/>
                    <a:pt x="40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2"/>
            <p:cNvSpPr/>
            <p:nvPr/>
          </p:nvSpPr>
          <p:spPr>
            <a:xfrm>
              <a:off x="887741" y="1079424"/>
              <a:ext cx="95394" cy="13676"/>
            </a:xfrm>
            <a:custGeom>
              <a:avLst/>
              <a:gdLst/>
              <a:ahLst/>
              <a:cxnLst/>
              <a:rect l="l" t="t" r="r" b="b"/>
              <a:pathLst>
                <a:path w="2518" h="361" extrusionOk="0">
                  <a:moveTo>
                    <a:pt x="199" y="0"/>
                  </a:moveTo>
                  <a:cubicBezTo>
                    <a:pt x="103" y="0"/>
                    <a:pt x="17" y="70"/>
                    <a:pt x="10" y="165"/>
                  </a:cubicBezTo>
                  <a:cubicBezTo>
                    <a:pt x="1" y="271"/>
                    <a:pt x="84" y="360"/>
                    <a:pt x="189" y="360"/>
                  </a:cubicBezTo>
                  <a:lnTo>
                    <a:pt x="2320" y="360"/>
                  </a:lnTo>
                  <a:cubicBezTo>
                    <a:pt x="2415" y="360"/>
                    <a:pt x="2500" y="291"/>
                    <a:pt x="2508" y="197"/>
                  </a:cubicBezTo>
                  <a:cubicBezTo>
                    <a:pt x="2517" y="89"/>
                    <a:pt x="2433" y="0"/>
                    <a:pt x="23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8" name="Google Shape;1698;p42"/>
          <p:cNvGrpSpPr/>
          <p:nvPr/>
        </p:nvGrpSpPr>
        <p:grpSpPr>
          <a:xfrm>
            <a:off x="3677207" y="1855441"/>
            <a:ext cx="341661" cy="290896"/>
            <a:chOff x="2335403" y="748460"/>
            <a:chExt cx="477313" cy="406392"/>
          </a:xfrm>
        </p:grpSpPr>
        <p:sp>
          <p:nvSpPr>
            <p:cNvPr id="1699" name="Google Shape;1699;p42"/>
            <p:cNvSpPr/>
            <p:nvPr/>
          </p:nvSpPr>
          <p:spPr>
            <a:xfrm>
              <a:off x="2419697" y="928793"/>
              <a:ext cx="35044" cy="13676"/>
            </a:xfrm>
            <a:custGeom>
              <a:avLst/>
              <a:gdLst/>
              <a:ahLst/>
              <a:cxnLst/>
              <a:rect l="l" t="t" r="r" b="b"/>
              <a:pathLst>
                <a:path w="925" h="361" extrusionOk="0">
                  <a:moveTo>
                    <a:pt x="199" y="0"/>
                  </a:moveTo>
                  <a:cubicBezTo>
                    <a:pt x="102" y="0"/>
                    <a:pt x="17" y="69"/>
                    <a:pt x="10" y="164"/>
                  </a:cubicBezTo>
                  <a:cubicBezTo>
                    <a:pt x="1" y="272"/>
                    <a:pt x="85" y="361"/>
                    <a:pt x="189" y="361"/>
                  </a:cubicBezTo>
                  <a:lnTo>
                    <a:pt x="728" y="361"/>
                  </a:lnTo>
                  <a:cubicBezTo>
                    <a:pt x="823" y="361"/>
                    <a:pt x="908" y="291"/>
                    <a:pt x="916" y="197"/>
                  </a:cubicBezTo>
                  <a:cubicBezTo>
                    <a:pt x="924" y="89"/>
                    <a:pt x="841" y="0"/>
                    <a:pt x="7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2"/>
            <p:cNvSpPr/>
            <p:nvPr/>
          </p:nvSpPr>
          <p:spPr>
            <a:xfrm>
              <a:off x="2466106" y="928793"/>
              <a:ext cx="51713" cy="13676"/>
            </a:xfrm>
            <a:custGeom>
              <a:avLst/>
              <a:gdLst/>
              <a:ahLst/>
              <a:cxnLst/>
              <a:rect l="l" t="t" r="r" b="b"/>
              <a:pathLst>
                <a:path w="1365" h="361" extrusionOk="0">
                  <a:moveTo>
                    <a:pt x="197" y="0"/>
                  </a:moveTo>
                  <a:cubicBezTo>
                    <a:pt x="102" y="0"/>
                    <a:pt x="17" y="69"/>
                    <a:pt x="8" y="164"/>
                  </a:cubicBezTo>
                  <a:cubicBezTo>
                    <a:pt x="0" y="272"/>
                    <a:pt x="84" y="361"/>
                    <a:pt x="189" y="361"/>
                  </a:cubicBezTo>
                  <a:lnTo>
                    <a:pt x="1166" y="361"/>
                  </a:lnTo>
                  <a:cubicBezTo>
                    <a:pt x="1262" y="361"/>
                    <a:pt x="1347" y="291"/>
                    <a:pt x="1354" y="197"/>
                  </a:cubicBezTo>
                  <a:cubicBezTo>
                    <a:pt x="1365" y="89"/>
                    <a:pt x="1281" y="0"/>
                    <a:pt x="11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2"/>
            <p:cNvSpPr/>
            <p:nvPr/>
          </p:nvSpPr>
          <p:spPr>
            <a:xfrm>
              <a:off x="2420152" y="900266"/>
              <a:ext cx="80354" cy="13676"/>
            </a:xfrm>
            <a:custGeom>
              <a:avLst/>
              <a:gdLst/>
              <a:ahLst/>
              <a:cxnLst/>
              <a:rect l="l" t="t" r="r" b="b"/>
              <a:pathLst>
                <a:path w="2121" h="361" extrusionOk="0">
                  <a:moveTo>
                    <a:pt x="198" y="0"/>
                  </a:moveTo>
                  <a:cubicBezTo>
                    <a:pt x="103" y="0"/>
                    <a:pt x="17" y="70"/>
                    <a:pt x="10" y="165"/>
                  </a:cubicBezTo>
                  <a:cubicBezTo>
                    <a:pt x="0" y="270"/>
                    <a:pt x="84" y="361"/>
                    <a:pt x="189" y="361"/>
                  </a:cubicBezTo>
                  <a:lnTo>
                    <a:pt x="1922" y="361"/>
                  </a:lnTo>
                  <a:cubicBezTo>
                    <a:pt x="2017" y="361"/>
                    <a:pt x="2103" y="291"/>
                    <a:pt x="2111" y="197"/>
                  </a:cubicBezTo>
                  <a:cubicBezTo>
                    <a:pt x="2120" y="89"/>
                    <a:pt x="2036" y="0"/>
                    <a:pt x="19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2"/>
            <p:cNvSpPr/>
            <p:nvPr/>
          </p:nvSpPr>
          <p:spPr>
            <a:xfrm>
              <a:off x="2419659" y="871700"/>
              <a:ext cx="35044" cy="13676"/>
            </a:xfrm>
            <a:custGeom>
              <a:avLst/>
              <a:gdLst/>
              <a:ahLst/>
              <a:cxnLst/>
              <a:rect l="l" t="t" r="r" b="b"/>
              <a:pathLst>
                <a:path w="925" h="361" extrusionOk="0">
                  <a:moveTo>
                    <a:pt x="198" y="0"/>
                  </a:moveTo>
                  <a:cubicBezTo>
                    <a:pt x="102" y="0"/>
                    <a:pt x="17" y="70"/>
                    <a:pt x="9" y="165"/>
                  </a:cubicBezTo>
                  <a:cubicBezTo>
                    <a:pt x="1" y="271"/>
                    <a:pt x="84" y="360"/>
                    <a:pt x="189" y="360"/>
                  </a:cubicBezTo>
                  <a:lnTo>
                    <a:pt x="726" y="360"/>
                  </a:lnTo>
                  <a:cubicBezTo>
                    <a:pt x="823" y="360"/>
                    <a:pt x="908" y="291"/>
                    <a:pt x="915" y="197"/>
                  </a:cubicBezTo>
                  <a:cubicBezTo>
                    <a:pt x="924" y="89"/>
                    <a:pt x="841" y="0"/>
                    <a:pt x="7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2"/>
            <p:cNvSpPr/>
            <p:nvPr/>
          </p:nvSpPr>
          <p:spPr>
            <a:xfrm>
              <a:off x="2466485" y="871700"/>
              <a:ext cx="84597" cy="13676"/>
            </a:xfrm>
            <a:custGeom>
              <a:avLst/>
              <a:gdLst/>
              <a:ahLst/>
              <a:cxnLst/>
              <a:rect l="l" t="t" r="r" b="b"/>
              <a:pathLst>
                <a:path w="2233" h="361" extrusionOk="0">
                  <a:moveTo>
                    <a:pt x="197" y="0"/>
                  </a:moveTo>
                  <a:cubicBezTo>
                    <a:pt x="102" y="0"/>
                    <a:pt x="17" y="70"/>
                    <a:pt x="9" y="165"/>
                  </a:cubicBezTo>
                  <a:cubicBezTo>
                    <a:pt x="1" y="271"/>
                    <a:pt x="83" y="360"/>
                    <a:pt x="188" y="360"/>
                  </a:cubicBezTo>
                  <a:lnTo>
                    <a:pt x="2035" y="360"/>
                  </a:lnTo>
                  <a:cubicBezTo>
                    <a:pt x="2130" y="360"/>
                    <a:pt x="2216" y="291"/>
                    <a:pt x="2223" y="197"/>
                  </a:cubicBezTo>
                  <a:cubicBezTo>
                    <a:pt x="2232" y="89"/>
                    <a:pt x="2149" y="0"/>
                    <a:pt x="20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2"/>
            <p:cNvSpPr/>
            <p:nvPr/>
          </p:nvSpPr>
          <p:spPr>
            <a:xfrm>
              <a:off x="2428714" y="978953"/>
              <a:ext cx="61828" cy="72171"/>
            </a:xfrm>
            <a:custGeom>
              <a:avLst/>
              <a:gdLst/>
              <a:ahLst/>
              <a:cxnLst/>
              <a:rect l="l" t="t" r="r" b="b"/>
              <a:pathLst>
                <a:path w="1632" h="1905" extrusionOk="0">
                  <a:moveTo>
                    <a:pt x="821" y="648"/>
                  </a:moveTo>
                  <a:lnTo>
                    <a:pt x="1015" y="1167"/>
                  </a:lnTo>
                  <a:lnTo>
                    <a:pt x="623" y="1167"/>
                  </a:lnTo>
                  <a:lnTo>
                    <a:pt x="821" y="648"/>
                  </a:lnTo>
                  <a:close/>
                  <a:moveTo>
                    <a:pt x="820" y="0"/>
                  </a:moveTo>
                  <a:cubicBezTo>
                    <a:pt x="730" y="0"/>
                    <a:pt x="650" y="54"/>
                    <a:pt x="616" y="136"/>
                  </a:cubicBezTo>
                  <a:cubicBezTo>
                    <a:pt x="616" y="137"/>
                    <a:pt x="615" y="138"/>
                    <a:pt x="615" y="141"/>
                  </a:cubicBezTo>
                  <a:lnTo>
                    <a:pt x="37" y="1655"/>
                  </a:lnTo>
                  <a:cubicBezTo>
                    <a:pt x="0" y="1757"/>
                    <a:pt x="60" y="1855"/>
                    <a:pt x="146" y="1891"/>
                  </a:cubicBezTo>
                  <a:cubicBezTo>
                    <a:pt x="166" y="1899"/>
                    <a:pt x="187" y="1903"/>
                    <a:pt x="208" y="1903"/>
                  </a:cubicBezTo>
                  <a:cubicBezTo>
                    <a:pt x="282" y="1903"/>
                    <a:pt x="357" y="1856"/>
                    <a:pt x="383" y="1786"/>
                  </a:cubicBezTo>
                  <a:lnTo>
                    <a:pt x="481" y="1528"/>
                  </a:lnTo>
                  <a:lnTo>
                    <a:pt x="1155" y="1528"/>
                  </a:lnTo>
                  <a:lnTo>
                    <a:pt x="1251" y="1786"/>
                  </a:lnTo>
                  <a:cubicBezTo>
                    <a:pt x="1279" y="1860"/>
                    <a:pt x="1349" y="1905"/>
                    <a:pt x="1423" y="1905"/>
                  </a:cubicBezTo>
                  <a:cubicBezTo>
                    <a:pt x="1444" y="1905"/>
                    <a:pt x="1466" y="1901"/>
                    <a:pt x="1488" y="1893"/>
                  </a:cubicBezTo>
                  <a:cubicBezTo>
                    <a:pt x="1584" y="1858"/>
                    <a:pt x="1631" y="1750"/>
                    <a:pt x="1596" y="1656"/>
                  </a:cubicBezTo>
                  <a:lnTo>
                    <a:pt x="1024" y="142"/>
                  </a:lnTo>
                  <a:cubicBezTo>
                    <a:pt x="1024" y="139"/>
                    <a:pt x="1022" y="137"/>
                    <a:pt x="1022" y="136"/>
                  </a:cubicBezTo>
                  <a:cubicBezTo>
                    <a:pt x="988" y="54"/>
                    <a:pt x="909" y="0"/>
                    <a:pt x="8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2"/>
            <p:cNvSpPr/>
            <p:nvPr/>
          </p:nvSpPr>
          <p:spPr>
            <a:xfrm>
              <a:off x="2492701" y="998388"/>
              <a:ext cx="48265" cy="52660"/>
            </a:xfrm>
            <a:custGeom>
              <a:avLst/>
              <a:gdLst/>
              <a:ahLst/>
              <a:cxnLst/>
              <a:rect l="l" t="t" r="r" b="b"/>
              <a:pathLst>
                <a:path w="1274" h="1390" extrusionOk="0">
                  <a:moveTo>
                    <a:pt x="654" y="430"/>
                  </a:moveTo>
                  <a:cubicBezTo>
                    <a:pt x="801" y="430"/>
                    <a:pt x="919" y="549"/>
                    <a:pt x="919" y="696"/>
                  </a:cubicBezTo>
                  <a:cubicBezTo>
                    <a:pt x="919" y="842"/>
                    <a:pt x="801" y="961"/>
                    <a:pt x="654" y="961"/>
                  </a:cubicBezTo>
                  <a:cubicBezTo>
                    <a:pt x="508" y="961"/>
                    <a:pt x="388" y="842"/>
                    <a:pt x="388" y="696"/>
                  </a:cubicBezTo>
                  <a:cubicBezTo>
                    <a:pt x="388" y="549"/>
                    <a:pt x="508" y="430"/>
                    <a:pt x="654" y="430"/>
                  </a:cubicBezTo>
                  <a:close/>
                  <a:moveTo>
                    <a:pt x="1089" y="1"/>
                  </a:moveTo>
                  <a:cubicBezTo>
                    <a:pt x="1008" y="1"/>
                    <a:pt x="941" y="52"/>
                    <a:pt x="916" y="123"/>
                  </a:cubicBezTo>
                  <a:cubicBezTo>
                    <a:pt x="832" y="83"/>
                    <a:pt x="736" y="59"/>
                    <a:pt x="635" y="59"/>
                  </a:cubicBezTo>
                  <a:cubicBezTo>
                    <a:pt x="623" y="59"/>
                    <a:pt x="611" y="59"/>
                    <a:pt x="599" y="60"/>
                  </a:cubicBezTo>
                  <a:cubicBezTo>
                    <a:pt x="267" y="81"/>
                    <a:pt x="1" y="366"/>
                    <a:pt x="5" y="699"/>
                  </a:cubicBezTo>
                  <a:cubicBezTo>
                    <a:pt x="7" y="1049"/>
                    <a:pt x="291" y="1331"/>
                    <a:pt x="640" y="1331"/>
                  </a:cubicBezTo>
                  <a:cubicBezTo>
                    <a:pt x="739" y="1331"/>
                    <a:pt x="831" y="1309"/>
                    <a:pt x="916" y="1267"/>
                  </a:cubicBezTo>
                  <a:cubicBezTo>
                    <a:pt x="941" y="1339"/>
                    <a:pt x="1009" y="1389"/>
                    <a:pt x="1088" y="1389"/>
                  </a:cubicBezTo>
                  <a:cubicBezTo>
                    <a:pt x="1101" y="1389"/>
                    <a:pt x="1114" y="1388"/>
                    <a:pt x="1128" y="1385"/>
                  </a:cubicBezTo>
                  <a:cubicBezTo>
                    <a:pt x="1214" y="1367"/>
                    <a:pt x="1273" y="1288"/>
                    <a:pt x="1273" y="1200"/>
                  </a:cubicBezTo>
                  <a:lnTo>
                    <a:pt x="1273" y="190"/>
                  </a:lnTo>
                  <a:cubicBezTo>
                    <a:pt x="1273" y="102"/>
                    <a:pt x="1214" y="22"/>
                    <a:pt x="1128" y="5"/>
                  </a:cubicBezTo>
                  <a:cubicBezTo>
                    <a:pt x="1115" y="2"/>
                    <a:pt x="1101" y="1"/>
                    <a:pt x="10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2"/>
            <p:cNvSpPr/>
            <p:nvPr/>
          </p:nvSpPr>
          <p:spPr>
            <a:xfrm>
              <a:off x="2597264" y="977437"/>
              <a:ext cx="36635" cy="75164"/>
            </a:xfrm>
            <a:custGeom>
              <a:avLst/>
              <a:gdLst/>
              <a:ahLst/>
              <a:cxnLst/>
              <a:rect l="l" t="t" r="r" b="b"/>
              <a:pathLst>
                <a:path w="967" h="1984" extrusionOk="0">
                  <a:moveTo>
                    <a:pt x="771" y="0"/>
                  </a:moveTo>
                  <a:cubicBezTo>
                    <a:pt x="467" y="0"/>
                    <a:pt x="217" y="223"/>
                    <a:pt x="217" y="497"/>
                  </a:cubicBezTo>
                  <a:lnTo>
                    <a:pt x="217" y="731"/>
                  </a:lnTo>
                  <a:cubicBezTo>
                    <a:pt x="205" y="788"/>
                    <a:pt x="181" y="807"/>
                    <a:pt x="142" y="820"/>
                  </a:cubicBezTo>
                  <a:cubicBezTo>
                    <a:pt x="83" y="841"/>
                    <a:pt x="35" y="890"/>
                    <a:pt x="23" y="950"/>
                  </a:cubicBezTo>
                  <a:cubicBezTo>
                    <a:pt x="1" y="1042"/>
                    <a:pt x="53" y="1134"/>
                    <a:pt x="139" y="1162"/>
                  </a:cubicBezTo>
                  <a:cubicBezTo>
                    <a:pt x="180" y="1177"/>
                    <a:pt x="205" y="1194"/>
                    <a:pt x="217" y="1252"/>
                  </a:cubicBezTo>
                  <a:lnTo>
                    <a:pt x="217" y="1487"/>
                  </a:lnTo>
                  <a:cubicBezTo>
                    <a:pt x="217" y="1758"/>
                    <a:pt x="462" y="1979"/>
                    <a:pt x="764" y="1983"/>
                  </a:cubicBezTo>
                  <a:cubicBezTo>
                    <a:pt x="765" y="1983"/>
                    <a:pt x="766" y="1983"/>
                    <a:pt x="766" y="1983"/>
                  </a:cubicBezTo>
                  <a:cubicBezTo>
                    <a:pt x="854" y="1983"/>
                    <a:pt x="934" y="1921"/>
                    <a:pt x="948" y="1833"/>
                  </a:cubicBezTo>
                  <a:cubicBezTo>
                    <a:pt x="966" y="1719"/>
                    <a:pt x="880" y="1623"/>
                    <a:pt x="770" y="1623"/>
                  </a:cubicBezTo>
                  <a:cubicBezTo>
                    <a:pt x="666" y="1623"/>
                    <a:pt x="578" y="1561"/>
                    <a:pt x="578" y="1487"/>
                  </a:cubicBezTo>
                  <a:lnTo>
                    <a:pt x="578" y="1235"/>
                  </a:lnTo>
                  <a:cubicBezTo>
                    <a:pt x="578" y="1225"/>
                    <a:pt x="577" y="1214"/>
                    <a:pt x="576" y="1204"/>
                  </a:cubicBezTo>
                  <a:cubicBezTo>
                    <a:pt x="560" y="1116"/>
                    <a:pt x="530" y="1047"/>
                    <a:pt x="490" y="992"/>
                  </a:cubicBezTo>
                  <a:cubicBezTo>
                    <a:pt x="530" y="937"/>
                    <a:pt x="560" y="868"/>
                    <a:pt x="576" y="780"/>
                  </a:cubicBezTo>
                  <a:cubicBezTo>
                    <a:pt x="577" y="769"/>
                    <a:pt x="578" y="759"/>
                    <a:pt x="578" y="748"/>
                  </a:cubicBezTo>
                  <a:lnTo>
                    <a:pt x="578" y="497"/>
                  </a:lnTo>
                  <a:cubicBezTo>
                    <a:pt x="578" y="425"/>
                    <a:pt x="661" y="365"/>
                    <a:pt x="764" y="361"/>
                  </a:cubicBezTo>
                  <a:cubicBezTo>
                    <a:pt x="859" y="359"/>
                    <a:pt x="944" y="287"/>
                    <a:pt x="951" y="192"/>
                  </a:cubicBezTo>
                  <a:cubicBezTo>
                    <a:pt x="958" y="87"/>
                    <a:pt x="875" y="0"/>
                    <a:pt x="7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2"/>
            <p:cNvSpPr/>
            <p:nvPr/>
          </p:nvSpPr>
          <p:spPr>
            <a:xfrm>
              <a:off x="2692507" y="977513"/>
              <a:ext cx="36673" cy="75126"/>
            </a:xfrm>
            <a:custGeom>
              <a:avLst/>
              <a:gdLst/>
              <a:ahLst/>
              <a:cxnLst/>
              <a:rect l="l" t="t" r="r" b="b"/>
              <a:pathLst>
                <a:path w="968" h="1983" extrusionOk="0">
                  <a:moveTo>
                    <a:pt x="200" y="0"/>
                  </a:moveTo>
                  <a:cubicBezTo>
                    <a:pt x="113" y="0"/>
                    <a:pt x="34" y="63"/>
                    <a:pt x="20" y="149"/>
                  </a:cubicBezTo>
                  <a:cubicBezTo>
                    <a:pt x="0" y="263"/>
                    <a:pt x="88" y="360"/>
                    <a:pt x="198" y="360"/>
                  </a:cubicBezTo>
                  <a:cubicBezTo>
                    <a:pt x="303" y="360"/>
                    <a:pt x="390" y="422"/>
                    <a:pt x="390" y="496"/>
                  </a:cubicBezTo>
                  <a:lnTo>
                    <a:pt x="390" y="749"/>
                  </a:lnTo>
                  <a:cubicBezTo>
                    <a:pt x="390" y="760"/>
                    <a:pt x="392" y="770"/>
                    <a:pt x="393" y="781"/>
                  </a:cubicBezTo>
                  <a:cubicBezTo>
                    <a:pt x="409" y="868"/>
                    <a:pt x="439" y="936"/>
                    <a:pt x="478" y="991"/>
                  </a:cubicBezTo>
                  <a:cubicBezTo>
                    <a:pt x="440" y="1045"/>
                    <a:pt x="409" y="1114"/>
                    <a:pt x="393" y="1202"/>
                  </a:cubicBezTo>
                  <a:cubicBezTo>
                    <a:pt x="390" y="1211"/>
                    <a:pt x="390" y="1222"/>
                    <a:pt x="390" y="1232"/>
                  </a:cubicBezTo>
                  <a:lnTo>
                    <a:pt x="390" y="1485"/>
                  </a:lnTo>
                  <a:cubicBezTo>
                    <a:pt x="390" y="1557"/>
                    <a:pt x="305" y="1618"/>
                    <a:pt x="204" y="1621"/>
                  </a:cubicBezTo>
                  <a:cubicBezTo>
                    <a:pt x="109" y="1623"/>
                    <a:pt x="23" y="1694"/>
                    <a:pt x="18" y="1789"/>
                  </a:cubicBezTo>
                  <a:cubicBezTo>
                    <a:pt x="12" y="1894"/>
                    <a:pt x="95" y="1982"/>
                    <a:pt x="198" y="1982"/>
                  </a:cubicBezTo>
                  <a:cubicBezTo>
                    <a:pt x="503" y="1982"/>
                    <a:pt x="751" y="1759"/>
                    <a:pt x="751" y="1486"/>
                  </a:cubicBezTo>
                  <a:lnTo>
                    <a:pt x="751" y="1251"/>
                  </a:lnTo>
                  <a:cubicBezTo>
                    <a:pt x="765" y="1196"/>
                    <a:pt x="788" y="1176"/>
                    <a:pt x="828" y="1162"/>
                  </a:cubicBezTo>
                  <a:cubicBezTo>
                    <a:pt x="886" y="1141"/>
                    <a:pt x="933" y="1093"/>
                    <a:pt x="947" y="1033"/>
                  </a:cubicBezTo>
                  <a:cubicBezTo>
                    <a:pt x="968" y="940"/>
                    <a:pt x="916" y="850"/>
                    <a:pt x="829" y="821"/>
                  </a:cubicBezTo>
                  <a:cubicBezTo>
                    <a:pt x="788" y="806"/>
                    <a:pt x="764" y="788"/>
                    <a:pt x="750" y="730"/>
                  </a:cubicBezTo>
                  <a:lnTo>
                    <a:pt x="750" y="496"/>
                  </a:lnTo>
                  <a:cubicBezTo>
                    <a:pt x="750" y="226"/>
                    <a:pt x="505" y="4"/>
                    <a:pt x="204" y="0"/>
                  </a:cubicBezTo>
                  <a:cubicBezTo>
                    <a:pt x="203" y="0"/>
                    <a:pt x="202" y="0"/>
                    <a:pt x="2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2"/>
            <p:cNvSpPr/>
            <p:nvPr/>
          </p:nvSpPr>
          <p:spPr>
            <a:xfrm>
              <a:off x="2643749" y="978536"/>
              <a:ext cx="39249" cy="72891"/>
            </a:xfrm>
            <a:custGeom>
              <a:avLst/>
              <a:gdLst/>
              <a:ahLst/>
              <a:cxnLst/>
              <a:rect l="l" t="t" r="r" b="b"/>
              <a:pathLst>
                <a:path w="1036" h="1924" extrusionOk="0">
                  <a:moveTo>
                    <a:pt x="826" y="0"/>
                  </a:moveTo>
                  <a:cubicBezTo>
                    <a:pt x="753" y="0"/>
                    <a:pt x="683" y="44"/>
                    <a:pt x="655" y="117"/>
                  </a:cubicBezTo>
                  <a:lnTo>
                    <a:pt x="37" y="1671"/>
                  </a:lnTo>
                  <a:cubicBezTo>
                    <a:pt x="0" y="1765"/>
                    <a:pt x="46" y="1872"/>
                    <a:pt x="140" y="1911"/>
                  </a:cubicBezTo>
                  <a:cubicBezTo>
                    <a:pt x="162" y="1919"/>
                    <a:pt x="186" y="1924"/>
                    <a:pt x="208" y="1924"/>
                  </a:cubicBezTo>
                  <a:cubicBezTo>
                    <a:pt x="282" y="1924"/>
                    <a:pt x="351" y="1880"/>
                    <a:pt x="380" y="1807"/>
                  </a:cubicBezTo>
                  <a:lnTo>
                    <a:pt x="998" y="253"/>
                  </a:lnTo>
                  <a:cubicBezTo>
                    <a:pt x="1036" y="159"/>
                    <a:pt x="990" y="52"/>
                    <a:pt x="894" y="13"/>
                  </a:cubicBezTo>
                  <a:cubicBezTo>
                    <a:pt x="872" y="4"/>
                    <a:pt x="849" y="0"/>
                    <a:pt x="8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2"/>
            <p:cNvSpPr/>
            <p:nvPr/>
          </p:nvSpPr>
          <p:spPr>
            <a:xfrm>
              <a:off x="2335403" y="748460"/>
              <a:ext cx="477313" cy="406392"/>
            </a:xfrm>
            <a:custGeom>
              <a:avLst/>
              <a:gdLst/>
              <a:ahLst/>
              <a:cxnLst/>
              <a:rect l="l" t="t" r="r" b="b"/>
              <a:pathLst>
                <a:path w="12599" h="10727" extrusionOk="0">
                  <a:moveTo>
                    <a:pt x="10849" y="378"/>
                  </a:moveTo>
                  <a:cubicBezTo>
                    <a:pt x="10913" y="378"/>
                    <a:pt x="10994" y="438"/>
                    <a:pt x="11079" y="499"/>
                  </a:cubicBezTo>
                  <a:cubicBezTo>
                    <a:pt x="11240" y="616"/>
                    <a:pt x="11385" y="675"/>
                    <a:pt x="11582" y="707"/>
                  </a:cubicBezTo>
                  <a:cubicBezTo>
                    <a:pt x="11680" y="723"/>
                    <a:pt x="11781" y="740"/>
                    <a:pt x="11823" y="781"/>
                  </a:cubicBezTo>
                  <a:cubicBezTo>
                    <a:pt x="11864" y="823"/>
                    <a:pt x="11882" y="925"/>
                    <a:pt x="11898" y="1022"/>
                  </a:cubicBezTo>
                  <a:cubicBezTo>
                    <a:pt x="11929" y="1211"/>
                    <a:pt x="11994" y="1371"/>
                    <a:pt x="12105" y="1525"/>
                  </a:cubicBezTo>
                  <a:cubicBezTo>
                    <a:pt x="12167" y="1611"/>
                    <a:pt x="12226" y="1692"/>
                    <a:pt x="12226" y="1755"/>
                  </a:cubicBezTo>
                  <a:cubicBezTo>
                    <a:pt x="12226" y="1820"/>
                    <a:pt x="12167" y="1901"/>
                    <a:pt x="12105" y="1986"/>
                  </a:cubicBezTo>
                  <a:cubicBezTo>
                    <a:pt x="11993" y="2142"/>
                    <a:pt x="11929" y="2300"/>
                    <a:pt x="11898" y="2489"/>
                  </a:cubicBezTo>
                  <a:cubicBezTo>
                    <a:pt x="11880" y="2587"/>
                    <a:pt x="11864" y="2688"/>
                    <a:pt x="11823" y="2730"/>
                  </a:cubicBezTo>
                  <a:cubicBezTo>
                    <a:pt x="11781" y="2771"/>
                    <a:pt x="11680" y="2789"/>
                    <a:pt x="11582" y="2805"/>
                  </a:cubicBezTo>
                  <a:cubicBezTo>
                    <a:pt x="11385" y="2837"/>
                    <a:pt x="11241" y="2895"/>
                    <a:pt x="11079" y="3012"/>
                  </a:cubicBezTo>
                  <a:cubicBezTo>
                    <a:pt x="10994" y="3074"/>
                    <a:pt x="10913" y="3133"/>
                    <a:pt x="10849" y="3133"/>
                  </a:cubicBezTo>
                  <a:cubicBezTo>
                    <a:pt x="10785" y="3133"/>
                    <a:pt x="10704" y="3074"/>
                    <a:pt x="10618" y="3012"/>
                  </a:cubicBezTo>
                  <a:cubicBezTo>
                    <a:pt x="10459" y="2897"/>
                    <a:pt x="10311" y="2837"/>
                    <a:pt x="10115" y="2805"/>
                  </a:cubicBezTo>
                  <a:cubicBezTo>
                    <a:pt x="10018" y="2787"/>
                    <a:pt x="9916" y="2771"/>
                    <a:pt x="9875" y="2730"/>
                  </a:cubicBezTo>
                  <a:cubicBezTo>
                    <a:pt x="9833" y="2688"/>
                    <a:pt x="9816" y="2587"/>
                    <a:pt x="9800" y="2489"/>
                  </a:cubicBezTo>
                  <a:cubicBezTo>
                    <a:pt x="9769" y="2300"/>
                    <a:pt x="9705" y="2141"/>
                    <a:pt x="9592" y="1986"/>
                  </a:cubicBezTo>
                  <a:cubicBezTo>
                    <a:pt x="9531" y="1901"/>
                    <a:pt x="9472" y="1820"/>
                    <a:pt x="9472" y="1755"/>
                  </a:cubicBezTo>
                  <a:cubicBezTo>
                    <a:pt x="9472" y="1691"/>
                    <a:pt x="9531" y="1611"/>
                    <a:pt x="9592" y="1525"/>
                  </a:cubicBezTo>
                  <a:cubicBezTo>
                    <a:pt x="9709" y="1365"/>
                    <a:pt x="9768" y="1218"/>
                    <a:pt x="9800" y="1022"/>
                  </a:cubicBezTo>
                  <a:cubicBezTo>
                    <a:pt x="9816" y="925"/>
                    <a:pt x="9833" y="823"/>
                    <a:pt x="9875" y="781"/>
                  </a:cubicBezTo>
                  <a:cubicBezTo>
                    <a:pt x="9916" y="740"/>
                    <a:pt x="10018" y="723"/>
                    <a:pt x="10115" y="707"/>
                  </a:cubicBezTo>
                  <a:cubicBezTo>
                    <a:pt x="10309" y="675"/>
                    <a:pt x="10459" y="614"/>
                    <a:pt x="10618" y="499"/>
                  </a:cubicBezTo>
                  <a:cubicBezTo>
                    <a:pt x="10704" y="438"/>
                    <a:pt x="10785" y="378"/>
                    <a:pt x="10849" y="378"/>
                  </a:cubicBezTo>
                  <a:close/>
                  <a:moveTo>
                    <a:pt x="2977" y="2945"/>
                  </a:moveTo>
                  <a:cubicBezTo>
                    <a:pt x="4233" y="2945"/>
                    <a:pt x="6113" y="2946"/>
                    <a:pt x="6113" y="2946"/>
                  </a:cubicBezTo>
                  <a:lnTo>
                    <a:pt x="6113" y="5416"/>
                  </a:lnTo>
                  <a:lnTo>
                    <a:pt x="1788" y="5416"/>
                  </a:lnTo>
                  <a:lnTo>
                    <a:pt x="1788" y="3053"/>
                  </a:lnTo>
                  <a:cubicBezTo>
                    <a:pt x="1788" y="3002"/>
                    <a:pt x="1824" y="2957"/>
                    <a:pt x="1875" y="2946"/>
                  </a:cubicBezTo>
                  <a:cubicBezTo>
                    <a:pt x="1877" y="2946"/>
                    <a:pt x="2349" y="2945"/>
                    <a:pt x="2977" y="2945"/>
                  </a:cubicBezTo>
                  <a:close/>
                  <a:moveTo>
                    <a:pt x="9578" y="2959"/>
                  </a:moveTo>
                  <a:cubicBezTo>
                    <a:pt x="9585" y="2968"/>
                    <a:pt x="9595" y="2979"/>
                    <a:pt x="9604" y="2988"/>
                  </a:cubicBezTo>
                  <a:cubicBezTo>
                    <a:pt x="9730" y="3112"/>
                    <a:pt x="9898" y="3140"/>
                    <a:pt x="10045" y="3164"/>
                  </a:cubicBezTo>
                  <a:cubicBezTo>
                    <a:pt x="10186" y="3188"/>
                    <a:pt x="10277" y="3224"/>
                    <a:pt x="10393" y="3307"/>
                  </a:cubicBezTo>
                  <a:cubicBezTo>
                    <a:pt x="10501" y="3384"/>
                    <a:pt x="10633" y="3478"/>
                    <a:pt x="10796" y="3494"/>
                  </a:cubicBezTo>
                  <a:lnTo>
                    <a:pt x="10796" y="4467"/>
                  </a:lnTo>
                  <a:lnTo>
                    <a:pt x="9910" y="3523"/>
                  </a:lnTo>
                  <a:cubicBezTo>
                    <a:pt x="9874" y="3485"/>
                    <a:pt x="9824" y="3465"/>
                    <a:pt x="9775" y="3465"/>
                  </a:cubicBezTo>
                  <a:cubicBezTo>
                    <a:pt x="9730" y="3465"/>
                    <a:pt x="9685" y="3481"/>
                    <a:pt x="9649" y="3514"/>
                  </a:cubicBezTo>
                  <a:lnTo>
                    <a:pt x="8559" y="4515"/>
                  </a:lnTo>
                  <a:lnTo>
                    <a:pt x="8448" y="4396"/>
                  </a:lnTo>
                  <a:cubicBezTo>
                    <a:pt x="8416" y="4362"/>
                    <a:pt x="8373" y="4344"/>
                    <a:pt x="8328" y="4344"/>
                  </a:cubicBezTo>
                  <a:cubicBezTo>
                    <a:pt x="8316" y="4344"/>
                    <a:pt x="8303" y="4346"/>
                    <a:pt x="8290" y="4349"/>
                  </a:cubicBezTo>
                  <a:cubicBezTo>
                    <a:pt x="8134" y="4387"/>
                    <a:pt x="8097" y="4557"/>
                    <a:pt x="8189" y="4656"/>
                  </a:cubicBezTo>
                  <a:lnTo>
                    <a:pt x="8731" y="5233"/>
                  </a:lnTo>
                  <a:cubicBezTo>
                    <a:pt x="8767" y="5272"/>
                    <a:pt x="8816" y="5292"/>
                    <a:pt x="8866" y="5292"/>
                  </a:cubicBezTo>
                  <a:cubicBezTo>
                    <a:pt x="8944" y="5292"/>
                    <a:pt x="9023" y="5242"/>
                    <a:pt x="9050" y="5143"/>
                  </a:cubicBezTo>
                  <a:cubicBezTo>
                    <a:pt x="9064" y="5095"/>
                    <a:pt x="9042" y="5028"/>
                    <a:pt x="9009" y="4994"/>
                  </a:cubicBezTo>
                  <a:lnTo>
                    <a:pt x="8811" y="4784"/>
                  </a:lnTo>
                  <a:lnTo>
                    <a:pt x="9767" y="3907"/>
                  </a:lnTo>
                  <a:lnTo>
                    <a:pt x="10798" y="5005"/>
                  </a:lnTo>
                  <a:lnTo>
                    <a:pt x="10798" y="5418"/>
                  </a:lnTo>
                  <a:lnTo>
                    <a:pt x="6473" y="5418"/>
                  </a:lnTo>
                  <a:lnTo>
                    <a:pt x="6473" y="4835"/>
                  </a:lnTo>
                  <a:lnTo>
                    <a:pt x="7483" y="3907"/>
                  </a:lnTo>
                  <a:lnTo>
                    <a:pt x="7606" y="4038"/>
                  </a:lnTo>
                  <a:cubicBezTo>
                    <a:pt x="7642" y="4077"/>
                    <a:pt x="7692" y="4096"/>
                    <a:pt x="7741" y="4096"/>
                  </a:cubicBezTo>
                  <a:cubicBezTo>
                    <a:pt x="7786" y="4096"/>
                    <a:pt x="7831" y="4080"/>
                    <a:pt x="7867" y="4047"/>
                  </a:cubicBezTo>
                  <a:cubicBezTo>
                    <a:pt x="7941" y="3978"/>
                    <a:pt x="7945" y="3863"/>
                    <a:pt x="7876" y="3787"/>
                  </a:cubicBezTo>
                  <a:lnTo>
                    <a:pt x="7627" y="3523"/>
                  </a:lnTo>
                  <a:cubicBezTo>
                    <a:pt x="7591" y="3485"/>
                    <a:pt x="7541" y="3465"/>
                    <a:pt x="7492" y="3465"/>
                  </a:cubicBezTo>
                  <a:cubicBezTo>
                    <a:pt x="7447" y="3465"/>
                    <a:pt x="7402" y="3481"/>
                    <a:pt x="7366" y="3514"/>
                  </a:cubicBezTo>
                  <a:lnTo>
                    <a:pt x="6473" y="4335"/>
                  </a:lnTo>
                  <a:lnTo>
                    <a:pt x="6473" y="2959"/>
                  </a:lnTo>
                  <a:close/>
                  <a:moveTo>
                    <a:pt x="6113" y="5809"/>
                  </a:moveTo>
                  <a:lnTo>
                    <a:pt x="6113" y="8266"/>
                  </a:lnTo>
                  <a:lnTo>
                    <a:pt x="1903" y="8266"/>
                  </a:lnTo>
                  <a:cubicBezTo>
                    <a:pt x="1840" y="8266"/>
                    <a:pt x="1790" y="8216"/>
                    <a:pt x="1790" y="8153"/>
                  </a:cubicBezTo>
                  <a:lnTo>
                    <a:pt x="1790" y="5809"/>
                  </a:lnTo>
                  <a:close/>
                  <a:moveTo>
                    <a:pt x="10799" y="5809"/>
                  </a:moveTo>
                  <a:lnTo>
                    <a:pt x="10799" y="8153"/>
                  </a:lnTo>
                  <a:cubicBezTo>
                    <a:pt x="10799" y="8216"/>
                    <a:pt x="10748" y="8266"/>
                    <a:pt x="10685" y="8266"/>
                  </a:cubicBezTo>
                  <a:lnTo>
                    <a:pt x="6475" y="8266"/>
                  </a:lnTo>
                  <a:lnTo>
                    <a:pt x="6475" y="5809"/>
                  </a:lnTo>
                  <a:close/>
                  <a:moveTo>
                    <a:pt x="9197" y="2108"/>
                  </a:moveTo>
                  <a:cubicBezTo>
                    <a:pt x="9223" y="2147"/>
                    <a:pt x="9250" y="2184"/>
                    <a:pt x="9275" y="2219"/>
                  </a:cubicBezTo>
                  <a:cubicBezTo>
                    <a:pt x="9362" y="2336"/>
                    <a:pt x="9395" y="2415"/>
                    <a:pt x="9420" y="2557"/>
                  </a:cubicBezTo>
                  <a:cubicBezTo>
                    <a:pt x="9422" y="2571"/>
                    <a:pt x="9425" y="2586"/>
                    <a:pt x="9427" y="2599"/>
                  </a:cubicBezTo>
                  <a:lnTo>
                    <a:pt x="1910" y="2599"/>
                  </a:lnTo>
                  <a:cubicBezTo>
                    <a:pt x="1775" y="2599"/>
                    <a:pt x="1665" y="2644"/>
                    <a:pt x="1570" y="2739"/>
                  </a:cubicBezTo>
                  <a:cubicBezTo>
                    <a:pt x="1478" y="2828"/>
                    <a:pt x="1429" y="2957"/>
                    <a:pt x="1429" y="3084"/>
                  </a:cubicBezTo>
                  <a:lnTo>
                    <a:pt x="1429" y="8178"/>
                  </a:lnTo>
                  <a:cubicBezTo>
                    <a:pt x="1429" y="8445"/>
                    <a:pt x="1644" y="8661"/>
                    <a:pt x="1912" y="8661"/>
                  </a:cubicBezTo>
                  <a:lnTo>
                    <a:pt x="10690" y="8661"/>
                  </a:lnTo>
                  <a:cubicBezTo>
                    <a:pt x="10690" y="8661"/>
                    <a:pt x="11174" y="8424"/>
                    <a:pt x="11160" y="8157"/>
                  </a:cubicBezTo>
                  <a:lnTo>
                    <a:pt x="11160" y="3396"/>
                  </a:lnTo>
                  <a:cubicBezTo>
                    <a:pt x="11217" y="3368"/>
                    <a:pt x="11259" y="3339"/>
                    <a:pt x="11297" y="3313"/>
                  </a:cubicBezTo>
                  <a:cubicBezTo>
                    <a:pt x="11391" y="3245"/>
                    <a:pt x="11475" y="3199"/>
                    <a:pt x="11586" y="3178"/>
                  </a:cubicBezTo>
                  <a:lnTo>
                    <a:pt x="11586" y="8675"/>
                  </a:lnTo>
                  <a:lnTo>
                    <a:pt x="11585" y="8675"/>
                  </a:lnTo>
                  <a:cubicBezTo>
                    <a:pt x="11589" y="8934"/>
                    <a:pt x="11120" y="9152"/>
                    <a:pt x="11120" y="9152"/>
                  </a:cubicBezTo>
                  <a:lnTo>
                    <a:pt x="1471" y="9152"/>
                  </a:lnTo>
                  <a:cubicBezTo>
                    <a:pt x="1211" y="9152"/>
                    <a:pt x="1001" y="8942"/>
                    <a:pt x="1001" y="8683"/>
                  </a:cubicBezTo>
                  <a:lnTo>
                    <a:pt x="1001" y="2577"/>
                  </a:lnTo>
                  <a:cubicBezTo>
                    <a:pt x="1001" y="2318"/>
                    <a:pt x="1211" y="2108"/>
                    <a:pt x="1471" y="2108"/>
                  </a:cubicBezTo>
                  <a:close/>
                  <a:moveTo>
                    <a:pt x="7424" y="9511"/>
                  </a:moveTo>
                  <a:lnTo>
                    <a:pt x="7424" y="9558"/>
                  </a:lnTo>
                  <a:cubicBezTo>
                    <a:pt x="7425" y="9660"/>
                    <a:pt x="7343" y="9740"/>
                    <a:pt x="7243" y="9740"/>
                  </a:cubicBezTo>
                  <a:lnTo>
                    <a:pt x="5378" y="9740"/>
                  </a:lnTo>
                  <a:cubicBezTo>
                    <a:pt x="5278" y="9740"/>
                    <a:pt x="5196" y="9660"/>
                    <a:pt x="5196" y="9558"/>
                  </a:cubicBezTo>
                  <a:lnTo>
                    <a:pt x="5196" y="9511"/>
                  </a:lnTo>
                  <a:close/>
                  <a:moveTo>
                    <a:pt x="10836" y="0"/>
                  </a:moveTo>
                  <a:cubicBezTo>
                    <a:pt x="10652" y="0"/>
                    <a:pt x="10506" y="106"/>
                    <a:pt x="10390" y="190"/>
                  </a:cubicBezTo>
                  <a:cubicBezTo>
                    <a:pt x="10280" y="270"/>
                    <a:pt x="10176" y="312"/>
                    <a:pt x="10042" y="334"/>
                  </a:cubicBezTo>
                  <a:cubicBezTo>
                    <a:pt x="9894" y="358"/>
                    <a:pt x="9727" y="387"/>
                    <a:pt x="9602" y="512"/>
                  </a:cubicBezTo>
                  <a:cubicBezTo>
                    <a:pt x="9393" y="722"/>
                    <a:pt x="9452" y="1064"/>
                    <a:pt x="9282" y="1302"/>
                  </a:cubicBezTo>
                  <a:cubicBezTo>
                    <a:pt x="9203" y="1412"/>
                    <a:pt x="9105" y="1546"/>
                    <a:pt x="9093" y="1714"/>
                  </a:cubicBezTo>
                  <a:lnTo>
                    <a:pt x="1479" y="1714"/>
                  </a:lnTo>
                  <a:cubicBezTo>
                    <a:pt x="1017" y="1714"/>
                    <a:pt x="641" y="2089"/>
                    <a:pt x="641" y="2551"/>
                  </a:cubicBezTo>
                  <a:lnTo>
                    <a:pt x="641" y="8678"/>
                  </a:lnTo>
                  <a:cubicBezTo>
                    <a:pt x="641" y="8854"/>
                    <a:pt x="695" y="9017"/>
                    <a:pt x="787" y="9152"/>
                  </a:cubicBezTo>
                  <a:lnTo>
                    <a:pt x="492" y="9152"/>
                  </a:lnTo>
                  <a:cubicBezTo>
                    <a:pt x="221" y="9152"/>
                    <a:pt x="0" y="9373"/>
                    <a:pt x="0" y="9644"/>
                  </a:cubicBezTo>
                  <a:cubicBezTo>
                    <a:pt x="0" y="10239"/>
                    <a:pt x="484" y="10725"/>
                    <a:pt x="1081" y="10725"/>
                  </a:cubicBezTo>
                  <a:lnTo>
                    <a:pt x="2934" y="10725"/>
                  </a:lnTo>
                  <a:cubicBezTo>
                    <a:pt x="3009" y="10725"/>
                    <a:pt x="3080" y="10682"/>
                    <a:pt x="3109" y="10613"/>
                  </a:cubicBezTo>
                  <a:cubicBezTo>
                    <a:pt x="3169" y="10469"/>
                    <a:pt x="3066" y="10332"/>
                    <a:pt x="2930" y="10332"/>
                  </a:cubicBezTo>
                  <a:lnTo>
                    <a:pt x="1084" y="10332"/>
                  </a:lnTo>
                  <a:cubicBezTo>
                    <a:pt x="698" y="10332"/>
                    <a:pt x="382" y="10017"/>
                    <a:pt x="383" y="9631"/>
                  </a:cubicBezTo>
                  <a:cubicBezTo>
                    <a:pt x="383" y="9566"/>
                    <a:pt x="438" y="9514"/>
                    <a:pt x="504" y="9514"/>
                  </a:cubicBezTo>
                  <a:lnTo>
                    <a:pt x="4835" y="9514"/>
                  </a:lnTo>
                  <a:lnTo>
                    <a:pt x="4835" y="9553"/>
                  </a:lnTo>
                  <a:cubicBezTo>
                    <a:pt x="4835" y="9857"/>
                    <a:pt x="5081" y="10103"/>
                    <a:pt x="5385" y="10103"/>
                  </a:cubicBezTo>
                  <a:lnTo>
                    <a:pt x="7233" y="10103"/>
                  </a:lnTo>
                  <a:cubicBezTo>
                    <a:pt x="7537" y="10103"/>
                    <a:pt x="7783" y="9857"/>
                    <a:pt x="7783" y="9553"/>
                  </a:cubicBezTo>
                  <a:lnTo>
                    <a:pt x="7783" y="9514"/>
                  </a:lnTo>
                  <a:lnTo>
                    <a:pt x="12077" y="9514"/>
                  </a:lnTo>
                  <a:cubicBezTo>
                    <a:pt x="12142" y="9514"/>
                    <a:pt x="12196" y="9568"/>
                    <a:pt x="12196" y="9634"/>
                  </a:cubicBezTo>
                  <a:cubicBezTo>
                    <a:pt x="12196" y="10019"/>
                    <a:pt x="11882" y="10333"/>
                    <a:pt x="11496" y="10333"/>
                  </a:cubicBezTo>
                  <a:lnTo>
                    <a:pt x="3783" y="10333"/>
                  </a:lnTo>
                  <a:cubicBezTo>
                    <a:pt x="3708" y="10333"/>
                    <a:pt x="3637" y="10377"/>
                    <a:pt x="3608" y="10446"/>
                  </a:cubicBezTo>
                  <a:cubicBezTo>
                    <a:pt x="3547" y="10589"/>
                    <a:pt x="3651" y="10726"/>
                    <a:pt x="3787" y="10726"/>
                  </a:cubicBezTo>
                  <a:lnTo>
                    <a:pt x="11516" y="10726"/>
                  </a:lnTo>
                  <a:cubicBezTo>
                    <a:pt x="12111" y="10726"/>
                    <a:pt x="12597" y="10242"/>
                    <a:pt x="12597" y="9645"/>
                  </a:cubicBezTo>
                  <a:cubicBezTo>
                    <a:pt x="12599" y="9372"/>
                    <a:pt x="12377" y="9152"/>
                    <a:pt x="12105" y="9152"/>
                  </a:cubicBezTo>
                  <a:lnTo>
                    <a:pt x="11801" y="9152"/>
                  </a:lnTo>
                  <a:cubicBezTo>
                    <a:pt x="11891" y="9018"/>
                    <a:pt x="11945" y="8855"/>
                    <a:pt x="11945" y="8682"/>
                  </a:cubicBezTo>
                  <a:lnTo>
                    <a:pt x="11945" y="3077"/>
                  </a:lnTo>
                  <a:cubicBezTo>
                    <a:pt x="11989" y="3053"/>
                    <a:pt x="12032" y="3025"/>
                    <a:pt x="12071" y="2986"/>
                  </a:cubicBezTo>
                  <a:cubicBezTo>
                    <a:pt x="12196" y="2860"/>
                    <a:pt x="12224" y="2693"/>
                    <a:pt x="12249" y="2545"/>
                  </a:cubicBezTo>
                  <a:cubicBezTo>
                    <a:pt x="12271" y="2410"/>
                    <a:pt x="12312" y="2308"/>
                    <a:pt x="12392" y="2197"/>
                  </a:cubicBezTo>
                  <a:cubicBezTo>
                    <a:pt x="12478" y="2079"/>
                    <a:pt x="12583" y="1934"/>
                    <a:pt x="12583" y="1749"/>
                  </a:cubicBezTo>
                  <a:cubicBezTo>
                    <a:pt x="12583" y="1565"/>
                    <a:pt x="12478" y="1419"/>
                    <a:pt x="12392" y="1302"/>
                  </a:cubicBezTo>
                  <a:cubicBezTo>
                    <a:pt x="12312" y="1189"/>
                    <a:pt x="12272" y="1089"/>
                    <a:pt x="12249" y="953"/>
                  </a:cubicBezTo>
                  <a:cubicBezTo>
                    <a:pt x="12224" y="806"/>
                    <a:pt x="12196" y="638"/>
                    <a:pt x="12071" y="512"/>
                  </a:cubicBezTo>
                  <a:cubicBezTo>
                    <a:pt x="11945" y="387"/>
                    <a:pt x="11778" y="359"/>
                    <a:pt x="11631" y="334"/>
                  </a:cubicBezTo>
                  <a:cubicBezTo>
                    <a:pt x="11486" y="310"/>
                    <a:pt x="11400" y="276"/>
                    <a:pt x="11282" y="190"/>
                  </a:cubicBezTo>
                  <a:cubicBezTo>
                    <a:pt x="11166" y="105"/>
                    <a:pt x="11020" y="0"/>
                    <a:pt x="108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2"/>
            <p:cNvSpPr/>
            <p:nvPr/>
          </p:nvSpPr>
          <p:spPr>
            <a:xfrm>
              <a:off x="2716147" y="788278"/>
              <a:ext cx="60540" cy="53418"/>
            </a:xfrm>
            <a:custGeom>
              <a:avLst/>
              <a:gdLst/>
              <a:ahLst/>
              <a:cxnLst/>
              <a:rect l="l" t="t" r="r" b="b"/>
              <a:pathLst>
                <a:path w="1598" h="1410" extrusionOk="0">
                  <a:moveTo>
                    <a:pt x="1390" y="0"/>
                  </a:moveTo>
                  <a:cubicBezTo>
                    <a:pt x="1332" y="0"/>
                    <a:pt x="1275" y="28"/>
                    <a:pt x="1238" y="78"/>
                  </a:cubicBezTo>
                  <a:lnTo>
                    <a:pt x="635" y="923"/>
                  </a:lnTo>
                  <a:lnTo>
                    <a:pt x="348" y="578"/>
                  </a:lnTo>
                  <a:cubicBezTo>
                    <a:pt x="312" y="534"/>
                    <a:pt x="260" y="511"/>
                    <a:pt x="208" y="511"/>
                  </a:cubicBezTo>
                  <a:cubicBezTo>
                    <a:pt x="166" y="511"/>
                    <a:pt x="124" y="526"/>
                    <a:pt x="89" y="555"/>
                  </a:cubicBezTo>
                  <a:cubicBezTo>
                    <a:pt x="11" y="620"/>
                    <a:pt x="0" y="735"/>
                    <a:pt x="65" y="813"/>
                  </a:cubicBezTo>
                  <a:lnTo>
                    <a:pt x="506" y="1342"/>
                  </a:lnTo>
                  <a:cubicBezTo>
                    <a:pt x="541" y="1384"/>
                    <a:pt x="592" y="1409"/>
                    <a:pt x="648" y="1409"/>
                  </a:cubicBezTo>
                  <a:lnTo>
                    <a:pt x="654" y="1409"/>
                  </a:lnTo>
                  <a:cubicBezTo>
                    <a:pt x="712" y="1406"/>
                    <a:pt x="764" y="1379"/>
                    <a:pt x="796" y="1332"/>
                  </a:cubicBezTo>
                  <a:lnTo>
                    <a:pt x="1539" y="291"/>
                  </a:lnTo>
                  <a:cubicBezTo>
                    <a:pt x="1598" y="209"/>
                    <a:pt x="1580" y="94"/>
                    <a:pt x="1495" y="34"/>
                  </a:cubicBezTo>
                  <a:cubicBezTo>
                    <a:pt x="1463" y="11"/>
                    <a:pt x="1427" y="0"/>
                    <a:pt x="13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1" name="Google Shape;1711;p42"/>
          <p:cNvGrpSpPr/>
          <p:nvPr/>
        </p:nvGrpSpPr>
        <p:grpSpPr>
          <a:xfrm>
            <a:off x="6542379" y="1830303"/>
            <a:ext cx="340332" cy="341173"/>
            <a:chOff x="1558836" y="713303"/>
            <a:chExt cx="475457" cy="476631"/>
          </a:xfrm>
        </p:grpSpPr>
        <p:sp>
          <p:nvSpPr>
            <p:cNvPr id="1712" name="Google Shape;1712;p42"/>
            <p:cNvSpPr/>
            <p:nvPr/>
          </p:nvSpPr>
          <p:spPr>
            <a:xfrm>
              <a:off x="1611458" y="819874"/>
              <a:ext cx="39855" cy="85128"/>
            </a:xfrm>
            <a:custGeom>
              <a:avLst/>
              <a:gdLst/>
              <a:ahLst/>
              <a:cxnLst/>
              <a:rect l="l" t="t" r="r" b="b"/>
              <a:pathLst>
                <a:path w="1052" h="2247" extrusionOk="0">
                  <a:moveTo>
                    <a:pt x="865" y="0"/>
                  </a:moveTo>
                  <a:cubicBezTo>
                    <a:pt x="526" y="0"/>
                    <a:pt x="252" y="246"/>
                    <a:pt x="252" y="548"/>
                  </a:cubicBezTo>
                  <a:lnTo>
                    <a:pt x="252" y="824"/>
                  </a:lnTo>
                  <a:cubicBezTo>
                    <a:pt x="235" y="902"/>
                    <a:pt x="199" y="931"/>
                    <a:pt x="147" y="951"/>
                  </a:cubicBezTo>
                  <a:cubicBezTo>
                    <a:pt x="86" y="973"/>
                    <a:pt x="37" y="1020"/>
                    <a:pt x="22" y="1082"/>
                  </a:cubicBezTo>
                  <a:cubicBezTo>
                    <a:pt x="0" y="1174"/>
                    <a:pt x="54" y="1266"/>
                    <a:pt x="139" y="1294"/>
                  </a:cubicBezTo>
                  <a:cubicBezTo>
                    <a:pt x="195" y="1314"/>
                    <a:pt x="232" y="1341"/>
                    <a:pt x="251" y="1424"/>
                  </a:cubicBezTo>
                  <a:lnTo>
                    <a:pt x="251" y="1700"/>
                  </a:lnTo>
                  <a:cubicBezTo>
                    <a:pt x="251" y="1999"/>
                    <a:pt x="520" y="2242"/>
                    <a:pt x="854" y="2247"/>
                  </a:cubicBezTo>
                  <a:cubicBezTo>
                    <a:pt x="855" y="2247"/>
                    <a:pt x="855" y="2247"/>
                    <a:pt x="856" y="2247"/>
                  </a:cubicBezTo>
                  <a:cubicBezTo>
                    <a:pt x="951" y="2247"/>
                    <a:pt x="1038" y="2176"/>
                    <a:pt x="1044" y="2078"/>
                  </a:cubicBezTo>
                  <a:cubicBezTo>
                    <a:pt x="1052" y="1974"/>
                    <a:pt x="969" y="1886"/>
                    <a:pt x="865" y="1886"/>
                  </a:cubicBezTo>
                  <a:cubicBezTo>
                    <a:pt x="728" y="1886"/>
                    <a:pt x="612" y="1801"/>
                    <a:pt x="612" y="1698"/>
                  </a:cubicBezTo>
                  <a:lnTo>
                    <a:pt x="612" y="1405"/>
                  </a:lnTo>
                  <a:cubicBezTo>
                    <a:pt x="612" y="1394"/>
                    <a:pt x="610" y="1384"/>
                    <a:pt x="609" y="1376"/>
                  </a:cubicBezTo>
                  <a:cubicBezTo>
                    <a:pt x="589" y="1268"/>
                    <a:pt x="551" y="1187"/>
                    <a:pt x="502" y="1124"/>
                  </a:cubicBezTo>
                  <a:cubicBezTo>
                    <a:pt x="550" y="1061"/>
                    <a:pt x="589" y="980"/>
                    <a:pt x="608" y="874"/>
                  </a:cubicBezTo>
                  <a:cubicBezTo>
                    <a:pt x="610" y="863"/>
                    <a:pt x="612" y="853"/>
                    <a:pt x="612" y="842"/>
                  </a:cubicBezTo>
                  <a:lnTo>
                    <a:pt x="612" y="549"/>
                  </a:lnTo>
                  <a:cubicBezTo>
                    <a:pt x="612" y="449"/>
                    <a:pt x="727" y="363"/>
                    <a:pt x="863" y="362"/>
                  </a:cubicBezTo>
                  <a:cubicBezTo>
                    <a:pt x="956" y="361"/>
                    <a:pt x="1039" y="287"/>
                    <a:pt x="1044" y="192"/>
                  </a:cubicBezTo>
                  <a:cubicBezTo>
                    <a:pt x="1052" y="87"/>
                    <a:pt x="968" y="0"/>
                    <a:pt x="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2"/>
            <p:cNvSpPr/>
            <p:nvPr/>
          </p:nvSpPr>
          <p:spPr>
            <a:xfrm>
              <a:off x="1874873" y="849235"/>
              <a:ext cx="39817" cy="85165"/>
            </a:xfrm>
            <a:custGeom>
              <a:avLst/>
              <a:gdLst/>
              <a:ahLst/>
              <a:cxnLst/>
              <a:rect l="l" t="t" r="r" b="b"/>
              <a:pathLst>
                <a:path w="1051" h="2248" extrusionOk="0">
                  <a:moveTo>
                    <a:pt x="186" y="0"/>
                  </a:moveTo>
                  <a:cubicBezTo>
                    <a:pt x="82" y="0"/>
                    <a:pt x="1" y="87"/>
                    <a:pt x="7" y="192"/>
                  </a:cubicBezTo>
                  <a:cubicBezTo>
                    <a:pt x="12" y="286"/>
                    <a:pt x="95" y="361"/>
                    <a:pt x="189" y="362"/>
                  </a:cubicBezTo>
                  <a:cubicBezTo>
                    <a:pt x="325" y="363"/>
                    <a:pt x="440" y="449"/>
                    <a:pt x="440" y="549"/>
                  </a:cubicBezTo>
                  <a:lnTo>
                    <a:pt x="440" y="842"/>
                  </a:lnTo>
                  <a:cubicBezTo>
                    <a:pt x="440" y="853"/>
                    <a:pt x="442" y="863"/>
                    <a:pt x="443" y="874"/>
                  </a:cubicBezTo>
                  <a:cubicBezTo>
                    <a:pt x="462" y="981"/>
                    <a:pt x="501" y="1062"/>
                    <a:pt x="550" y="1125"/>
                  </a:cubicBezTo>
                  <a:cubicBezTo>
                    <a:pt x="501" y="1188"/>
                    <a:pt x="462" y="1269"/>
                    <a:pt x="443" y="1377"/>
                  </a:cubicBezTo>
                  <a:cubicBezTo>
                    <a:pt x="442" y="1387"/>
                    <a:pt x="440" y="1398"/>
                    <a:pt x="440" y="1408"/>
                  </a:cubicBezTo>
                  <a:lnTo>
                    <a:pt x="440" y="1701"/>
                  </a:lnTo>
                  <a:cubicBezTo>
                    <a:pt x="440" y="1802"/>
                    <a:pt x="325" y="1887"/>
                    <a:pt x="189" y="1888"/>
                  </a:cubicBezTo>
                  <a:cubicBezTo>
                    <a:pt x="95" y="1890"/>
                    <a:pt x="12" y="1963"/>
                    <a:pt x="7" y="2058"/>
                  </a:cubicBezTo>
                  <a:cubicBezTo>
                    <a:pt x="2" y="2163"/>
                    <a:pt x="84" y="2248"/>
                    <a:pt x="186" y="2248"/>
                  </a:cubicBezTo>
                  <a:cubicBezTo>
                    <a:pt x="525" y="2248"/>
                    <a:pt x="800" y="2002"/>
                    <a:pt x="800" y="1701"/>
                  </a:cubicBezTo>
                  <a:lnTo>
                    <a:pt x="800" y="1425"/>
                  </a:lnTo>
                  <a:cubicBezTo>
                    <a:pt x="818" y="1346"/>
                    <a:pt x="852" y="1317"/>
                    <a:pt x="904" y="1298"/>
                  </a:cubicBezTo>
                  <a:cubicBezTo>
                    <a:pt x="965" y="1275"/>
                    <a:pt x="1014" y="1228"/>
                    <a:pt x="1029" y="1167"/>
                  </a:cubicBezTo>
                  <a:cubicBezTo>
                    <a:pt x="1050" y="1074"/>
                    <a:pt x="998" y="984"/>
                    <a:pt x="912" y="955"/>
                  </a:cubicBezTo>
                  <a:cubicBezTo>
                    <a:pt x="855" y="935"/>
                    <a:pt x="819" y="907"/>
                    <a:pt x="800" y="825"/>
                  </a:cubicBezTo>
                  <a:lnTo>
                    <a:pt x="800" y="549"/>
                  </a:lnTo>
                  <a:cubicBezTo>
                    <a:pt x="800" y="247"/>
                    <a:pt x="525" y="0"/>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2"/>
            <p:cNvSpPr/>
            <p:nvPr/>
          </p:nvSpPr>
          <p:spPr>
            <a:xfrm>
              <a:off x="1673476" y="818813"/>
              <a:ext cx="36067" cy="13639"/>
            </a:xfrm>
            <a:custGeom>
              <a:avLst/>
              <a:gdLst/>
              <a:ahLst/>
              <a:cxnLst/>
              <a:rect l="l" t="t" r="r" b="b"/>
              <a:pathLst>
                <a:path w="952" h="360" extrusionOk="0">
                  <a:moveTo>
                    <a:pt x="198" y="0"/>
                  </a:moveTo>
                  <a:cubicBezTo>
                    <a:pt x="103" y="0"/>
                    <a:pt x="18" y="69"/>
                    <a:pt x="10" y="163"/>
                  </a:cubicBezTo>
                  <a:cubicBezTo>
                    <a:pt x="0" y="269"/>
                    <a:pt x="85" y="359"/>
                    <a:pt x="190" y="359"/>
                  </a:cubicBezTo>
                  <a:lnTo>
                    <a:pt x="753" y="359"/>
                  </a:lnTo>
                  <a:cubicBezTo>
                    <a:pt x="850" y="359"/>
                    <a:pt x="935" y="290"/>
                    <a:pt x="942" y="196"/>
                  </a:cubicBezTo>
                  <a:cubicBezTo>
                    <a:pt x="951" y="89"/>
                    <a:pt x="867" y="0"/>
                    <a:pt x="7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2"/>
            <p:cNvSpPr/>
            <p:nvPr/>
          </p:nvSpPr>
          <p:spPr>
            <a:xfrm>
              <a:off x="1674348" y="966489"/>
              <a:ext cx="113011" cy="13676"/>
            </a:xfrm>
            <a:custGeom>
              <a:avLst/>
              <a:gdLst/>
              <a:ahLst/>
              <a:cxnLst/>
              <a:rect l="l" t="t" r="r" b="b"/>
              <a:pathLst>
                <a:path w="2983" h="361" extrusionOk="0">
                  <a:moveTo>
                    <a:pt x="198" y="0"/>
                  </a:moveTo>
                  <a:cubicBezTo>
                    <a:pt x="102" y="0"/>
                    <a:pt x="17" y="69"/>
                    <a:pt x="10" y="164"/>
                  </a:cubicBezTo>
                  <a:cubicBezTo>
                    <a:pt x="0" y="271"/>
                    <a:pt x="84" y="361"/>
                    <a:pt x="189" y="361"/>
                  </a:cubicBezTo>
                  <a:lnTo>
                    <a:pt x="2785" y="361"/>
                  </a:lnTo>
                  <a:cubicBezTo>
                    <a:pt x="2881" y="361"/>
                    <a:pt x="2965" y="291"/>
                    <a:pt x="2974" y="197"/>
                  </a:cubicBezTo>
                  <a:cubicBezTo>
                    <a:pt x="2982" y="89"/>
                    <a:pt x="2898" y="0"/>
                    <a:pt x="27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2"/>
            <p:cNvSpPr/>
            <p:nvPr/>
          </p:nvSpPr>
          <p:spPr>
            <a:xfrm>
              <a:off x="1673476" y="878368"/>
              <a:ext cx="36067" cy="13639"/>
            </a:xfrm>
            <a:custGeom>
              <a:avLst/>
              <a:gdLst/>
              <a:ahLst/>
              <a:cxnLst/>
              <a:rect l="l" t="t" r="r" b="b"/>
              <a:pathLst>
                <a:path w="952" h="360" extrusionOk="0">
                  <a:moveTo>
                    <a:pt x="198" y="0"/>
                  </a:moveTo>
                  <a:cubicBezTo>
                    <a:pt x="103" y="0"/>
                    <a:pt x="18" y="69"/>
                    <a:pt x="10" y="164"/>
                  </a:cubicBezTo>
                  <a:cubicBezTo>
                    <a:pt x="0" y="269"/>
                    <a:pt x="85" y="359"/>
                    <a:pt x="190" y="359"/>
                  </a:cubicBezTo>
                  <a:lnTo>
                    <a:pt x="753" y="359"/>
                  </a:lnTo>
                  <a:cubicBezTo>
                    <a:pt x="850" y="359"/>
                    <a:pt x="935" y="290"/>
                    <a:pt x="942" y="196"/>
                  </a:cubicBezTo>
                  <a:cubicBezTo>
                    <a:pt x="951" y="89"/>
                    <a:pt x="867" y="0"/>
                    <a:pt x="7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2"/>
            <p:cNvSpPr/>
            <p:nvPr/>
          </p:nvSpPr>
          <p:spPr>
            <a:xfrm>
              <a:off x="1673476" y="906933"/>
              <a:ext cx="36067" cy="13676"/>
            </a:xfrm>
            <a:custGeom>
              <a:avLst/>
              <a:gdLst/>
              <a:ahLst/>
              <a:cxnLst/>
              <a:rect l="l" t="t" r="r" b="b"/>
              <a:pathLst>
                <a:path w="952" h="361" extrusionOk="0">
                  <a:moveTo>
                    <a:pt x="198" y="0"/>
                  </a:moveTo>
                  <a:cubicBezTo>
                    <a:pt x="103" y="0"/>
                    <a:pt x="18" y="69"/>
                    <a:pt x="10" y="164"/>
                  </a:cubicBezTo>
                  <a:cubicBezTo>
                    <a:pt x="0" y="269"/>
                    <a:pt x="85" y="361"/>
                    <a:pt x="190" y="361"/>
                  </a:cubicBezTo>
                  <a:lnTo>
                    <a:pt x="753" y="361"/>
                  </a:lnTo>
                  <a:cubicBezTo>
                    <a:pt x="850" y="361"/>
                    <a:pt x="935" y="290"/>
                    <a:pt x="942" y="196"/>
                  </a:cubicBezTo>
                  <a:cubicBezTo>
                    <a:pt x="951" y="89"/>
                    <a:pt x="867" y="0"/>
                    <a:pt x="7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2"/>
            <p:cNvSpPr/>
            <p:nvPr/>
          </p:nvSpPr>
          <p:spPr>
            <a:xfrm>
              <a:off x="1771901" y="936673"/>
              <a:ext cx="25156" cy="13714"/>
            </a:xfrm>
            <a:custGeom>
              <a:avLst/>
              <a:gdLst/>
              <a:ahLst/>
              <a:cxnLst/>
              <a:rect l="l" t="t" r="r" b="b"/>
              <a:pathLst>
                <a:path w="664" h="362" extrusionOk="0">
                  <a:moveTo>
                    <a:pt x="189" y="1"/>
                  </a:moveTo>
                  <a:cubicBezTo>
                    <a:pt x="85" y="1"/>
                    <a:pt x="1" y="90"/>
                    <a:pt x="9" y="197"/>
                  </a:cubicBezTo>
                  <a:cubicBezTo>
                    <a:pt x="17" y="291"/>
                    <a:pt x="103" y="361"/>
                    <a:pt x="198" y="361"/>
                  </a:cubicBezTo>
                  <a:lnTo>
                    <a:pt x="467" y="361"/>
                  </a:lnTo>
                  <a:cubicBezTo>
                    <a:pt x="562" y="361"/>
                    <a:pt x="647" y="291"/>
                    <a:pt x="655" y="197"/>
                  </a:cubicBezTo>
                  <a:cubicBezTo>
                    <a:pt x="664" y="90"/>
                    <a:pt x="580" y="1"/>
                    <a:pt x="4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2"/>
            <p:cNvSpPr/>
            <p:nvPr/>
          </p:nvSpPr>
          <p:spPr>
            <a:xfrm>
              <a:off x="1673931" y="936673"/>
              <a:ext cx="78801" cy="13714"/>
            </a:xfrm>
            <a:custGeom>
              <a:avLst/>
              <a:gdLst/>
              <a:ahLst/>
              <a:cxnLst/>
              <a:rect l="l" t="t" r="r" b="b"/>
              <a:pathLst>
                <a:path w="2080" h="362" extrusionOk="0">
                  <a:moveTo>
                    <a:pt x="199" y="1"/>
                  </a:moveTo>
                  <a:cubicBezTo>
                    <a:pt x="102" y="1"/>
                    <a:pt x="18" y="70"/>
                    <a:pt x="10" y="164"/>
                  </a:cubicBezTo>
                  <a:cubicBezTo>
                    <a:pt x="1" y="272"/>
                    <a:pt x="85" y="361"/>
                    <a:pt x="189" y="361"/>
                  </a:cubicBezTo>
                  <a:lnTo>
                    <a:pt x="1882" y="361"/>
                  </a:lnTo>
                  <a:cubicBezTo>
                    <a:pt x="1977" y="361"/>
                    <a:pt x="2063" y="291"/>
                    <a:pt x="2070" y="197"/>
                  </a:cubicBezTo>
                  <a:cubicBezTo>
                    <a:pt x="2080" y="90"/>
                    <a:pt x="1996" y="1"/>
                    <a:pt x="18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2"/>
            <p:cNvSpPr/>
            <p:nvPr/>
          </p:nvSpPr>
          <p:spPr>
            <a:xfrm>
              <a:off x="1728447" y="878368"/>
              <a:ext cx="36029" cy="13639"/>
            </a:xfrm>
            <a:custGeom>
              <a:avLst/>
              <a:gdLst/>
              <a:ahLst/>
              <a:cxnLst/>
              <a:rect l="l" t="t" r="r" b="b"/>
              <a:pathLst>
                <a:path w="951" h="360" extrusionOk="0">
                  <a:moveTo>
                    <a:pt x="189" y="0"/>
                  </a:moveTo>
                  <a:cubicBezTo>
                    <a:pt x="85" y="0"/>
                    <a:pt x="1" y="89"/>
                    <a:pt x="9" y="196"/>
                  </a:cubicBezTo>
                  <a:cubicBezTo>
                    <a:pt x="18" y="290"/>
                    <a:pt x="104" y="359"/>
                    <a:pt x="198" y="359"/>
                  </a:cubicBezTo>
                  <a:lnTo>
                    <a:pt x="753" y="359"/>
                  </a:lnTo>
                  <a:cubicBezTo>
                    <a:pt x="849" y="359"/>
                    <a:pt x="934" y="290"/>
                    <a:pt x="941" y="196"/>
                  </a:cubicBezTo>
                  <a:cubicBezTo>
                    <a:pt x="951" y="89"/>
                    <a:pt x="867" y="0"/>
                    <a:pt x="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2"/>
            <p:cNvSpPr/>
            <p:nvPr/>
          </p:nvSpPr>
          <p:spPr>
            <a:xfrm>
              <a:off x="1778152" y="878330"/>
              <a:ext cx="75429" cy="13639"/>
            </a:xfrm>
            <a:custGeom>
              <a:avLst/>
              <a:gdLst/>
              <a:ahLst/>
              <a:cxnLst/>
              <a:rect l="l" t="t" r="r" b="b"/>
              <a:pathLst>
                <a:path w="1991" h="360" extrusionOk="0">
                  <a:moveTo>
                    <a:pt x="198" y="0"/>
                  </a:moveTo>
                  <a:cubicBezTo>
                    <a:pt x="102" y="0"/>
                    <a:pt x="17" y="69"/>
                    <a:pt x="10" y="163"/>
                  </a:cubicBezTo>
                  <a:cubicBezTo>
                    <a:pt x="0" y="270"/>
                    <a:pt x="84" y="359"/>
                    <a:pt x="189" y="359"/>
                  </a:cubicBezTo>
                  <a:lnTo>
                    <a:pt x="1809" y="359"/>
                  </a:lnTo>
                  <a:cubicBezTo>
                    <a:pt x="1810" y="359"/>
                    <a:pt x="1810" y="359"/>
                    <a:pt x="1811" y="359"/>
                  </a:cubicBezTo>
                  <a:cubicBezTo>
                    <a:pt x="1911" y="359"/>
                    <a:pt x="1990" y="279"/>
                    <a:pt x="1990" y="180"/>
                  </a:cubicBezTo>
                  <a:cubicBezTo>
                    <a:pt x="1990" y="81"/>
                    <a:pt x="1909" y="0"/>
                    <a:pt x="18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2"/>
            <p:cNvSpPr/>
            <p:nvPr/>
          </p:nvSpPr>
          <p:spPr>
            <a:xfrm>
              <a:off x="1729773" y="818699"/>
              <a:ext cx="164383" cy="13714"/>
            </a:xfrm>
            <a:custGeom>
              <a:avLst/>
              <a:gdLst/>
              <a:ahLst/>
              <a:cxnLst/>
              <a:rect l="l" t="t" r="r" b="b"/>
              <a:pathLst>
                <a:path w="4339" h="362" extrusionOk="0">
                  <a:moveTo>
                    <a:pt x="198" y="1"/>
                  </a:moveTo>
                  <a:cubicBezTo>
                    <a:pt x="103" y="1"/>
                    <a:pt x="18" y="71"/>
                    <a:pt x="10" y="165"/>
                  </a:cubicBezTo>
                  <a:cubicBezTo>
                    <a:pt x="0" y="272"/>
                    <a:pt x="84" y="361"/>
                    <a:pt x="189" y="361"/>
                  </a:cubicBezTo>
                  <a:lnTo>
                    <a:pt x="4137" y="361"/>
                  </a:lnTo>
                  <a:cubicBezTo>
                    <a:pt x="4234" y="361"/>
                    <a:pt x="4319" y="292"/>
                    <a:pt x="4326" y="198"/>
                  </a:cubicBezTo>
                  <a:cubicBezTo>
                    <a:pt x="4339" y="92"/>
                    <a:pt x="4255" y="1"/>
                    <a:pt x="4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2"/>
            <p:cNvSpPr/>
            <p:nvPr/>
          </p:nvSpPr>
          <p:spPr>
            <a:xfrm>
              <a:off x="1673097" y="848553"/>
              <a:ext cx="182000" cy="13639"/>
            </a:xfrm>
            <a:custGeom>
              <a:avLst/>
              <a:gdLst/>
              <a:ahLst/>
              <a:cxnLst/>
              <a:rect l="l" t="t" r="r" b="b"/>
              <a:pathLst>
                <a:path w="4804" h="360" extrusionOk="0">
                  <a:moveTo>
                    <a:pt x="199" y="1"/>
                  </a:moveTo>
                  <a:cubicBezTo>
                    <a:pt x="103" y="1"/>
                    <a:pt x="19" y="70"/>
                    <a:pt x="9" y="164"/>
                  </a:cubicBezTo>
                  <a:cubicBezTo>
                    <a:pt x="1" y="271"/>
                    <a:pt x="87" y="360"/>
                    <a:pt x="193" y="360"/>
                  </a:cubicBezTo>
                  <a:lnTo>
                    <a:pt x="4595" y="360"/>
                  </a:lnTo>
                  <a:cubicBezTo>
                    <a:pt x="4681" y="360"/>
                    <a:pt x="4763" y="302"/>
                    <a:pt x="4780" y="216"/>
                  </a:cubicBezTo>
                  <a:cubicBezTo>
                    <a:pt x="4804" y="101"/>
                    <a:pt x="4713" y="1"/>
                    <a:pt x="4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2"/>
            <p:cNvSpPr/>
            <p:nvPr/>
          </p:nvSpPr>
          <p:spPr>
            <a:xfrm>
              <a:off x="1558836" y="713303"/>
              <a:ext cx="475457" cy="476631"/>
            </a:xfrm>
            <a:custGeom>
              <a:avLst/>
              <a:gdLst/>
              <a:ahLst/>
              <a:cxnLst/>
              <a:rect l="l" t="t" r="r" b="b"/>
              <a:pathLst>
                <a:path w="12550" h="12581" extrusionOk="0">
                  <a:moveTo>
                    <a:pt x="10487" y="358"/>
                  </a:moveTo>
                  <a:cubicBezTo>
                    <a:pt x="10595" y="358"/>
                    <a:pt x="10684" y="446"/>
                    <a:pt x="10684" y="556"/>
                  </a:cubicBezTo>
                  <a:lnTo>
                    <a:pt x="10684" y="1374"/>
                  </a:lnTo>
                  <a:lnTo>
                    <a:pt x="363" y="1374"/>
                  </a:lnTo>
                  <a:lnTo>
                    <a:pt x="363" y="556"/>
                  </a:lnTo>
                  <a:cubicBezTo>
                    <a:pt x="363" y="447"/>
                    <a:pt x="451" y="358"/>
                    <a:pt x="561" y="358"/>
                  </a:cubicBezTo>
                  <a:close/>
                  <a:moveTo>
                    <a:pt x="11338" y="6826"/>
                  </a:moveTo>
                  <a:lnTo>
                    <a:pt x="11956" y="7535"/>
                  </a:lnTo>
                  <a:lnTo>
                    <a:pt x="11338" y="7535"/>
                  </a:lnTo>
                  <a:lnTo>
                    <a:pt x="11338" y="6826"/>
                  </a:lnTo>
                  <a:close/>
                  <a:moveTo>
                    <a:pt x="192" y="0"/>
                  </a:moveTo>
                  <a:cubicBezTo>
                    <a:pt x="86" y="0"/>
                    <a:pt x="2" y="86"/>
                    <a:pt x="2" y="191"/>
                  </a:cubicBezTo>
                  <a:lnTo>
                    <a:pt x="2" y="7202"/>
                  </a:lnTo>
                  <a:cubicBezTo>
                    <a:pt x="2" y="7220"/>
                    <a:pt x="9" y="7237"/>
                    <a:pt x="22" y="7249"/>
                  </a:cubicBezTo>
                  <a:cubicBezTo>
                    <a:pt x="75" y="7301"/>
                    <a:pt x="131" y="7323"/>
                    <a:pt x="183" y="7323"/>
                  </a:cubicBezTo>
                  <a:cubicBezTo>
                    <a:pt x="282" y="7323"/>
                    <a:pt x="363" y="7241"/>
                    <a:pt x="363" y="7139"/>
                  </a:cubicBezTo>
                  <a:lnTo>
                    <a:pt x="363" y="1736"/>
                  </a:lnTo>
                  <a:lnTo>
                    <a:pt x="10683" y="1736"/>
                  </a:lnTo>
                  <a:lnTo>
                    <a:pt x="10683" y="6160"/>
                  </a:lnTo>
                  <a:lnTo>
                    <a:pt x="9249" y="6160"/>
                  </a:lnTo>
                  <a:cubicBezTo>
                    <a:pt x="9152" y="6160"/>
                    <a:pt x="9067" y="6229"/>
                    <a:pt x="9060" y="6323"/>
                  </a:cubicBezTo>
                  <a:cubicBezTo>
                    <a:pt x="9051" y="6431"/>
                    <a:pt x="9134" y="6520"/>
                    <a:pt x="9239" y="6520"/>
                  </a:cubicBezTo>
                  <a:lnTo>
                    <a:pt x="10978" y="6520"/>
                  </a:lnTo>
                  <a:lnTo>
                    <a:pt x="10978" y="7713"/>
                  </a:lnTo>
                  <a:cubicBezTo>
                    <a:pt x="10978" y="7814"/>
                    <a:pt x="11060" y="7897"/>
                    <a:pt x="11162" y="7897"/>
                  </a:cubicBezTo>
                  <a:lnTo>
                    <a:pt x="12190" y="7897"/>
                  </a:lnTo>
                  <a:lnTo>
                    <a:pt x="12190" y="12223"/>
                  </a:lnTo>
                  <a:lnTo>
                    <a:pt x="7537" y="12223"/>
                  </a:lnTo>
                  <a:lnTo>
                    <a:pt x="7537" y="6519"/>
                  </a:lnTo>
                  <a:lnTo>
                    <a:pt x="8330" y="6519"/>
                  </a:lnTo>
                  <a:cubicBezTo>
                    <a:pt x="8426" y="6519"/>
                    <a:pt x="8511" y="6449"/>
                    <a:pt x="8519" y="6354"/>
                  </a:cubicBezTo>
                  <a:cubicBezTo>
                    <a:pt x="8528" y="6248"/>
                    <a:pt x="8444" y="6159"/>
                    <a:pt x="8339" y="6159"/>
                  </a:cubicBezTo>
                  <a:lnTo>
                    <a:pt x="7328" y="6159"/>
                  </a:lnTo>
                  <a:cubicBezTo>
                    <a:pt x="7225" y="6159"/>
                    <a:pt x="7143" y="6241"/>
                    <a:pt x="7143" y="6343"/>
                  </a:cubicBezTo>
                  <a:lnTo>
                    <a:pt x="7143" y="9436"/>
                  </a:lnTo>
                  <a:lnTo>
                    <a:pt x="427" y="9436"/>
                  </a:lnTo>
                  <a:cubicBezTo>
                    <a:pt x="390" y="9436"/>
                    <a:pt x="360" y="9405"/>
                    <a:pt x="360" y="9369"/>
                  </a:cubicBezTo>
                  <a:lnTo>
                    <a:pt x="360" y="7960"/>
                  </a:lnTo>
                  <a:cubicBezTo>
                    <a:pt x="360" y="7941"/>
                    <a:pt x="352" y="7924"/>
                    <a:pt x="339" y="7911"/>
                  </a:cubicBezTo>
                  <a:cubicBezTo>
                    <a:pt x="286" y="7861"/>
                    <a:pt x="231" y="7840"/>
                    <a:pt x="180" y="7840"/>
                  </a:cubicBezTo>
                  <a:cubicBezTo>
                    <a:pt x="81" y="7840"/>
                    <a:pt x="0" y="7920"/>
                    <a:pt x="0" y="8020"/>
                  </a:cubicBezTo>
                  <a:lnTo>
                    <a:pt x="0" y="9604"/>
                  </a:lnTo>
                  <a:cubicBezTo>
                    <a:pt x="0" y="9709"/>
                    <a:pt x="85" y="9795"/>
                    <a:pt x="191" y="9795"/>
                  </a:cubicBezTo>
                  <a:lnTo>
                    <a:pt x="7143" y="9795"/>
                  </a:lnTo>
                  <a:lnTo>
                    <a:pt x="7143" y="12397"/>
                  </a:lnTo>
                  <a:cubicBezTo>
                    <a:pt x="7143" y="12499"/>
                    <a:pt x="7225" y="12581"/>
                    <a:pt x="7328" y="12581"/>
                  </a:cubicBezTo>
                  <a:lnTo>
                    <a:pt x="12365" y="12581"/>
                  </a:lnTo>
                  <a:cubicBezTo>
                    <a:pt x="12467" y="12581"/>
                    <a:pt x="12550" y="12499"/>
                    <a:pt x="12550" y="12397"/>
                  </a:cubicBezTo>
                  <a:lnTo>
                    <a:pt x="12550" y="7724"/>
                  </a:lnTo>
                  <a:cubicBezTo>
                    <a:pt x="12550" y="7679"/>
                    <a:pt x="12534" y="7636"/>
                    <a:pt x="12506" y="7604"/>
                  </a:cubicBezTo>
                  <a:lnTo>
                    <a:pt x="11307" y="6222"/>
                  </a:lnTo>
                  <a:cubicBezTo>
                    <a:pt x="11272" y="6182"/>
                    <a:pt x="11221" y="6160"/>
                    <a:pt x="11168" y="6160"/>
                  </a:cubicBezTo>
                  <a:lnTo>
                    <a:pt x="11043" y="6160"/>
                  </a:lnTo>
                  <a:lnTo>
                    <a:pt x="11043" y="566"/>
                  </a:lnTo>
                  <a:cubicBezTo>
                    <a:pt x="11043" y="254"/>
                    <a:pt x="10790" y="0"/>
                    <a:pt x="104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2"/>
            <p:cNvSpPr/>
            <p:nvPr/>
          </p:nvSpPr>
          <p:spPr>
            <a:xfrm>
              <a:off x="1906431" y="1036614"/>
              <a:ext cx="48341" cy="63760"/>
            </a:xfrm>
            <a:custGeom>
              <a:avLst/>
              <a:gdLst/>
              <a:ahLst/>
              <a:cxnLst/>
              <a:rect l="l" t="t" r="r" b="b"/>
              <a:pathLst>
                <a:path w="1276" h="1683" extrusionOk="0">
                  <a:moveTo>
                    <a:pt x="1096" y="0"/>
                  </a:moveTo>
                  <a:cubicBezTo>
                    <a:pt x="997" y="0"/>
                    <a:pt x="917" y="81"/>
                    <a:pt x="917" y="180"/>
                  </a:cubicBezTo>
                  <a:lnTo>
                    <a:pt x="917" y="638"/>
                  </a:lnTo>
                  <a:lnTo>
                    <a:pt x="359" y="638"/>
                  </a:lnTo>
                  <a:lnTo>
                    <a:pt x="359" y="180"/>
                  </a:lnTo>
                  <a:cubicBezTo>
                    <a:pt x="362" y="81"/>
                    <a:pt x="280" y="1"/>
                    <a:pt x="180" y="1"/>
                  </a:cubicBezTo>
                  <a:cubicBezTo>
                    <a:pt x="81" y="1"/>
                    <a:pt x="0" y="82"/>
                    <a:pt x="0" y="181"/>
                  </a:cubicBezTo>
                  <a:lnTo>
                    <a:pt x="0" y="1494"/>
                  </a:lnTo>
                  <a:cubicBezTo>
                    <a:pt x="0" y="1589"/>
                    <a:pt x="69" y="1674"/>
                    <a:pt x="164" y="1682"/>
                  </a:cubicBezTo>
                  <a:cubicBezTo>
                    <a:pt x="169" y="1682"/>
                    <a:pt x="173" y="1683"/>
                    <a:pt x="178" y="1683"/>
                  </a:cubicBezTo>
                  <a:cubicBezTo>
                    <a:pt x="279" y="1683"/>
                    <a:pt x="359" y="1602"/>
                    <a:pt x="359" y="1502"/>
                  </a:cubicBezTo>
                  <a:lnTo>
                    <a:pt x="359" y="998"/>
                  </a:lnTo>
                  <a:lnTo>
                    <a:pt x="917" y="998"/>
                  </a:lnTo>
                  <a:lnTo>
                    <a:pt x="917" y="1494"/>
                  </a:lnTo>
                  <a:cubicBezTo>
                    <a:pt x="917" y="1589"/>
                    <a:pt x="986" y="1674"/>
                    <a:pt x="1080" y="1682"/>
                  </a:cubicBezTo>
                  <a:cubicBezTo>
                    <a:pt x="1085" y="1682"/>
                    <a:pt x="1090" y="1683"/>
                    <a:pt x="1095" y="1683"/>
                  </a:cubicBezTo>
                  <a:cubicBezTo>
                    <a:pt x="1195" y="1683"/>
                    <a:pt x="1276" y="1602"/>
                    <a:pt x="1276" y="1502"/>
                  </a:cubicBezTo>
                  <a:lnTo>
                    <a:pt x="1276" y="189"/>
                  </a:lnTo>
                  <a:cubicBezTo>
                    <a:pt x="1276" y="93"/>
                    <a:pt x="1207" y="8"/>
                    <a:pt x="1113" y="1"/>
                  </a:cubicBezTo>
                  <a:cubicBezTo>
                    <a:pt x="1107" y="1"/>
                    <a:pt x="1102" y="0"/>
                    <a:pt x="10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2"/>
            <p:cNvSpPr/>
            <p:nvPr/>
          </p:nvSpPr>
          <p:spPr>
            <a:xfrm>
              <a:off x="1857976" y="1035970"/>
              <a:ext cx="42128" cy="65200"/>
            </a:xfrm>
            <a:custGeom>
              <a:avLst/>
              <a:gdLst/>
              <a:ahLst/>
              <a:cxnLst/>
              <a:rect l="l" t="t" r="r" b="b"/>
              <a:pathLst>
                <a:path w="1112" h="1721" extrusionOk="0">
                  <a:moveTo>
                    <a:pt x="550" y="362"/>
                  </a:moveTo>
                  <a:cubicBezTo>
                    <a:pt x="659" y="362"/>
                    <a:pt x="752" y="451"/>
                    <a:pt x="752" y="558"/>
                  </a:cubicBezTo>
                  <a:cubicBezTo>
                    <a:pt x="752" y="665"/>
                    <a:pt x="659" y="756"/>
                    <a:pt x="548" y="756"/>
                  </a:cubicBezTo>
                  <a:cubicBezTo>
                    <a:pt x="504" y="756"/>
                    <a:pt x="429" y="756"/>
                    <a:pt x="359" y="757"/>
                  </a:cubicBezTo>
                  <a:cubicBezTo>
                    <a:pt x="359" y="684"/>
                    <a:pt x="358" y="439"/>
                    <a:pt x="358" y="362"/>
                  </a:cubicBezTo>
                  <a:lnTo>
                    <a:pt x="548" y="362"/>
                  </a:lnTo>
                  <a:cubicBezTo>
                    <a:pt x="549" y="362"/>
                    <a:pt x="549" y="362"/>
                    <a:pt x="550" y="362"/>
                  </a:cubicBezTo>
                  <a:close/>
                  <a:moveTo>
                    <a:pt x="182" y="0"/>
                  </a:moveTo>
                  <a:cubicBezTo>
                    <a:pt x="87" y="0"/>
                    <a:pt x="0" y="88"/>
                    <a:pt x="0" y="186"/>
                  </a:cubicBezTo>
                  <a:lnTo>
                    <a:pt x="0" y="1531"/>
                  </a:lnTo>
                  <a:cubicBezTo>
                    <a:pt x="0" y="1618"/>
                    <a:pt x="59" y="1699"/>
                    <a:pt x="145" y="1717"/>
                  </a:cubicBezTo>
                  <a:cubicBezTo>
                    <a:pt x="158" y="1719"/>
                    <a:pt x="170" y="1721"/>
                    <a:pt x="182" y="1721"/>
                  </a:cubicBezTo>
                  <a:cubicBezTo>
                    <a:pt x="281" y="1721"/>
                    <a:pt x="363" y="1637"/>
                    <a:pt x="363" y="1537"/>
                  </a:cubicBezTo>
                  <a:lnTo>
                    <a:pt x="363" y="1133"/>
                  </a:lnTo>
                  <a:cubicBezTo>
                    <a:pt x="432" y="1133"/>
                    <a:pt x="506" y="1131"/>
                    <a:pt x="551" y="1131"/>
                  </a:cubicBezTo>
                  <a:cubicBezTo>
                    <a:pt x="860" y="1131"/>
                    <a:pt x="1112" y="878"/>
                    <a:pt x="1112" y="566"/>
                  </a:cubicBezTo>
                  <a:cubicBezTo>
                    <a:pt x="1112" y="255"/>
                    <a:pt x="860" y="0"/>
                    <a:pt x="5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2"/>
            <p:cNvSpPr/>
            <p:nvPr/>
          </p:nvSpPr>
          <p:spPr>
            <a:xfrm>
              <a:off x="1964433" y="1035932"/>
              <a:ext cx="42962" cy="65200"/>
            </a:xfrm>
            <a:custGeom>
              <a:avLst/>
              <a:gdLst/>
              <a:ahLst/>
              <a:cxnLst/>
              <a:rect l="l" t="t" r="r" b="b"/>
              <a:pathLst>
                <a:path w="1134" h="1721" extrusionOk="0">
                  <a:moveTo>
                    <a:pt x="566" y="362"/>
                  </a:moveTo>
                  <a:cubicBezTo>
                    <a:pt x="677" y="362"/>
                    <a:pt x="770" y="452"/>
                    <a:pt x="770" y="558"/>
                  </a:cubicBezTo>
                  <a:cubicBezTo>
                    <a:pt x="770" y="665"/>
                    <a:pt x="676" y="755"/>
                    <a:pt x="566" y="755"/>
                  </a:cubicBezTo>
                  <a:cubicBezTo>
                    <a:pt x="522" y="755"/>
                    <a:pt x="447" y="755"/>
                    <a:pt x="376" y="757"/>
                  </a:cubicBezTo>
                  <a:cubicBezTo>
                    <a:pt x="376" y="684"/>
                    <a:pt x="375" y="439"/>
                    <a:pt x="375" y="362"/>
                  </a:cubicBezTo>
                  <a:close/>
                  <a:moveTo>
                    <a:pt x="187" y="0"/>
                  </a:moveTo>
                  <a:cubicBezTo>
                    <a:pt x="79" y="0"/>
                    <a:pt x="4" y="87"/>
                    <a:pt x="2" y="190"/>
                  </a:cubicBezTo>
                  <a:cubicBezTo>
                    <a:pt x="0" y="235"/>
                    <a:pt x="2" y="1503"/>
                    <a:pt x="2" y="1535"/>
                  </a:cubicBezTo>
                  <a:cubicBezTo>
                    <a:pt x="2" y="1638"/>
                    <a:pt x="84" y="1721"/>
                    <a:pt x="185" y="1721"/>
                  </a:cubicBezTo>
                  <a:cubicBezTo>
                    <a:pt x="287" y="1721"/>
                    <a:pt x="370" y="1638"/>
                    <a:pt x="370" y="1536"/>
                  </a:cubicBezTo>
                  <a:lnTo>
                    <a:pt x="370" y="1132"/>
                  </a:lnTo>
                  <a:cubicBezTo>
                    <a:pt x="441" y="1132"/>
                    <a:pt x="517" y="1131"/>
                    <a:pt x="562" y="1131"/>
                  </a:cubicBezTo>
                  <a:cubicBezTo>
                    <a:pt x="878" y="1131"/>
                    <a:pt x="1134" y="878"/>
                    <a:pt x="1134" y="566"/>
                  </a:cubicBezTo>
                  <a:cubicBezTo>
                    <a:pt x="1134" y="254"/>
                    <a:pt x="878"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p39"/>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Khác biệt về bài toán</a:t>
            </a:r>
          </a:p>
        </p:txBody>
      </p:sp>
      <p:graphicFrame>
        <p:nvGraphicFramePr>
          <p:cNvPr id="1531" name="Table 1530"/>
          <p:cNvGraphicFramePr>
            <a:graphicFrameLocks noGrp="1"/>
          </p:cNvGraphicFramePr>
          <p:nvPr/>
        </p:nvGraphicFramePr>
        <p:xfrm>
          <a:off x="722376" y="1188720"/>
          <a:ext cx="7708392" cy="3145536"/>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730752">
                  <a:extLst>
                    <a:ext uri="{9D8B030D-6E8A-4147-A177-3AD203B41FA5}">
                      <a16:colId xmlns:a16="http://schemas.microsoft.com/office/drawing/2014/main" val="20002"/>
                    </a:ext>
                  </a:extLst>
                </a:gridCol>
              </a:tblGrid>
              <a:tr h="393192">
                <a:tc>
                  <a:txBody>
                    <a:bodyPr/>
                    <a:lstStyle/>
                    <a:p>
                      <a:endParaRPr/>
                    </a:p>
                  </a:txBody>
                  <a:tcPr marL="64008" marR="64008" marT="27432" marB="27432" anchor="ctr">
                    <a:solidFill>
                      <a:srgbClr val="0C0A9E"/>
                    </a:solidFill>
                  </a:tcPr>
                </a:tc>
                <a:tc>
                  <a:txBody>
                    <a:bodyPr/>
                    <a:lstStyle/>
                    <a:p>
                      <a:r>
                        <a:rPr sz="1000" b="1">
                          <a:solidFill>
                            <a:srgbClr val="FFFFFF"/>
                          </a:solidFill>
                          <a:latin typeface="IBM Plex Mono"/>
                        </a:rPr>
                        <a:t>Huang et al. (DDATSAP)</a:t>
                      </a:r>
                    </a:p>
                  </a:txBody>
                  <a:tcPr marL="64008" marR="64008" marT="27432" marB="27432" anchor="ctr">
                    <a:solidFill>
                      <a:srgbClr val="0C0A9E"/>
                    </a:solidFill>
                  </a:tcPr>
                </a:tc>
                <a:tc>
                  <a:txBody>
                    <a:bodyPr/>
                    <a:lstStyle/>
                    <a:p>
                      <a:r>
                        <a:rPr sz="1000" b="1">
                          <a:solidFill>
                            <a:srgbClr val="FFFFFF"/>
                          </a:solidFill>
                          <a:latin typeface="IBM Plex Mono"/>
                        </a:rPr>
                        <a:t>Bài của nhóm</a:t>
                      </a:r>
                    </a:p>
                  </a:txBody>
                  <a:tcPr marL="64008" marR="64008" marT="27432" marB="27432" anchor="ctr">
                    <a:solidFill>
                      <a:srgbClr val="0C0A9E"/>
                    </a:solidFill>
                  </a:tcPr>
                </a:tc>
                <a:extLst>
                  <a:ext uri="{0D108BD9-81ED-4DB2-BD59-A6C34878D82A}">
                    <a16:rowId xmlns:a16="http://schemas.microsoft.com/office/drawing/2014/main" val="10000"/>
                  </a:ext>
                </a:extLst>
              </a:tr>
              <a:tr h="393192">
                <a:tc>
                  <a:txBody>
                    <a:bodyPr/>
                    <a:lstStyle/>
                    <a:p>
                      <a:r>
                        <a:rPr sz="1000" b="1">
                          <a:solidFill>
                            <a:srgbClr val="0C0A9E"/>
                          </a:solidFill>
                          <a:latin typeface="IBM Plex Mono"/>
                        </a:rPr>
                        <a:t>Mục tiêu</a:t>
                      </a:r>
                    </a:p>
                  </a:txBody>
                  <a:tcPr marL="64008" marR="64008" marT="27432" marB="27432" anchor="ctr">
                    <a:solidFill>
                      <a:srgbClr val="FFFFFF"/>
                    </a:solidFill>
                  </a:tcPr>
                </a:tc>
                <a:tc>
                  <a:txBody>
                    <a:bodyPr/>
                    <a:lstStyle/>
                    <a:p>
                      <a:r>
                        <a:rPr sz="1000" b="0">
                          <a:solidFill>
                            <a:srgbClr val="1D1D1D"/>
                          </a:solidFill>
                          <a:latin typeface="Be Vietnam Pro"/>
                        </a:rPr>
                        <a:t>Max-min rate giữa các cặp user</a:t>
                      </a:r>
                    </a:p>
                  </a:txBody>
                  <a:tcPr marL="64008" marR="64008" marT="27432" marB="27432" anchor="ctr">
                    <a:solidFill>
                      <a:srgbClr val="FFFFFF"/>
                    </a:solidFill>
                  </a:tcPr>
                </a:tc>
                <a:tc>
                  <a:txBody>
                    <a:bodyPr/>
                    <a:lstStyle/>
                    <a:p>
                      <a:r>
                        <a:rPr sz="1000" b="1">
                          <a:solidFill>
                            <a:srgbClr val="1D1D1D"/>
                          </a:solidFill>
                          <a:latin typeface="Be Vietnam Pro"/>
                        </a:rPr>
                        <a:t>Nhiều alert đến đúng hạn nhất</a:t>
                      </a:r>
                      <a:r>
                        <a:rPr sz="1000" b="0">
                          <a:solidFill>
                            <a:srgbClr val="1D1D1D"/>
                          </a:solidFill>
                          <a:latin typeface="Be Vietnam Pro"/>
                        </a:rPr>
                        <a:t/>
                      </a:r>
                    </a:p>
                  </a:txBody>
                  <a:tcPr marL="64008" marR="64008" marT="27432" marB="27432" anchor="ctr">
                    <a:solidFill>
                      <a:srgbClr val="E6E5FC"/>
                    </a:solidFill>
                  </a:tcPr>
                </a:tc>
                <a:extLst>
                  <a:ext uri="{0D108BD9-81ED-4DB2-BD59-A6C34878D82A}">
                    <a16:rowId xmlns:a16="http://schemas.microsoft.com/office/drawing/2014/main" val="10001"/>
                  </a:ext>
                </a:extLst>
              </a:tr>
              <a:tr h="393192">
                <a:tc>
                  <a:txBody>
                    <a:bodyPr/>
                    <a:lstStyle/>
                    <a:p>
                      <a:r>
                        <a:rPr sz="1000" b="1">
                          <a:solidFill>
                            <a:srgbClr val="0C0A9E"/>
                          </a:solidFill>
                          <a:latin typeface="IBM Plex Mono"/>
                        </a:rPr>
                        <a:t>Dữ liệu</a:t>
                      </a:r>
                    </a:p>
                  </a:txBody>
                  <a:tcPr marL="64008" marR="64008" marT="27432" marB="27432" anchor="ctr">
                    <a:solidFill>
                      <a:srgbClr val="FFFFFF"/>
                    </a:solidFill>
                  </a:tcPr>
                </a:tc>
                <a:tc>
                  <a:txBody>
                    <a:bodyPr/>
                    <a:lstStyle/>
                    <a:p>
                      <a:r>
                        <a:rPr sz="1000" b="0">
                          <a:solidFill>
                            <a:srgbClr val="1D1D1D"/>
                          </a:solidFill>
                          <a:latin typeface="Be Vietnam Pro"/>
                        </a:rPr>
                        <a:t>Luồng liên tục giữa các cặp user</a:t>
                      </a:r>
                    </a:p>
                  </a:txBody>
                  <a:tcPr marL="64008" marR="64008" marT="27432" marB="27432" anchor="ctr">
                    <a:solidFill>
                      <a:srgbClr val="FFFFFF"/>
                    </a:solidFill>
                  </a:tcPr>
                </a:tc>
                <a:tc>
                  <a:txBody>
                    <a:bodyPr/>
                    <a:lstStyle/>
                    <a:p>
                      <a:r>
                        <a:rPr sz="1000" b="0">
                          <a:solidFill>
                            <a:srgbClr val="1D1D1D"/>
                          </a:solidFill>
                          <a:latin typeface="Be Vietnam Pro"/>
                        </a:rPr>
                        <a:t>Từng alert có thời điểm phát, deadline, kích thước</a:t>
                      </a:r>
                    </a:p>
                  </a:txBody>
                  <a:tcPr marL="64008" marR="64008" marT="27432" marB="27432" anchor="ctr">
                    <a:solidFill>
                      <a:srgbClr val="E6E5FC"/>
                    </a:solidFill>
                  </a:tcPr>
                </a:tc>
                <a:extLst>
                  <a:ext uri="{0D108BD9-81ED-4DB2-BD59-A6C34878D82A}">
                    <a16:rowId xmlns:a16="http://schemas.microsoft.com/office/drawing/2014/main" val="10002"/>
                  </a:ext>
                </a:extLst>
              </a:tr>
              <a:tr h="393192">
                <a:tc>
                  <a:txBody>
                    <a:bodyPr/>
                    <a:lstStyle/>
                    <a:p>
                      <a:r>
                        <a:rPr sz="1000" b="1">
                          <a:solidFill>
                            <a:srgbClr val="0C0A9E"/>
                          </a:solidFill>
                          <a:latin typeface="IBM Plex Mono"/>
                        </a:rPr>
                        <a:t>Mạng</a:t>
                      </a:r>
                    </a:p>
                  </a:txBody>
                  <a:tcPr marL="64008" marR="64008" marT="27432" marB="27432" anchor="ctr">
                    <a:solidFill>
                      <a:srgbClr val="FFFFFF"/>
                    </a:solidFill>
                  </a:tcPr>
                </a:tc>
                <a:tc>
                  <a:txBody>
                    <a:bodyPr/>
                    <a:lstStyle/>
                    <a:p>
                      <a:r>
                        <a:rPr sz="1000" b="0">
                          <a:solidFill>
                            <a:srgbClr val="1D1D1D"/>
                          </a:solidFill>
                          <a:latin typeface="Be Vietnam Pro"/>
                        </a:rPr>
                        <a:t>Chỉ có UAV, trung chuyển hai chiều</a:t>
                      </a:r>
                    </a:p>
                  </a:txBody>
                  <a:tcPr marL="64008" marR="64008" marT="27432" marB="27432" anchor="ctr">
                    <a:solidFill>
                      <a:srgbClr val="FFFFFF"/>
                    </a:solidFill>
                  </a:tcPr>
                </a:tc>
                <a:tc>
                  <a:txBody>
                    <a:bodyPr/>
                    <a:lstStyle/>
                    <a:p>
                      <a:r>
                        <a:rPr sz="1000" b="0">
                          <a:solidFill>
                            <a:srgbClr val="1D1D1D"/>
                          </a:solidFill>
                          <a:latin typeface="Be Vietnam Pro"/>
                        </a:rPr>
                        <a:t>UAV + mạng relay mặt đất, dung lượng hữu hạn</a:t>
                      </a:r>
                    </a:p>
                  </a:txBody>
                  <a:tcPr marL="64008" marR="64008" marT="27432" marB="27432" anchor="ctr">
                    <a:solidFill>
                      <a:srgbClr val="E6E5FC"/>
                    </a:solidFill>
                  </a:tcPr>
                </a:tc>
                <a:extLst>
                  <a:ext uri="{0D108BD9-81ED-4DB2-BD59-A6C34878D82A}">
                    <a16:rowId xmlns:a16="http://schemas.microsoft.com/office/drawing/2014/main" val="10003"/>
                  </a:ext>
                </a:extLst>
              </a:tr>
              <a:tr h="393192">
                <a:tc>
                  <a:txBody>
                    <a:bodyPr/>
                    <a:lstStyle/>
                    <a:p>
                      <a:r>
                        <a:rPr sz="1000" b="1">
                          <a:solidFill>
                            <a:srgbClr val="0C0A9E"/>
                          </a:solidFill>
                          <a:latin typeface="IBM Plex Mono"/>
                        </a:rPr>
                        <a:t>Quyết định</a:t>
                      </a:r>
                    </a:p>
                  </a:txBody>
                  <a:tcPr marL="64008" marR="64008" marT="27432" marB="27432" anchor="ctr">
                    <a:solidFill>
                      <a:srgbClr val="FFFFFF"/>
                    </a:solidFill>
                  </a:tcPr>
                </a:tc>
                <a:tc>
                  <a:txBody>
                    <a:bodyPr/>
                    <a:lstStyle/>
                    <a:p>
                      <a:r>
                        <a:rPr sz="1000" b="0">
                          <a:solidFill>
                            <a:srgbClr val="1D1D1D"/>
                          </a:solidFill>
                          <a:latin typeface="Be Vietnam Pro"/>
                        </a:rPr>
                        <a:t>Chia thời gian slot (RSF), công suất phát, quỹ đạo</a:t>
                      </a:r>
                    </a:p>
                  </a:txBody>
                  <a:tcPr marL="64008" marR="64008" marT="27432" marB="27432" anchor="ctr">
                    <a:solidFill>
                      <a:srgbClr val="FFFFFF"/>
                    </a:solidFill>
                  </a:tcPr>
                </a:tc>
                <a:tc>
                  <a:txBody>
                    <a:bodyPr/>
                    <a:lstStyle/>
                    <a:p>
                      <a:r>
                        <a:rPr sz="1000" b="0">
                          <a:solidFill>
                            <a:srgbClr val="1D1D1D"/>
                          </a:solidFill>
                          <a:latin typeface="Be Vietnam Pro"/>
                        </a:rPr>
                        <a:t>Đường đi của từng alert, băng thông, quỹ đạo</a:t>
                      </a:r>
                    </a:p>
                  </a:txBody>
                  <a:tcPr marL="64008" marR="64008" marT="27432" marB="27432" anchor="ctr">
                    <a:solidFill>
                      <a:srgbClr val="E6E5FC"/>
                    </a:solidFill>
                  </a:tcPr>
                </a:tc>
                <a:extLst>
                  <a:ext uri="{0D108BD9-81ED-4DB2-BD59-A6C34878D82A}">
                    <a16:rowId xmlns:a16="http://schemas.microsoft.com/office/drawing/2014/main" val="10004"/>
                  </a:ext>
                </a:extLst>
              </a:tr>
              <a:tr h="393192">
                <a:tc>
                  <a:txBody>
                    <a:bodyPr/>
                    <a:lstStyle/>
                    <a:p>
                      <a:r>
                        <a:rPr sz="1000" b="1">
                          <a:solidFill>
                            <a:srgbClr val="0C0A9E"/>
                          </a:solidFill>
                          <a:latin typeface="IBM Plex Mono"/>
                        </a:rPr>
                        <a:t>Kênh</a:t>
                      </a:r>
                    </a:p>
                  </a:txBody>
                  <a:tcPr marL="64008" marR="64008" marT="27432" marB="27432" anchor="ctr">
                    <a:solidFill>
                      <a:srgbClr val="FFFFFF"/>
                    </a:solidFill>
                  </a:tcPr>
                </a:tc>
                <a:tc>
                  <a:txBody>
                    <a:bodyPr/>
                    <a:lstStyle/>
                    <a:p>
                      <a:r>
                        <a:rPr sz="1000" b="0">
                          <a:solidFill>
                            <a:srgbClr val="1D1D1D"/>
                          </a:solidFill>
                          <a:latin typeface="Be Vietnam Pro"/>
                        </a:rPr>
                        <a:t>PrLoS, coi kênh luôn ở mức trung bình</a:t>
                      </a:r>
                    </a:p>
                  </a:txBody>
                  <a:tcPr marL="64008" marR="64008" marT="27432" marB="27432" anchor="ctr">
                    <a:solidFill>
                      <a:srgbClr val="FFFFFF"/>
                    </a:solidFill>
                  </a:tcPr>
                </a:tc>
                <a:tc>
                  <a:txBody>
                    <a:bodyPr/>
                    <a:lstStyle/>
                    <a:p>
                      <a:r>
                        <a:rPr sz="1000" b="0">
                          <a:solidFill>
                            <a:srgbClr val="1D1D1D"/>
                          </a:solidFill>
                          <a:latin typeface="Be Vietnam Pro"/>
                        </a:rPr>
                        <a:t>PrLoS, mô phỏng trên nhiều kịch bản kênh ngẫu nhiên</a:t>
                      </a:r>
                    </a:p>
                  </a:txBody>
                  <a:tcPr marL="64008" marR="64008" marT="27432" marB="27432" anchor="ctr">
                    <a:solidFill>
                      <a:srgbClr val="E6E5FC"/>
                    </a:solidFill>
                  </a:tcPr>
                </a:tc>
                <a:extLst>
                  <a:ext uri="{0D108BD9-81ED-4DB2-BD59-A6C34878D82A}">
                    <a16:rowId xmlns:a16="http://schemas.microsoft.com/office/drawing/2014/main" val="10005"/>
                  </a:ext>
                </a:extLst>
              </a:tr>
              <a:tr h="393192">
                <a:tc>
                  <a:txBody>
                    <a:bodyPr/>
                    <a:lstStyle/>
                    <a:p>
                      <a:r>
                        <a:rPr sz="1000" b="1">
                          <a:solidFill>
                            <a:srgbClr val="0C0A9E"/>
                          </a:solidFill>
                          <a:latin typeface="IBM Plex Mono"/>
                        </a:rPr>
                        <a:t>Thuật toán</a:t>
                      </a:r>
                    </a:p>
                  </a:txBody>
                  <a:tcPr marL="64008" marR="64008" marT="27432" marB="27432" anchor="ctr">
                    <a:solidFill>
                      <a:srgbClr val="FFFFFF"/>
                    </a:solidFill>
                  </a:tcPr>
                </a:tc>
                <a:tc>
                  <a:txBody>
                    <a:bodyPr/>
                    <a:lstStyle/>
                    <a:p>
                      <a:r>
                        <a:rPr sz="1000" b="0">
                          <a:solidFill>
                            <a:srgbClr val="1D1D1D"/>
                          </a:solidFill>
                          <a:latin typeface="Be Vietnam Pro"/>
                        </a:rPr>
                        <a:t>BCD + SCA (xấp xỉ lồi)</a:t>
                      </a:r>
                    </a:p>
                  </a:txBody>
                  <a:tcPr marL="64008" marR="64008" marT="27432" marB="27432" anchor="ctr">
                    <a:solidFill>
                      <a:srgbClr val="FFFFFF"/>
                    </a:solidFill>
                  </a:tcPr>
                </a:tc>
                <a:tc>
                  <a:txBody>
                    <a:bodyPr/>
                    <a:lstStyle/>
                    <a:p>
                      <a:r>
                        <a:rPr sz="1000" b="0">
                          <a:solidFill>
                            <a:srgbClr val="1D1D1D"/>
                          </a:solidFill>
                          <a:latin typeface="Be Vietnam Pro"/>
                        </a:rPr>
                        <a:t>Local search theo từng khối (SBS)</a:t>
                      </a:r>
                    </a:p>
                  </a:txBody>
                  <a:tcPr marL="64008" marR="64008" marT="27432" marB="27432" anchor="ctr">
                    <a:solidFill>
                      <a:srgbClr val="E6E5FC"/>
                    </a:solidFill>
                  </a:tcPr>
                </a:tc>
                <a:extLst>
                  <a:ext uri="{0D108BD9-81ED-4DB2-BD59-A6C34878D82A}">
                    <a16:rowId xmlns:a16="http://schemas.microsoft.com/office/drawing/2014/main" val="10006"/>
                  </a:ext>
                </a:extLst>
              </a:tr>
              <a:tr h="393192">
                <a:tc>
                  <a:txBody>
                    <a:bodyPr/>
                    <a:lstStyle/>
                    <a:p>
                      <a:r>
                        <a:rPr sz="1000" b="1">
                          <a:solidFill>
                            <a:srgbClr val="0C0A9E"/>
                          </a:solidFill>
                          <a:latin typeface="IBM Plex Mono"/>
                        </a:rPr>
                        <a:t>Đánh giá</a:t>
                      </a:r>
                    </a:p>
                  </a:txBody>
                  <a:tcPr marL="64008" marR="64008" marT="27432" marB="27432" anchor="ctr">
                    <a:solidFill>
                      <a:srgbClr val="FFFFFF"/>
                    </a:solidFill>
                  </a:tcPr>
                </a:tc>
                <a:tc>
                  <a:txBody>
                    <a:bodyPr/>
                    <a:lstStyle/>
                    <a:p>
                      <a:r>
                        <a:rPr sz="1000" b="0">
                          <a:solidFill>
                            <a:srgbClr val="1D1D1D"/>
                          </a:solidFill>
                          <a:latin typeface="Be Vietnam Pro"/>
                        </a:rPr>
                        <a:t>Mô phỏng với vài cặp user</a:t>
                      </a:r>
                    </a:p>
                  </a:txBody>
                  <a:tcPr marL="64008" marR="64008" marT="27432" marB="27432" anchor="ctr">
                    <a:solidFill>
                      <a:srgbClr val="FFFFFF"/>
                    </a:solidFill>
                  </a:tcPr>
                </a:tc>
                <a:tc>
                  <a:txBody>
                    <a:bodyPr/>
                    <a:lstStyle/>
                    <a:p>
                      <a:r>
                        <a:rPr sz="1000" b="0">
                          <a:solidFill>
                            <a:srgbClr val="1D1D1D"/>
                          </a:solidFill>
                          <a:latin typeface="Be Vietnam Pro"/>
                        </a:rPr>
                        <a:t>10 topology, bản đồ thật RescueNet, kiểm định thống kê, cận trên LP</a:t>
                      </a:r>
                    </a:p>
                  </a:txBody>
                  <a:tcPr marL="64008" marR="64008" marT="27432" marB="27432" anchor="ctr">
                    <a:solidFill>
                      <a:srgbClr val="E6E5F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9">
          <a:extLst>
            <a:ext uri="{FF2B5EF4-FFF2-40B4-BE49-F238E27FC236}">
              <a16:creationId xmlns:a16="http://schemas.microsoft.com/office/drawing/2014/main" id="{9144F610-378B-2DD2-B018-77EF8CFE84FB}"/>
            </a:ext>
          </a:extLst>
        </p:cNvPr>
        <p:cNvGrpSpPr/>
        <p:nvPr/>
      </p:nvGrpSpPr>
      <p:grpSpPr>
        <a:xfrm>
          <a:off x="0" y="0"/>
          <a:ext cx="0" cy="0"/>
          <a:chOff x="0" y="0"/>
          <a:chExt cx="0" cy="0"/>
        </a:xfrm>
      </p:grpSpPr>
      <p:sp>
        <p:nvSpPr>
          <p:cNvPr id="1530" name="Google Shape;1530;p39">
            <a:extLst>
              <a:ext uri="{FF2B5EF4-FFF2-40B4-BE49-F238E27FC236}">
                <a16:creationId xmlns:a16="http://schemas.microsoft.com/office/drawing/2014/main" id="{D3A5D8CD-FCC1-B371-3781-03F0DB73B857}"/>
              </a:ext>
            </a:extLst>
          </p:cNvPr>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algn="l"/>
            <a:r>
              <a:rPr lang="vi-VN"/>
              <a:t>Bối cảnh bài toán</a:t>
            </a:r>
            <a:endParaRPr lang="en-US"/>
          </a:p>
        </p:txBody>
      </p:sp>
      <p:sp>
        <p:nvSpPr>
          <p:cNvPr id="1532" name="Rounded Rectangle 1531">
            <a:extLst>
              <a:ext uri="{FF2B5EF4-FFF2-40B4-BE49-F238E27FC236}">
                <a16:creationId xmlns:a16="http://schemas.microsoft.com/office/drawing/2014/main" id="{300727AA-BAD3-2ABB-3E16-CE940015539E}"/>
              </a:ext>
            </a:extLst>
          </p:cNvPr>
          <p:cNvSpPr/>
          <p:nvPr/>
        </p:nvSpPr>
        <p:spPr>
          <a:xfrm>
            <a:off x="566928" y="1161288"/>
            <a:ext cx="8229600" cy="3657600"/>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34" name="Picture 1533" descr="ours.png">
            <a:extLst>
              <a:ext uri="{FF2B5EF4-FFF2-40B4-BE49-F238E27FC236}">
                <a16:creationId xmlns:a16="http://schemas.microsoft.com/office/drawing/2014/main" id="{32CF782E-BE4A-C4B4-5663-D45481D8749A}"/>
              </a:ext>
            </a:extLst>
          </p:cNvPr>
          <p:cNvPicPr>
            <a:picLocks noChangeAspect="1"/>
          </p:cNvPicPr>
          <p:nvPr/>
        </p:nvPicPr>
        <p:blipFill>
          <a:blip r:embed="rId3"/>
          <a:stretch>
            <a:fillRect/>
          </a:stretch>
        </p:blipFill>
        <p:spPr>
          <a:xfrm>
            <a:off x="2194560" y="1280160"/>
            <a:ext cx="6457659" cy="3429000"/>
          </a:xfrm>
          <a:prstGeom prst="rect">
            <a:avLst/>
          </a:prstGeom>
        </p:spPr>
      </p:pic>
      <p:cxnSp>
        <p:nvCxnSpPr>
          <p:cNvPr id="2" name="Straight Arrow Connector 1">
            <a:extLst>
              <a:ext uri="{FF2B5EF4-FFF2-40B4-BE49-F238E27FC236}">
                <a16:creationId xmlns:a16="http://schemas.microsoft.com/office/drawing/2014/main" id="{8D8AECCC-1A7E-A84C-D564-05A9E0BB3789}"/>
              </a:ext>
            </a:extLst>
          </p:cNvPr>
          <p:cNvCxnSpPr/>
          <p:nvPr/>
        </p:nvCxnSpPr>
        <p:spPr>
          <a:xfrm>
            <a:off x="566928" y="2697480"/>
            <a:ext cx="1572768" cy="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Google Shape;1764;p45">
            <a:extLst>
              <a:ext uri="{FF2B5EF4-FFF2-40B4-BE49-F238E27FC236}">
                <a16:creationId xmlns:a16="http://schemas.microsoft.com/office/drawing/2014/main" id="{536330DB-32FC-BF33-11D9-26B79DBB1E42}"/>
              </a:ext>
            </a:extLst>
          </p:cNvPr>
          <p:cNvSpPr txBox="1">
            <a:spLocks/>
          </p:cNvSpPr>
          <p:nvPr/>
        </p:nvSpPr>
        <p:spPr>
          <a:xfrm>
            <a:off x="566928" y="2770632"/>
            <a:ext cx="1554480" cy="36576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sz="1300" b="1">
                <a:solidFill>
                  <a:srgbClr val="0C0A9E"/>
                </a:solidFill>
                <a:latin typeface="IBM Plex Mono"/>
                <a:ea typeface="IBM Plex Mono"/>
                <a:cs typeface="IBM Plex Mono"/>
                <a:sym typeface="IBM Plex Mono"/>
              </a:rPr>
              <a:t>Ground</a:t>
            </a:r>
          </a:p>
        </p:txBody>
      </p:sp>
      <p:sp>
        <p:nvSpPr>
          <p:cNvPr id="7" name="Google Shape;1760;p45">
            <a:extLst>
              <a:ext uri="{FF2B5EF4-FFF2-40B4-BE49-F238E27FC236}">
                <a16:creationId xmlns:a16="http://schemas.microsoft.com/office/drawing/2014/main" id="{752CEDF6-F113-A781-E9FA-7BDFDB0ED958}"/>
              </a:ext>
            </a:extLst>
          </p:cNvPr>
          <p:cNvSpPr txBox="1">
            <a:spLocks/>
          </p:cNvSpPr>
          <p:nvPr/>
        </p:nvSpPr>
        <p:spPr>
          <a:xfrm>
            <a:off x="566928" y="3118104"/>
            <a:ext cx="1554480" cy="10972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1pPr>
            <a:lvl2pPr marL="914400" marR="0" lvl="1"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2pPr>
            <a:lvl3pPr marL="1371600" marR="0" lvl="2"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3pPr>
            <a:lvl4pPr marL="1828800" marR="0" lvl="3"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4pPr>
            <a:lvl5pPr marL="2286000" marR="0" lvl="4"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5pPr>
            <a:lvl6pPr marL="2743200" marR="0" lvl="5"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6pPr>
            <a:lvl7pPr marL="3200400" marR="0" lvl="6"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7pPr>
            <a:lvl8pPr marL="3657600" marR="0" lvl="7"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8pPr>
            <a:lvl9pPr marL="4114800" marR="0" lvl="8"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9pPr>
          </a:lstStyle>
          <a:p>
            <a:pPr algn="l" marL="164592" indent="-164592">
              <a:spcAft>
                <a:spcPts val="3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Relay + backhaul</a:t>
            </a:r>
          </a:p>
          <a:p>
            <a:pPr algn="l" marL="164592" indent="-164592">
              <a:spcAft>
                <a:spcPts val="3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Vùng phát alert</a:t>
            </a:r>
          </a:p>
          <a:p>
            <a:pPr algn="l" marL="164592" indent="-164592">
              <a:spcAft>
                <a:spcPts val="3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Rescue center</a:t>
            </a:r>
          </a:p>
        </p:txBody>
      </p:sp>
      <p:sp>
        <p:nvSpPr>
          <p:cNvPr id="3" name="Google Shape;1764;p45">
            <a:extLst>
              <a:ext uri="{FF2B5EF4-FFF2-40B4-BE49-F238E27FC236}">
                <a16:creationId xmlns:a16="http://schemas.microsoft.com/office/drawing/2014/main" id="{0E27A9BC-C82D-33BD-EB21-0815720C7CFC}"/>
              </a:ext>
            </a:extLst>
          </p:cNvPr>
          <p:cNvSpPr txBox="1">
            <a:spLocks/>
          </p:cNvSpPr>
          <p:nvPr/>
        </p:nvSpPr>
        <p:spPr>
          <a:xfrm>
            <a:off x="567106" y="1234440"/>
            <a:ext cx="220410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sz="1300" b="1">
                <a:solidFill>
                  <a:srgbClr val="0C0A9E"/>
                </a:solidFill>
                <a:latin typeface="IBM Plex Mono"/>
                <a:ea typeface="IBM Plex Mono"/>
                <a:cs typeface="IBM Plex Mono"/>
                <a:sym typeface="IBM Plex Mono"/>
              </a:rPr>
              <a:t>Air</a:t>
            </a:r>
          </a:p>
        </p:txBody>
      </p:sp>
      <p:sp>
        <p:nvSpPr>
          <p:cNvPr id="4" name="Google Shape;1760;p45">
            <a:extLst>
              <a:ext uri="{FF2B5EF4-FFF2-40B4-BE49-F238E27FC236}">
                <a16:creationId xmlns:a16="http://schemas.microsoft.com/office/drawing/2014/main" id="{6D3E747A-3534-4ED6-867F-C30F17F4EFDF}"/>
              </a:ext>
            </a:extLst>
          </p:cNvPr>
          <p:cNvSpPr txBox="1">
            <a:spLocks/>
          </p:cNvSpPr>
          <p:nvPr/>
        </p:nvSpPr>
        <p:spPr>
          <a:xfrm>
            <a:off x="566928" y="1527048"/>
            <a:ext cx="1554480" cy="10972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1pPr>
            <a:lvl2pPr marL="914400" marR="0" lvl="1"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2pPr>
            <a:lvl3pPr marL="1371600" marR="0" lvl="2"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3pPr>
            <a:lvl4pPr marL="1828800" marR="0" lvl="3"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4pPr>
            <a:lvl5pPr marL="2286000" marR="0" lvl="4"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5pPr>
            <a:lvl6pPr marL="2743200" marR="0" lvl="5"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6pPr>
            <a:lvl7pPr marL="3200400" marR="0" lvl="6"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7pPr>
            <a:lvl8pPr marL="3657600" marR="0" lvl="7"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8pPr>
            <a:lvl9pPr marL="4114800" marR="0" lvl="8"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9pPr>
          </a:lstStyle>
          <a:p>
            <a:pPr algn="l" marL="164592" indent="-164592">
              <a:spcAft>
                <a:spcPts val="3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Quỹ đạo UAV</a:t>
            </a:r>
          </a:p>
          <a:p>
            <a:pPr algn="l" marL="164592" indent="-164592">
              <a:spcAft>
                <a:spcPts val="3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Chia băng thông</a:t>
            </a:r>
          </a:p>
          <a:p>
            <a:pPr algn="l" marL="164592" indent="-164592">
              <a:spcAft>
                <a:spcPts val="3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Kênh LoS/NLoS</a:t>
            </a:r>
          </a:p>
        </p:txBody>
      </p:sp>
    </p:spTree>
    <p:extLst>
      <p:ext uri="{BB962C8B-B14F-4D97-AF65-F5344CB8AC3E}">
        <p14:creationId xmlns:p14="http://schemas.microsoft.com/office/powerpoint/2010/main" val="1820384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1"/>
        <p:cNvGrpSpPr/>
        <p:nvPr/>
      </p:nvGrpSpPr>
      <p:grpSpPr>
        <a:xfrm>
          <a:off x="0" y="0"/>
          <a:ext cx="0" cy="0"/>
          <a:chOff x="0" y="0"/>
          <a:chExt cx="0" cy="0"/>
        </a:xfrm>
      </p:grpSpPr>
      <p:sp>
        <p:nvSpPr>
          <p:cNvPr id="1732" name="Google Shape;1732;p43"/>
          <p:cNvSpPr txBox="1">
            <a:spLocks noGrp="1"/>
          </p:cNvSpPr>
          <p:nvPr>
            <p:ph type="subTitle" idx="2"/>
          </p:nvPr>
        </p:nvSpPr>
        <p:spPr>
          <a:xfrm>
            <a:off x="5237152" y="1935218"/>
            <a:ext cx="2926080" cy="6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UAV nhận dữ liệu, lưu lại rồi mới gửi tiếp. Chưa nhận thì chưa gửi được</a:t>
            </a:r>
          </a:p>
        </p:txBody>
      </p:sp>
      <p:sp>
        <p:nvSpPr>
          <p:cNvPr id="1733" name="Google Shape;1733;p43"/>
          <p:cNvSpPr txBox="1">
            <a:spLocks noGrp="1"/>
          </p:cNvSpPr>
          <p:nvPr>
            <p:ph type="subTitle" idx="8"/>
          </p:nvPr>
        </p:nvSpPr>
        <p:spPr>
          <a:xfrm>
            <a:off x="5237150" y="3231981"/>
            <a:ext cx="292608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400"/>
              <a:t>Tối ưu luân phiên (BCD)</a:t>
            </a:r>
          </a:p>
        </p:txBody>
      </p:sp>
      <p:sp>
        <p:nvSpPr>
          <p:cNvPr id="1734" name="Google Shape;1734;p43"/>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Kế thừa từ paper gốc</a:t>
            </a:r>
          </a:p>
        </p:txBody>
      </p:sp>
      <p:sp>
        <p:nvSpPr>
          <p:cNvPr id="1735" name="Google Shape;1735;p43"/>
          <p:cNvSpPr txBox="1">
            <a:spLocks noGrp="1"/>
          </p:cNvSpPr>
          <p:nvPr>
            <p:ph type="subTitle" idx="5"/>
          </p:nvPr>
        </p:nvSpPr>
        <p:spPr>
          <a:xfrm>
            <a:off x="1804750" y="1605775"/>
            <a:ext cx="2926080" cy="405600"/>
          </a:xfrm>
          <a:prstGeom prst="rect">
            <a:avLst/>
          </a:prstGeom>
        </p:spPr>
        <p:txBody>
          <a:bodyPr spcFirstLastPara="1" wrap="square" lIns="91425" tIns="91425" rIns="91425" bIns="91425" anchor="b" anchorCtr="0">
            <a:noAutofit/>
          </a:bodyPr>
          <a:lstStyle/>
          <a:p>
            <a:pPr marL="0" indent="0"/>
            <a:r>
              <a:rPr lang="vi-VN" sz="1400"/>
              <a:t>Kênh truyền PrLoS</a:t>
            </a:r>
          </a:p>
        </p:txBody>
      </p:sp>
      <p:sp>
        <p:nvSpPr>
          <p:cNvPr id="1736" name="Google Shape;1736;p43"/>
          <p:cNvSpPr txBox="1">
            <a:spLocks noGrp="1"/>
          </p:cNvSpPr>
          <p:nvPr>
            <p:ph type="subTitle" idx="6"/>
          </p:nvPr>
        </p:nvSpPr>
        <p:spPr>
          <a:xfrm>
            <a:off x="5237150" y="1605775"/>
            <a:ext cx="292608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400"/>
              <a:t>UAV có buffer</a:t>
            </a:r>
          </a:p>
        </p:txBody>
      </p:sp>
      <p:sp>
        <p:nvSpPr>
          <p:cNvPr id="1737" name="Google Shape;1737;p43"/>
          <p:cNvSpPr txBox="1">
            <a:spLocks noGrp="1"/>
          </p:cNvSpPr>
          <p:nvPr>
            <p:ph type="subTitle" idx="3"/>
          </p:nvPr>
        </p:nvSpPr>
        <p:spPr>
          <a:xfrm>
            <a:off x="1804750" y="3561374"/>
            <a:ext cx="2926080" cy="6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Độ cao cố định, tốc độ có giới hạn, điểm xuất phát và kết thúc cho trước</a:t>
            </a:r>
          </a:p>
        </p:txBody>
      </p:sp>
      <p:sp>
        <p:nvSpPr>
          <p:cNvPr id="1738" name="Google Shape;1738;p43"/>
          <p:cNvSpPr txBox="1">
            <a:spLocks noGrp="1"/>
          </p:cNvSpPr>
          <p:nvPr>
            <p:ph type="subTitle" idx="4"/>
          </p:nvPr>
        </p:nvSpPr>
        <p:spPr>
          <a:xfrm>
            <a:off x="5237152" y="3561374"/>
            <a:ext cx="2926080" cy="685800"/>
          </a:xfrm>
          <a:prstGeom prst="rect">
            <a:avLst/>
          </a:prstGeom>
        </p:spPr>
        <p:txBody>
          <a:bodyPr spcFirstLastPara="1" wrap="square" lIns="91425" tIns="91425" rIns="91425" bIns="91425" anchor="t" anchorCtr="0">
            <a:noAutofit/>
          </a:bodyPr>
          <a:lstStyle/>
          <a:p>
            <a:pPr marL="0" indent="0"/>
            <a:r>
              <a:rPr lang="vi-VN"/>
              <a:t>Chia biến thành các khối (path, băng thông, quỹ đạo, repair), tối ưu lần lượt từng khối</a:t>
            </a:r>
          </a:p>
        </p:txBody>
      </p:sp>
      <p:sp>
        <p:nvSpPr>
          <p:cNvPr id="1739" name="Google Shape;1739;p43"/>
          <p:cNvSpPr txBox="1">
            <a:spLocks noGrp="1"/>
          </p:cNvSpPr>
          <p:nvPr>
            <p:ph type="subTitle" idx="7"/>
          </p:nvPr>
        </p:nvSpPr>
        <p:spPr>
          <a:xfrm>
            <a:off x="1804750" y="3231981"/>
            <a:ext cx="2926080" cy="405600"/>
          </a:xfrm>
          <a:prstGeom prst="rect">
            <a:avLst/>
          </a:prstGeom>
        </p:spPr>
        <p:txBody>
          <a:bodyPr spcFirstLastPara="1" wrap="square" lIns="91425" tIns="91425" rIns="91425" bIns="91425" anchor="b" anchorCtr="0">
            <a:noAutofit/>
          </a:bodyPr>
          <a:lstStyle/>
          <a:p>
            <a:pPr marL="0" indent="0"/>
            <a:r>
              <a:rPr lang="vi-VN" sz="1400"/>
              <a:t>Mô hình bay</a:t>
            </a:r>
          </a:p>
        </p:txBody>
      </p:sp>
      <p:sp>
        <p:nvSpPr>
          <p:cNvPr id="1740" name="Google Shape;1740;p43"/>
          <p:cNvSpPr txBox="1">
            <a:spLocks noGrp="1"/>
          </p:cNvSpPr>
          <p:nvPr>
            <p:ph type="subTitle" idx="1"/>
          </p:nvPr>
        </p:nvSpPr>
        <p:spPr>
          <a:xfrm>
            <a:off x="1804750" y="1935218"/>
            <a:ext cx="2926080" cy="6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Khả năng sóng bị nhà cửa che phụ thuộc góc nhìn lên UAV. Dùng lại công thức và tham số của paper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sp>
        <p:nvSpPr>
          <p:cNvPr id="1759" name="Google Shape;1759;p45"/>
          <p:cNvSpPr txBox="1">
            <a:spLocks noGrp="1"/>
          </p:cNvSpPr>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Đếm số alert đến đúng hạn, thay cho max-min rate</a:t>
            </a:r>
          </a:p>
        </p:txBody>
      </p:sp>
      <p:sp>
        <p:nvSpPr>
          <p:cNvPr id="1760" name="Google Shape;1760;p45"/>
          <p:cNvSpPr txBox="1">
            <a:spLocks noGrp="1"/>
          </p:cNvSpPr>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Mạng relay có dung lượng hữu hạn, có cạnh bị hỏng</a:t>
            </a:r>
          </a:p>
        </p:txBody>
      </p:sp>
      <p:sp>
        <p:nvSpPr>
          <p:cNvPr id="1761" name="Google Shape;1761;p45"/>
          <p:cNvSpPr txBox="1">
            <a:spLocks noGrp="1"/>
          </p:cNvSpPr>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Lý thuyết</a:t>
            </a:r>
          </a:p>
        </p:txBody>
      </p:sp>
      <p:sp>
        <p:nvSpPr>
          <p:cNvPr id="1762" name="Google Shape;1762;p45"/>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Cải tiến và thay đổi</a:t>
            </a:r>
          </a:p>
        </p:txBody>
      </p:sp>
      <p:sp>
        <p:nvSpPr>
          <p:cNvPr id="1763" name="Google Shape;1763;p45"/>
          <p:cNvSpPr txBox="1">
            <a:spLocks noGrp="1"/>
          </p:cNvSpPr>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Mục tiêu mới</a:t>
            </a:r>
          </a:p>
        </p:txBody>
      </p:sp>
      <p:sp>
        <p:nvSpPr>
          <p:cNvPr id="1764" name="Google Shape;1764;p45"/>
          <p:cNvSpPr txBox="1">
            <a:spLocks noGrp="1"/>
          </p:cNvSpPr>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Mạng mặt đất</a:t>
            </a:r>
          </a:p>
        </p:txBody>
      </p:sp>
      <p:sp>
        <p:nvSpPr>
          <p:cNvPr id="1765" name="Google Shape;1765;p45"/>
          <p:cNvSpPr txBox="1">
            <a:spLocks noGrp="1"/>
          </p:cNvSpPr>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Thay SCA bằng local search, chấm mỗi lời giải bằng simulation</a:t>
            </a:r>
          </a:p>
        </p:txBody>
      </p:sp>
      <p:sp>
        <p:nvSpPr>
          <p:cNvPr id="1766" name="Google Shape;1766;p45"/>
          <p:cNvSpPr txBox="1">
            <a:spLocks noGrp="1"/>
          </p:cNvSpPr>
          <p:nvPr>
            <p:ph type="subTitle" idx="4"/>
          </p:nvPr>
        </p:nvSpPr>
        <p:spPr>
          <a:xfrm>
            <a:off x="3469872" y="3859222"/>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Chứng minh NP-hard, xây cận trên LP để đo khoảng cách tới tối ưu</a:t>
            </a:r>
          </a:p>
        </p:txBody>
      </p:sp>
      <p:sp>
        <p:nvSpPr>
          <p:cNvPr id="1767" name="Google Shape;1767;p45"/>
          <p:cNvSpPr txBox="1">
            <a:spLocks noGrp="1"/>
          </p:cNvSpPr>
          <p:nvPr>
            <p:ph type="subTitle" idx="5"/>
          </p:nvPr>
        </p:nvSpPr>
        <p:spPr>
          <a:xfrm>
            <a:off x="6219751" y="2113784"/>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Mỗi alert có thời điểm phát, deadline và kích thước riêng</a:t>
            </a:r>
          </a:p>
        </p:txBody>
      </p:sp>
      <p:sp>
        <p:nvSpPr>
          <p:cNvPr id="1768" name="Google Shape;1768;p45"/>
          <p:cNvSpPr txBox="1">
            <a:spLocks noGrp="1"/>
          </p:cNvSpPr>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So với Tran-IA, thử bỏ từng khối để xem khối nào có ích</a:t>
            </a:r>
          </a:p>
        </p:txBody>
      </p:sp>
      <p:sp>
        <p:nvSpPr>
          <p:cNvPr id="1769" name="Google Shape;1769;p45"/>
          <p:cNvSpPr txBox="1">
            <a:spLocks noGrp="1"/>
          </p:cNvSpPr>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Thuật toán</a:t>
            </a:r>
          </a:p>
        </p:txBody>
      </p:sp>
      <p:sp>
        <p:nvSpPr>
          <p:cNvPr id="1770" name="Google Shape;1770;p45"/>
          <p:cNvSpPr txBox="1">
            <a:spLocks noGrp="1"/>
          </p:cNvSpPr>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Alert có deadline</a:t>
            </a:r>
          </a:p>
        </p:txBody>
      </p:sp>
      <p:sp>
        <p:nvSpPr>
          <p:cNvPr id="1771" name="Google Shape;1771;p45"/>
          <p:cNvSpPr txBox="1">
            <a:spLocks noGrp="1"/>
          </p:cNvSpPr>
          <p:nvPr>
            <p:ph type="subTitle" idx="15"/>
          </p:nvPr>
        </p:nvSpPr>
        <p:spPr>
          <a:xfrm>
            <a:off x="6219752" y="3533123"/>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500"/>
              <a:t>Đánh giá</a:t>
            </a:r>
          </a:p>
        </p:txBody>
      </p:sp>
      <p:grpSp>
        <p:nvGrpSpPr>
          <p:cNvPr id="1772" name="Google Shape;1772;p45"/>
          <p:cNvGrpSpPr/>
          <p:nvPr/>
        </p:nvGrpSpPr>
        <p:grpSpPr>
          <a:xfrm>
            <a:off x="838692" y="3020954"/>
            <a:ext cx="299492" cy="340983"/>
            <a:chOff x="742339" y="1436604"/>
            <a:chExt cx="418402" cy="476366"/>
          </a:xfrm>
        </p:grpSpPr>
        <p:sp>
          <p:nvSpPr>
            <p:cNvPr id="1773" name="Google Shape;1773;p45"/>
            <p:cNvSpPr/>
            <p:nvPr/>
          </p:nvSpPr>
          <p:spPr>
            <a:xfrm>
              <a:off x="836180" y="1697442"/>
              <a:ext cx="98615" cy="215528"/>
            </a:xfrm>
            <a:custGeom>
              <a:avLst/>
              <a:gdLst/>
              <a:ahLst/>
              <a:cxnLst/>
              <a:rect l="l" t="t" r="r" b="b"/>
              <a:pathLst>
                <a:path w="2603" h="5689" extrusionOk="0">
                  <a:moveTo>
                    <a:pt x="205" y="0"/>
                  </a:moveTo>
                  <a:cubicBezTo>
                    <a:pt x="168" y="0"/>
                    <a:pt x="130" y="12"/>
                    <a:pt x="98" y="36"/>
                  </a:cubicBezTo>
                  <a:cubicBezTo>
                    <a:pt x="17" y="96"/>
                    <a:pt x="0" y="209"/>
                    <a:pt x="61" y="290"/>
                  </a:cubicBezTo>
                  <a:lnTo>
                    <a:pt x="931" y="1459"/>
                  </a:lnTo>
                  <a:lnTo>
                    <a:pt x="931" y="4503"/>
                  </a:lnTo>
                  <a:cubicBezTo>
                    <a:pt x="931" y="4560"/>
                    <a:pt x="957" y="4613"/>
                    <a:pt x="1004" y="4649"/>
                  </a:cubicBezTo>
                  <a:lnTo>
                    <a:pt x="2310" y="5650"/>
                  </a:lnTo>
                  <a:cubicBezTo>
                    <a:pt x="2342" y="5675"/>
                    <a:pt x="2382" y="5689"/>
                    <a:pt x="2421" y="5689"/>
                  </a:cubicBezTo>
                  <a:cubicBezTo>
                    <a:pt x="2522" y="5689"/>
                    <a:pt x="2603" y="5607"/>
                    <a:pt x="2603" y="5507"/>
                  </a:cubicBezTo>
                  <a:lnTo>
                    <a:pt x="2603" y="4240"/>
                  </a:lnTo>
                  <a:cubicBezTo>
                    <a:pt x="2602" y="4141"/>
                    <a:pt x="2522" y="4060"/>
                    <a:pt x="2423" y="4060"/>
                  </a:cubicBezTo>
                  <a:cubicBezTo>
                    <a:pt x="2323" y="4060"/>
                    <a:pt x="2241" y="4141"/>
                    <a:pt x="2241" y="4240"/>
                  </a:cubicBezTo>
                  <a:lnTo>
                    <a:pt x="2241" y="5137"/>
                  </a:lnTo>
                  <a:lnTo>
                    <a:pt x="1292" y="4408"/>
                  </a:lnTo>
                  <a:lnTo>
                    <a:pt x="1292" y="1398"/>
                  </a:lnTo>
                  <a:cubicBezTo>
                    <a:pt x="1292" y="1359"/>
                    <a:pt x="1278" y="1322"/>
                    <a:pt x="1256" y="1291"/>
                  </a:cubicBezTo>
                  <a:lnTo>
                    <a:pt x="350" y="73"/>
                  </a:lnTo>
                  <a:cubicBezTo>
                    <a:pt x="314" y="26"/>
                    <a:pt x="260" y="0"/>
                    <a:pt x="2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5"/>
            <p:cNvSpPr/>
            <p:nvPr/>
          </p:nvSpPr>
          <p:spPr>
            <a:xfrm>
              <a:off x="818487" y="1437664"/>
              <a:ext cx="25686" cy="55502"/>
            </a:xfrm>
            <a:custGeom>
              <a:avLst/>
              <a:gdLst/>
              <a:ahLst/>
              <a:cxnLst/>
              <a:rect l="l" t="t" r="r" b="b"/>
              <a:pathLst>
                <a:path w="678" h="1465" extrusionOk="0">
                  <a:moveTo>
                    <a:pt x="196" y="1"/>
                  </a:moveTo>
                  <a:cubicBezTo>
                    <a:pt x="181" y="1"/>
                    <a:pt x="168" y="6"/>
                    <a:pt x="158" y="16"/>
                  </a:cubicBezTo>
                  <a:cubicBezTo>
                    <a:pt x="0" y="172"/>
                    <a:pt x="109" y="362"/>
                    <a:pt x="261" y="362"/>
                  </a:cubicBezTo>
                  <a:lnTo>
                    <a:pt x="316" y="362"/>
                  </a:lnTo>
                  <a:lnTo>
                    <a:pt x="316" y="1350"/>
                  </a:lnTo>
                  <a:cubicBezTo>
                    <a:pt x="316" y="1363"/>
                    <a:pt x="322" y="1378"/>
                    <a:pt x="332" y="1387"/>
                  </a:cubicBezTo>
                  <a:cubicBezTo>
                    <a:pt x="386" y="1442"/>
                    <a:pt x="444" y="1465"/>
                    <a:pt x="497" y="1465"/>
                  </a:cubicBezTo>
                  <a:cubicBezTo>
                    <a:pt x="597" y="1465"/>
                    <a:pt x="678" y="1384"/>
                    <a:pt x="678" y="1285"/>
                  </a:cubicBezTo>
                  <a:lnTo>
                    <a:pt x="678" y="54"/>
                  </a:lnTo>
                  <a:cubicBezTo>
                    <a:pt x="678" y="26"/>
                    <a:pt x="655" y="1"/>
                    <a:pt x="6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5"/>
            <p:cNvSpPr/>
            <p:nvPr/>
          </p:nvSpPr>
          <p:spPr>
            <a:xfrm>
              <a:off x="875807" y="1510934"/>
              <a:ext cx="22996" cy="55502"/>
            </a:xfrm>
            <a:custGeom>
              <a:avLst/>
              <a:gdLst/>
              <a:ahLst/>
              <a:cxnLst/>
              <a:rect l="l" t="t" r="r" b="b"/>
              <a:pathLst>
                <a:path w="607" h="1465" extrusionOk="0">
                  <a:moveTo>
                    <a:pt x="198" y="0"/>
                  </a:moveTo>
                  <a:cubicBezTo>
                    <a:pt x="102" y="0"/>
                    <a:pt x="17" y="70"/>
                    <a:pt x="10" y="164"/>
                  </a:cubicBezTo>
                  <a:cubicBezTo>
                    <a:pt x="0" y="271"/>
                    <a:pt x="84" y="360"/>
                    <a:pt x="189" y="360"/>
                  </a:cubicBezTo>
                  <a:lnTo>
                    <a:pt x="246" y="360"/>
                  </a:lnTo>
                  <a:lnTo>
                    <a:pt x="246" y="1283"/>
                  </a:lnTo>
                  <a:cubicBezTo>
                    <a:pt x="246" y="1385"/>
                    <a:pt x="326" y="1464"/>
                    <a:pt x="426" y="1464"/>
                  </a:cubicBezTo>
                  <a:cubicBezTo>
                    <a:pt x="525" y="1464"/>
                    <a:pt x="607" y="1383"/>
                    <a:pt x="607" y="1283"/>
                  </a:cubicBezTo>
                  <a:lnTo>
                    <a:pt x="607" y="183"/>
                  </a:lnTo>
                  <a:cubicBezTo>
                    <a:pt x="607" y="82"/>
                    <a:pt x="524" y="0"/>
                    <a:pt x="4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5"/>
            <p:cNvSpPr/>
            <p:nvPr/>
          </p:nvSpPr>
          <p:spPr>
            <a:xfrm>
              <a:off x="909108" y="1437664"/>
              <a:ext cx="25686" cy="55502"/>
            </a:xfrm>
            <a:custGeom>
              <a:avLst/>
              <a:gdLst/>
              <a:ahLst/>
              <a:cxnLst/>
              <a:rect l="l" t="t" r="r" b="b"/>
              <a:pathLst>
                <a:path w="678" h="1465" extrusionOk="0">
                  <a:moveTo>
                    <a:pt x="196" y="1"/>
                  </a:moveTo>
                  <a:cubicBezTo>
                    <a:pt x="181" y="1"/>
                    <a:pt x="168" y="6"/>
                    <a:pt x="158" y="16"/>
                  </a:cubicBezTo>
                  <a:cubicBezTo>
                    <a:pt x="0" y="172"/>
                    <a:pt x="108" y="362"/>
                    <a:pt x="260" y="362"/>
                  </a:cubicBezTo>
                  <a:lnTo>
                    <a:pt x="316" y="362"/>
                  </a:lnTo>
                  <a:lnTo>
                    <a:pt x="316" y="1350"/>
                  </a:lnTo>
                  <a:cubicBezTo>
                    <a:pt x="316" y="1363"/>
                    <a:pt x="322" y="1378"/>
                    <a:pt x="332" y="1387"/>
                  </a:cubicBezTo>
                  <a:cubicBezTo>
                    <a:pt x="386" y="1442"/>
                    <a:pt x="444" y="1464"/>
                    <a:pt x="497" y="1464"/>
                  </a:cubicBezTo>
                  <a:cubicBezTo>
                    <a:pt x="597" y="1464"/>
                    <a:pt x="678" y="1384"/>
                    <a:pt x="678" y="1284"/>
                  </a:cubicBezTo>
                  <a:lnTo>
                    <a:pt x="678" y="54"/>
                  </a:lnTo>
                  <a:cubicBezTo>
                    <a:pt x="678" y="25"/>
                    <a:pt x="655" y="1"/>
                    <a:pt x="6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5"/>
            <p:cNvSpPr/>
            <p:nvPr/>
          </p:nvSpPr>
          <p:spPr>
            <a:xfrm>
              <a:off x="772116" y="1436604"/>
              <a:ext cx="38529" cy="58078"/>
            </a:xfrm>
            <a:custGeom>
              <a:avLst/>
              <a:gdLst/>
              <a:ahLst/>
              <a:cxnLst/>
              <a:rect l="l" t="t" r="r" b="b"/>
              <a:pathLst>
                <a:path w="1017" h="1533" extrusionOk="0">
                  <a:moveTo>
                    <a:pt x="510" y="349"/>
                  </a:moveTo>
                  <a:cubicBezTo>
                    <a:pt x="591" y="349"/>
                    <a:pt x="657" y="415"/>
                    <a:pt x="657" y="496"/>
                  </a:cubicBezTo>
                  <a:lnTo>
                    <a:pt x="657" y="1035"/>
                  </a:lnTo>
                  <a:cubicBezTo>
                    <a:pt x="657" y="1116"/>
                    <a:pt x="592" y="1183"/>
                    <a:pt x="510" y="1183"/>
                  </a:cubicBezTo>
                  <a:cubicBezTo>
                    <a:pt x="493" y="1183"/>
                    <a:pt x="477" y="1180"/>
                    <a:pt x="459" y="1174"/>
                  </a:cubicBezTo>
                  <a:cubicBezTo>
                    <a:pt x="401" y="1155"/>
                    <a:pt x="361" y="1097"/>
                    <a:pt x="361" y="1034"/>
                  </a:cubicBezTo>
                  <a:lnTo>
                    <a:pt x="361" y="498"/>
                  </a:lnTo>
                  <a:cubicBezTo>
                    <a:pt x="361" y="435"/>
                    <a:pt x="399" y="377"/>
                    <a:pt x="459" y="357"/>
                  </a:cubicBezTo>
                  <a:cubicBezTo>
                    <a:pt x="476" y="352"/>
                    <a:pt x="493" y="349"/>
                    <a:pt x="510" y="349"/>
                  </a:cubicBezTo>
                  <a:close/>
                  <a:moveTo>
                    <a:pt x="510" y="1"/>
                  </a:moveTo>
                  <a:cubicBezTo>
                    <a:pt x="502" y="1"/>
                    <a:pt x="494" y="1"/>
                    <a:pt x="486" y="1"/>
                  </a:cubicBezTo>
                  <a:cubicBezTo>
                    <a:pt x="212" y="14"/>
                    <a:pt x="1" y="250"/>
                    <a:pt x="1" y="525"/>
                  </a:cubicBezTo>
                  <a:lnTo>
                    <a:pt x="1" y="1027"/>
                  </a:lnTo>
                  <a:cubicBezTo>
                    <a:pt x="1" y="1305"/>
                    <a:pt x="229" y="1533"/>
                    <a:pt x="509" y="1533"/>
                  </a:cubicBezTo>
                  <a:cubicBezTo>
                    <a:pt x="789" y="1533"/>
                    <a:pt x="1017" y="1305"/>
                    <a:pt x="1017" y="1027"/>
                  </a:cubicBezTo>
                  <a:lnTo>
                    <a:pt x="1017" y="508"/>
                  </a:lnTo>
                  <a:cubicBezTo>
                    <a:pt x="1017" y="228"/>
                    <a:pt x="789" y="1"/>
                    <a:pt x="5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5"/>
            <p:cNvSpPr/>
            <p:nvPr/>
          </p:nvSpPr>
          <p:spPr>
            <a:xfrm>
              <a:off x="772116" y="1510025"/>
              <a:ext cx="38529" cy="58078"/>
            </a:xfrm>
            <a:custGeom>
              <a:avLst/>
              <a:gdLst/>
              <a:ahLst/>
              <a:cxnLst/>
              <a:rect l="l" t="t" r="r" b="b"/>
              <a:pathLst>
                <a:path w="1017" h="1533" extrusionOk="0">
                  <a:moveTo>
                    <a:pt x="510" y="349"/>
                  </a:moveTo>
                  <a:cubicBezTo>
                    <a:pt x="591" y="349"/>
                    <a:pt x="657" y="415"/>
                    <a:pt x="657" y="495"/>
                  </a:cubicBezTo>
                  <a:lnTo>
                    <a:pt x="657" y="1035"/>
                  </a:lnTo>
                  <a:cubicBezTo>
                    <a:pt x="657" y="1116"/>
                    <a:pt x="590" y="1181"/>
                    <a:pt x="509" y="1181"/>
                  </a:cubicBezTo>
                  <a:cubicBezTo>
                    <a:pt x="428" y="1181"/>
                    <a:pt x="361" y="1116"/>
                    <a:pt x="361" y="1035"/>
                  </a:cubicBezTo>
                  <a:lnTo>
                    <a:pt x="361" y="497"/>
                  </a:lnTo>
                  <a:cubicBezTo>
                    <a:pt x="361" y="435"/>
                    <a:pt x="399" y="377"/>
                    <a:pt x="459" y="357"/>
                  </a:cubicBezTo>
                  <a:cubicBezTo>
                    <a:pt x="476" y="351"/>
                    <a:pt x="493" y="349"/>
                    <a:pt x="510" y="349"/>
                  </a:cubicBezTo>
                  <a:close/>
                  <a:moveTo>
                    <a:pt x="510" y="0"/>
                  </a:moveTo>
                  <a:cubicBezTo>
                    <a:pt x="502" y="0"/>
                    <a:pt x="494" y="1"/>
                    <a:pt x="486" y="1"/>
                  </a:cubicBezTo>
                  <a:cubicBezTo>
                    <a:pt x="212" y="14"/>
                    <a:pt x="1" y="249"/>
                    <a:pt x="1" y="525"/>
                  </a:cubicBezTo>
                  <a:lnTo>
                    <a:pt x="1" y="1026"/>
                  </a:lnTo>
                  <a:cubicBezTo>
                    <a:pt x="1" y="1305"/>
                    <a:pt x="229" y="1532"/>
                    <a:pt x="509" y="1532"/>
                  </a:cubicBezTo>
                  <a:cubicBezTo>
                    <a:pt x="789" y="1532"/>
                    <a:pt x="1017" y="1305"/>
                    <a:pt x="1017" y="1026"/>
                  </a:cubicBezTo>
                  <a:lnTo>
                    <a:pt x="1017" y="508"/>
                  </a:lnTo>
                  <a:cubicBezTo>
                    <a:pt x="1017" y="228"/>
                    <a:pt x="789" y="0"/>
                    <a:pt x="5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5"/>
            <p:cNvSpPr/>
            <p:nvPr/>
          </p:nvSpPr>
          <p:spPr>
            <a:xfrm>
              <a:off x="825496" y="1509987"/>
              <a:ext cx="38491" cy="58078"/>
            </a:xfrm>
            <a:custGeom>
              <a:avLst/>
              <a:gdLst/>
              <a:ahLst/>
              <a:cxnLst/>
              <a:rect l="l" t="t" r="r" b="b"/>
              <a:pathLst>
                <a:path w="1016" h="1533" extrusionOk="0">
                  <a:moveTo>
                    <a:pt x="509" y="350"/>
                  </a:moveTo>
                  <a:cubicBezTo>
                    <a:pt x="590" y="350"/>
                    <a:pt x="655" y="416"/>
                    <a:pt x="655" y="496"/>
                  </a:cubicBezTo>
                  <a:lnTo>
                    <a:pt x="655" y="1036"/>
                  </a:lnTo>
                  <a:cubicBezTo>
                    <a:pt x="655" y="1117"/>
                    <a:pt x="590" y="1182"/>
                    <a:pt x="507" y="1182"/>
                  </a:cubicBezTo>
                  <a:cubicBezTo>
                    <a:pt x="427" y="1182"/>
                    <a:pt x="360" y="1117"/>
                    <a:pt x="360" y="1036"/>
                  </a:cubicBezTo>
                  <a:lnTo>
                    <a:pt x="360" y="498"/>
                  </a:lnTo>
                  <a:lnTo>
                    <a:pt x="361" y="498"/>
                  </a:lnTo>
                  <a:cubicBezTo>
                    <a:pt x="361" y="436"/>
                    <a:pt x="398" y="378"/>
                    <a:pt x="459" y="358"/>
                  </a:cubicBezTo>
                  <a:cubicBezTo>
                    <a:pt x="476" y="352"/>
                    <a:pt x="493" y="350"/>
                    <a:pt x="509" y="350"/>
                  </a:cubicBezTo>
                  <a:close/>
                  <a:moveTo>
                    <a:pt x="507" y="1"/>
                  </a:moveTo>
                  <a:cubicBezTo>
                    <a:pt x="229" y="1"/>
                    <a:pt x="0" y="228"/>
                    <a:pt x="0" y="507"/>
                  </a:cubicBezTo>
                  <a:lnTo>
                    <a:pt x="0" y="1008"/>
                  </a:lnTo>
                  <a:cubicBezTo>
                    <a:pt x="0" y="1282"/>
                    <a:pt x="210" y="1520"/>
                    <a:pt x="484" y="1532"/>
                  </a:cubicBezTo>
                  <a:cubicBezTo>
                    <a:pt x="492" y="1533"/>
                    <a:pt x="500" y="1533"/>
                    <a:pt x="509" y="1533"/>
                  </a:cubicBezTo>
                  <a:cubicBezTo>
                    <a:pt x="788" y="1533"/>
                    <a:pt x="1015" y="1305"/>
                    <a:pt x="1015" y="1025"/>
                  </a:cubicBezTo>
                  <a:lnTo>
                    <a:pt x="1015" y="507"/>
                  </a:lnTo>
                  <a:cubicBezTo>
                    <a:pt x="1015" y="227"/>
                    <a:pt x="788"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5"/>
            <p:cNvSpPr/>
            <p:nvPr/>
          </p:nvSpPr>
          <p:spPr>
            <a:xfrm>
              <a:off x="913655" y="1509987"/>
              <a:ext cx="38529" cy="58078"/>
            </a:xfrm>
            <a:custGeom>
              <a:avLst/>
              <a:gdLst/>
              <a:ahLst/>
              <a:cxnLst/>
              <a:rect l="l" t="t" r="r" b="b"/>
              <a:pathLst>
                <a:path w="1017" h="1533" extrusionOk="0">
                  <a:moveTo>
                    <a:pt x="506" y="350"/>
                  </a:moveTo>
                  <a:cubicBezTo>
                    <a:pt x="589" y="350"/>
                    <a:pt x="655" y="416"/>
                    <a:pt x="655" y="496"/>
                  </a:cubicBezTo>
                  <a:lnTo>
                    <a:pt x="655" y="1036"/>
                  </a:lnTo>
                  <a:cubicBezTo>
                    <a:pt x="655" y="1117"/>
                    <a:pt x="589" y="1182"/>
                    <a:pt x="506" y="1182"/>
                  </a:cubicBezTo>
                  <a:cubicBezTo>
                    <a:pt x="426" y="1182"/>
                    <a:pt x="359" y="1117"/>
                    <a:pt x="359" y="1036"/>
                  </a:cubicBezTo>
                  <a:lnTo>
                    <a:pt x="359" y="496"/>
                  </a:lnTo>
                  <a:cubicBezTo>
                    <a:pt x="359" y="416"/>
                    <a:pt x="426" y="350"/>
                    <a:pt x="506" y="350"/>
                  </a:cubicBezTo>
                  <a:close/>
                  <a:moveTo>
                    <a:pt x="508" y="0"/>
                  </a:moveTo>
                  <a:cubicBezTo>
                    <a:pt x="228" y="0"/>
                    <a:pt x="1" y="229"/>
                    <a:pt x="1" y="507"/>
                  </a:cubicBezTo>
                  <a:lnTo>
                    <a:pt x="1" y="1025"/>
                  </a:lnTo>
                  <a:cubicBezTo>
                    <a:pt x="1" y="1306"/>
                    <a:pt x="228" y="1532"/>
                    <a:pt x="509" y="1532"/>
                  </a:cubicBezTo>
                  <a:cubicBezTo>
                    <a:pt x="788" y="1532"/>
                    <a:pt x="1017" y="1305"/>
                    <a:pt x="1017" y="1025"/>
                  </a:cubicBezTo>
                  <a:lnTo>
                    <a:pt x="1017" y="525"/>
                  </a:lnTo>
                  <a:cubicBezTo>
                    <a:pt x="1017" y="250"/>
                    <a:pt x="807" y="14"/>
                    <a:pt x="532" y="1"/>
                  </a:cubicBezTo>
                  <a:cubicBezTo>
                    <a:pt x="524" y="1"/>
                    <a:pt x="516" y="0"/>
                    <a:pt x="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5"/>
            <p:cNvSpPr/>
            <p:nvPr/>
          </p:nvSpPr>
          <p:spPr>
            <a:xfrm>
              <a:off x="860275" y="1436604"/>
              <a:ext cx="38529" cy="58078"/>
            </a:xfrm>
            <a:custGeom>
              <a:avLst/>
              <a:gdLst/>
              <a:ahLst/>
              <a:cxnLst/>
              <a:rect l="l" t="t" r="r" b="b"/>
              <a:pathLst>
                <a:path w="1017" h="1533" extrusionOk="0">
                  <a:moveTo>
                    <a:pt x="509" y="349"/>
                  </a:moveTo>
                  <a:cubicBezTo>
                    <a:pt x="590" y="349"/>
                    <a:pt x="657" y="415"/>
                    <a:pt x="657" y="496"/>
                  </a:cubicBezTo>
                  <a:lnTo>
                    <a:pt x="657" y="1035"/>
                  </a:lnTo>
                  <a:cubicBezTo>
                    <a:pt x="657" y="1117"/>
                    <a:pt x="591" y="1182"/>
                    <a:pt x="509" y="1182"/>
                  </a:cubicBezTo>
                  <a:cubicBezTo>
                    <a:pt x="427" y="1182"/>
                    <a:pt x="360" y="1117"/>
                    <a:pt x="360" y="1035"/>
                  </a:cubicBezTo>
                  <a:lnTo>
                    <a:pt x="360" y="496"/>
                  </a:lnTo>
                  <a:cubicBezTo>
                    <a:pt x="360" y="415"/>
                    <a:pt x="426" y="349"/>
                    <a:pt x="509" y="349"/>
                  </a:cubicBezTo>
                  <a:close/>
                  <a:moveTo>
                    <a:pt x="509" y="1"/>
                  </a:moveTo>
                  <a:cubicBezTo>
                    <a:pt x="230" y="1"/>
                    <a:pt x="2" y="228"/>
                    <a:pt x="2" y="508"/>
                  </a:cubicBezTo>
                  <a:lnTo>
                    <a:pt x="2" y="1027"/>
                  </a:lnTo>
                  <a:cubicBezTo>
                    <a:pt x="1" y="1305"/>
                    <a:pt x="228" y="1533"/>
                    <a:pt x="509" y="1533"/>
                  </a:cubicBezTo>
                  <a:cubicBezTo>
                    <a:pt x="789" y="1533"/>
                    <a:pt x="1017" y="1305"/>
                    <a:pt x="1017" y="1027"/>
                  </a:cubicBezTo>
                  <a:lnTo>
                    <a:pt x="1017" y="525"/>
                  </a:lnTo>
                  <a:cubicBezTo>
                    <a:pt x="1017" y="252"/>
                    <a:pt x="807" y="14"/>
                    <a:pt x="533" y="1"/>
                  </a:cubicBezTo>
                  <a:cubicBezTo>
                    <a:pt x="525" y="1"/>
                    <a:pt x="517" y="1"/>
                    <a:pt x="5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5"/>
            <p:cNvSpPr/>
            <p:nvPr/>
          </p:nvSpPr>
          <p:spPr>
            <a:xfrm>
              <a:off x="954608" y="1436604"/>
              <a:ext cx="38529" cy="58078"/>
            </a:xfrm>
            <a:custGeom>
              <a:avLst/>
              <a:gdLst/>
              <a:ahLst/>
              <a:cxnLst/>
              <a:rect l="l" t="t" r="r" b="b"/>
              <a:pathLst>
                <a:path w="1017" h="1533" extrusionOk="0">
                  <a:moveTo>
                    <a:pt x="508" y="349"/>
                  </a:moveTo>
                  <a:cubicBezTo>
                    <a:pt x="590" y="349"/>
                    <a:pt x="656" y="415"/>
                    <a:pt x="656" y="496"/>
                  </a:cubicBezTo>
                  <a:lnTo>
                    <a:pt x="656" y="1035"/>
                  </a:lnTo>
                  <a:cubicBezTo>
                    <a:pt x="656" y="1117"/>
                    <a:pt x="591" y="1182"/>
                    <a:pt x="508" y="1182"/>
                  </a:cubicBezTo>
                  <a:cubicBezTo>
                    <a:pt x="427" y="1182"/>
                    <a:pt x="361" y="1117"/>
                    <a:pt x="361" y="1035"/>
                  </a:cubicBezTo>
                  <a:lnTo>
                    <a:pt x="361" y="496"/>
                  </a:lnTo>
                  <a:cubicBezTo>
                    <a:pt x="361" y="415"/>
                    <a:pt x="426" y="349"/>
                    <a:pt x="508" y="349"/>
                  </a:cubicBezTo>
                  <a:close/>
                  <a:moveTo>
                    <a:pt x="509" y="1"/>
                  </a:moveTo>
                  <a:cubicBezTo>
                    <a:pt x="229" y="1"/>
                    <a:pt x="2" y="228"/>
                    <a:pt x="2" y="508"/>
                  </a:cubicBezTo>
                  <a:lnTo>
                    <a:pt x="2" y="1027"/>
                  </a:lnTo>
                  <a:cubicBezTo>
                    <a:pt x="0" y="1305"/>
                    <a:pt x="229" y="1533"/>
                    <a:pt x="508" y="1533"/>
                  </a:cubicBezTo>
                  <a:cubicBezTo>
                    <a:pt x="789" y="1533"/>
                    <a:pt x="1016" y="1305"/>
                    <a:pt x="1016" y="1027"/>
                  </a:cubicBezTo>
                  <a:lnTo>
                    <a:pt x="1016" y="525"/>
                  </a:lnTo>
                  <a:cubicBezTo>
                    <a:pt x="1016" y="252"/>
                    <a:pt x="807" y="14"/>
                    <a:pt x="534" y="1"/>
                  </a:cubicBezTo>
                  <a:cubicBezTo>
                    <a:pt x="525" y="1"/>
                    <a:pt x="517" y="1"/>
                    <a:pt x="5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5"/>
            <p:cNvSpPr/>
            <p:nvPr/>
          </p:nvSpPr>
          <p:spPr>
            <a:xfrm>
              <a:off x="742339" y="1479944"/>
              <a:ext cx="418402" cy="352937"/>
            </a:xfrm>
            <a:custGeom>
              <a:avLst/>
              <a:gdLst/>
              <a:ahLst/>
              <a:cxnLst/>
              <a:rect l="l" t="t" r="r" b="b"/>
              <a:pathLst>
                <a:path w="11044" h="9316" extrusionOk="0">
                  <a:moveTo>
                    <a:pt x="5751" y="2983"/>
                  </a:moveTo>
                  <a:cubicBezTo>
                    <a:pt x="5763" y="3147"/>
                    <a:pt x="5901" y="3277"/>
                    <a:pt x="6070" y="3277"/>
                  </a:cubicBezTo>
                  <a:lnTo>
                    <a:pt x="6428" y="3277"/>
                  </a:lnTo>
                  <a:cubicBezTo>
                    <a:pt x="6470" y="3414"/>
                    <a:pt x="6525" y="3548"/>
                    <a:pt x="6593" y="3675"/>
                  </a:cubicBezTo>
                  <a:lnTo>
                    <a:pt x="6531" y="3735"/>
                  </a:lnTo>
                  <a:lnTo>
                    <a:pt x="729" y="3735"/>
                  </a:lnTo>
                  <a:cubicBezTo>
                    <a:pt x="527" y="3735"/>
                    <a:pt x="362" y="3570"/>
                    <a:pt x="362" y="3367"/>
                  </a:cubicBezTo>
                  <a:lnTo>
                    <a:pt x="362" y="3116"/>
                  </a:lnTo>
                  <a:cubicBezTo>
                    <a:pt x="362" y="3043"/>
                    <a:pt x="422" y="2983"/>
                    <a:pt x="496" y="2983"/>
                  </a:cubicBezTo>
                  <a:close/>
                  <a:moveTo>
                    <a:pt x="8620" y="360"/>
                  </a:moveTo>
                  <a:lnTo>
                    <a:pt x="8620" y="869"/>
                  </a:lnTo>
                  <a:cubicBezTo>
                    <a:pt x="8620" y="955"/>
                    <a:pt x="8681" y="1031"/>
                    <a:pt x="8764" y="1048"/>
                  </a:cubicBezTo>
                  <a:cubicBezTo>
                    <a:pt x="8956" y="1090"/>
                    <a:pt x="9139" y="1165"/>
                    <a:pt x="9307" y="1267"/>
                  </a:cubicBezTo>
                  <a:cubicBezTo>
                    <a:pt x="9337" y="1286"/>
                    <a:pt x="9370" y="1294"/>
                    <a:pt x="9404" y="1294"/>
                  </a:cubicBezTo>
                  <a:cubicBezTo>
                    <a:pt x="9451" y="1294"/>
                    <a:pt x="9499" y="1277"/>
                    <a:pt x="9534" y="1242"/>
                  </a:cubicBezTo>
                  <a:lnTo>
                    <a:pt x="9843" y="942"/>
                  </a:lnTo>
                  <a:lnTo>
                    <a:pt x="10176" y="1266"/>
                  </a:lnTo>
                  <a:lnTo>
                    <a:pt x="9867" y="1567"/>
                  </a:lnTo>
                  <a:cubicBezTo>
                    <a:pt x="9808" y="1626"/>
                    <a:pt x="9797" y="1718"/>
                    <a:pt x="9843" y="1788"/>
                  </a:cubicBezTo>
                  <a:cubicBezTo>
                    <a:pt x="9949" y="1952"/>
                    <a:pt x="10024" y="2130"/>
                    <a:pt x="10069" y="2319"/>
                  </a:cubicBezTo>
                  <a:cubicBezTo>
                    <a:pt x="10087" y="2400"/>
                    <a:pt x="10163" y="2457"/>
                    <a:pt x="10247" y="2457"/>
                  </a:cubicBezTo>
                  <a:lnTo>
                    <a:pt x="10684" y="2457"/>
                  </a:lnTo>
                  <a:lnTo>
                    <a:pt x="10682" y="2916"/>
                  </a:lnTo>
                  <a:lnTo>
                    <a:pt x="10200" y="2916"/>
                  </a:lnTo>
                  <a:cubicBezTo>
                    <a:pt x="10116" y="2916"/>
                    <a:pt x="10044" y="2975"/>
                    <a:pt x="10027" y="3058"/>
                  </a:cubicBezTo>
                  <a:cubicBezTo>
                    <a:pt x="9986" y="3252"/>
                    <a:pt x="9911" y="3435"/>
                    <a:pt x="9808" y="3603"/>
                  </a:cubicBezTo>
                  <a:cubicBezTo>
                    <a:pt x="9762" y="3675"/>
                    <a:pt x="9773" y="3769"/>
                    <a:pt x="9833" y="3829"/>
                  </a:cubicBezTo>
                  <a:lnTo>
                    <a:pt x="10133" y="4138"/>
                  </a:lnTo>
                  <a:lnTo>
                    <a:pt x="9809" y="4472"/>
                  </a:lnTo>
                  <a:lnTo>
                    <a:pt x="9513" y="4169"/>
                  </a:lnTo>
                  <a:cubicBezTo>
                    <a:pt x="9477" y="4132"/>
                    <a:pt x="9430" y="4113"/>
                    <a:pt x="9382" y="4113"/>
                  </a:cubicBezTo>
                  <a:cubicBezTo>
                    <a:pt x="9347" y="4113"/>
                    <a:pt x="9312" y="4123"/>
                    <a:pt x="9281" y="4142"/>
                  </a:cubicBezTo>
                  <a:cubicBezTo>
                    <a:pt x="9120" y="4246"/>
                    <a:pt x="8945" y="4320"/>
                    <a:pt x="8760" y="4363"/>
                  </a:cubicBezTo>
                  <a:cubicBezTo>
                    <a:pt x="8677" y="4383"/>
                    <a:pt x="8619" y="4458"/>
                    <a:pt x="8619" y="4543"/>
                  </a:cubicBezTo>
                  <a:lnTo>
                    <a:pt x="8619" y="4980"/>
                  </a:lnTo>
                  <a:lnTo>
                    <a:pt x="8160" y="4980"/>
                  </a:lnTo>
                  <a:lnTo>
                    <a:pt x="8160" y="4606"/>
                  </a:lnTo>
                  <a:cubicBezTo>
                    <a:pt x="8160" y="4520"/>
                    <a:pt x="8101" y="4446"/>
                    <a:pt x="8019" y="4426"/>
                  </a:cubicBezTo>
                  <a:cubicBezTo>
                    <a:pt x="7822" y="4382"/>
                    <a:pt x="7634" y="4303"/>
                    <a:pt x="7463" y="4191"/>
                  </a:cubicBezTo>
                  <a:cubicBezTo>
                    <a:pt x="7432" y="4170"/>
                    <a:pt x="7398" y="4161"/>
                    <a:pt x="7364" y="4161"/>
                  </a:cubicBezTo>
                  <a:cubicBezTo>
                    <a:pt x="7316" y="4161"/>
                    <a:pt x="7268" y="4180"/>
                    <a:pt x="7232" y="4217"/>
                  </a:cubicBezTo>
                  <a:lnTo>
                    <a:pt x="6918" y="4539"/>
                  </a:lnTo>
                  <a:lnTo>
                    <a:pt x="6579" y="4191"/>
                  </a:lnTo>
                  <a:lnTo>
                    <a:pt x="6893" y="3869"/>
                  </a:lnTo>
                  <a:cubicBezTo>
                    <a:pt x="6955" y="3806"/>
                    <a:pt x="6965" y="3708"/>
                    <a:pt x="6918" y="3631"/>
                  </a:cubicBezTo>
                  <a:cubicBezTo>
                    <a:pt x="6809" y="3456"/>
                    <a:pt x="6733" y="3267"/>
                    <a:pt x="6689" y="3064"/>
                  </a:cubicBezTo>
                  <a:cubicBezTo>
                    <a:pt x="6670" y="2977"/>
                    <a:pt x="6594" y="2915"/>
                    <a:pt x="6508" y="2915"/>
                  </a:cubicBezTo>
                  <a:lnTo>
                    <a:pt x="6064" y="2915"/>
                  </a:lnTo>
                  <a:lnTo>
                    <a:pt x="6064" y="2424"/>
                  </a:lnTo>
                  <a:lnTo>
                    <a:pt x="6579" y="2424"/>
                  </a:lnTo>
                  <a:cubicBezTo>
                    <a:pt x="6662" y="2424"/>
                    <a:pt x="6735" y="2365"/>
                    <a:pt x="6751" y="2281"/>
                  </a:cubicBezTo>
                  <a:cubicBezTo>
                    <a:pt x="6793" y="2087"/>
                    <a:pt x="6869" y="1904"/>
                    <a:pt x="6971" y="1737"/>
                  </a:cubicBezTo>
                  <a:cubicBezTo>
                    <a:pt x="7016" y="1664"/>
                    <a:pt x="7006" y="1570"/>
                    <a:pt x="6947" y="1509"/>
                  </a:cubicBezTo>
                  <a:lnTo>
                    <a:pt x="6646" y="1200"/>
                  </a:lnTo>
                  <a:lnTo>
                    <a:pt x="6970" y="866"/>
                  </a:lnTo>
                  <a:lnTo>
                    <a:pt x="7272" y="1176"/>
                  </a:lnTo>
                  <a:cubicBezTo>
                    <a:pt x="7306" y="1211"/>
                    <a:pt x="7351" y="1229"/>
                    <a:pt x="7397" y="1229"/>
                  </a:cubicBezTo>
                  <a:cubicBezTo>
                    <a:pt x="7430" y="1229"/>
                    <a:pt x="7463" y="1220"/>
                    <a:pt x="7493" y="1200"/>
                  </a:cubicBezTo>
                  <a:cubicBezTo>
                    <a:pt x="7656" y="1095"/>
                    <a:pt x="7834" y="1019"/>
                    <a:pt x="8023" y="975"/>
                  </a:cubicBezTo>
                  <a:cubicBezTo>
                    <a:pt x="8105" y="957"/>
                    <a:pt x="8162" y="882"/>
                    <a:pt x="8162" y="797"/>
                  </a:cubicBezTo>
                  <a:lnTo>
                    <a:pt x="8162" y="360"/>
                  </a:lnTo>
                  <a:close/>
                  <a:moveTo>
                    <a:pt x="8080" y="0"/>
                  </a:moveTo>
                  <a:cubicBezTo>
                    <a:pt x="7907" y="0"/>
                    <a:pt x="7765" y="141"/>
                    <a:pt x="7765" y="315"/>
                  </a:cubicBezTo>
                  <a:lnTo>
                    <a:pt x="7765" y="663"/>
                  </a:lnTo>
                  <a:cubicBezTo>
                    <a:pt x="7630" y="703"/>
                    <a:pt x="7499" y="757"/>
                    <a:pt x="7375" y="825"/>
                  </a:cubicBezTo>
                  <a:lnTo>
                    <a:pt x="7133" y="582"/>
                  </a:lnTo>
                  <a:cubicBezTo>
                    <a:pt x="7091" y="540"/>
                    <a:pt x="7039" y="508"/>
                    <a:pt x="6982" y="495"/>
                  </a:cubicBezTo>
                  <a:cubicBezTo>
                    <a:pt x="6956" y="489"/>
                    <a:pt x="6931" y="486"/>
                    <a:pt x="6906" y="486"/>
                  </a:cubicBezTo>
                  <a:cubicBezTo>
                    <a:pt x="6823" y="486"/>
                    <a:pt x="6744" y="519"/>
                    <a:pt x="6685" y="577"/>
                  </a:cubicBezTo>
                  <a:lnTo>
                    <a:pt x="6278" y="985"/>
                  </a:lnTo>
                  <a:cubicBezTo>
                    <a:pt x="6219" y="1043"/>
                    <a:pt x="6186" y="1122"/>
                    <a:pt x="6186" y="1206"/>
                  </a:cubicBezTo>
                  <a:cubicBezTo>
                    <a:pt x="6186" y="1289"/>
                    <a:pt x="6219" y="1368"/>
                    <a:pt x="6278" y="1428"/>
                  </a:cubicBezTo>
                  <a:lnTo>
                    <a:pt x="6524" y="1674"/>
                  </a:lnTo>
                  <a:cubicBezTo>
                    <a:pt x="6457" y="1797"/>
                    <a:pt x="6403" y="1928"/>
                    <a:pt x="6362" y="2063"/>
                  </a:cubicBezTo>
                  <a:lnTo>
                    <a:pt x="6016" y="2063"/>
                  </a:lnTo>
                  <a:cubicBezTo>
                    <a:pt x="5842" y="2063"/>
                    <a:pt x="5701" y="2205"/>
                    <a:pt x="5701" y="2379"/>
                  </a:cubicBezTo>
                  <a:lnTo>
                    <a:pt x="5701" y="2622"/>
                  </a:lnTo>
                  <a:lnTo>
                    <a:pt x="502" y="2622"/>
                  </a:lnTo>
                  <a:cubicBezTo>
                    <a:pt x="225" y="2622"/>
                    <a:pt x="0" y="2845"/>
                    <a:pt x="0" y="3122"/>
                  </a:cubicBezTo>
                  <a:lnTo>
                    <a:pt x="0" y="3360"/>
                  </a:lnTo>
                  <a:cubicBezTo>
                    <a:pt x="0" y="3766"/>
                    <a:pt x="330" y="4095"/>
                    <a:pt x="736" y="4095"/>
                  </a:cubicBezTo>
                  <a:lnTo>
                    <a:pt x="1106" y="4095"/>
                  </a:lnTo>
                  <a:lnTo>
                    <a:pt x="2019" y="5335"/>
                  </a:lnTo>
                  <a:cubicBezTo>
                    <a:pt x="2055" y="5383"/>
                    <a:pt x="2111" y="5409"/>
                    <a:pt x="2167" y="5409"/>
                  </a:cubicBezTo>
                  <a:cubicBezTo>
                    <a:pt x="2205" y="5409"/>
                    <a:pt x="2244" y="5397"/>
                    <a:pt x="2277" y="5373"/>
                  </a:cubicBezTo>
                  <a:cubicBezTo>
                    <a:pt x="2358" y="5313"/>
                    <a:pt x="2376" y="5198"/>
                    <a:pt x="2315" y="5116"/>
                  </a:cubicBezTo>
                  <a:lnTo>
                    <a:pt x="1566" y="4096"/>
                  </a:lnTo>
                  <a:lnTo>
                    <a:pt x="6183" y="4096"/>
                  </a:lnTo>
                  <a:cubicBezTo>
                    <a:pt x="6169" y="4205"/>
                    <a:pt x="6199" y="4304"/>
                    <a:pt x="6272" y="4377"/>
                  </a:cubicBezTo>
                  <a:lnTo>
                    <a:pt x="6549" y="4654"/>
                  </a:lnTo>
                  <a:lnTo>
                    <a:pt x="4769" y="7047"/>
                  </a:lnTo>
                  <a:cubicBezTo>
                    <a:pt x="4745" y="7078"/>
                    <a:pt x="4732" y="7117"/>
                    <a:pt x="4751" y="7157"/>
                  </a:cubicBezTo>
                  <a:lnTo>
                    <a:pt x="4751" y="9132"/>
                  </a:lnTo>
                  <a:cubicBezTo>
                    <a:pt x="4733" y="9234"/>
                    <a:pt x="4814" y="9315"/>
                    <a:pt x="4916" y="9315"/>
                  </a:cubicBezTo>
                  <a:cubicBezTo>
                    <a:pt x="5018" y="9315"/>
                    <a:pt x="5111" y="9132"/>
                    <a:pt x="5111" y="9132"/>
                  </a:cubicBezTo>
                  <a:lnTo>
                    <a:pt x="5111" y="7225"/>
                  </a:lnTo>
                  <a:lnTo>
                    <a:pt x="6846" y="4881"/>
                  </a:lnTo>
                  <a:cubicBezTo>
                    <a:pt x="6866" y="4885"/>
                    <a:pt x="6886" y="4887"/>
                    <a:pt x="6906" y="4887"/>
                  </a:cubicBezTo>
                  <a:cubicBezTo>
                    <a:pt x="6986" y="4887"/>
                    <a:pt x="7067" y="4856"/>
                    <a:pt x="7127" y="4794"/>
                  </a:cubicBezTo>
                  <a:lnTo>
                    <a:pt x="7373" y="4547"/>
                  </a:lnTo>
                  <a:cubicBezTo>
                    <a:pt x="7498" y="4615"/>
                    <a:pt x="7629" y="4669"/>
                    <a:pt x="7765" y="4709"/>
                  </a:cubicBezTo>
                  <a:lnTo>
                    <a:pt x="7765" y="5060"/>
                  </a:lnTo>
                  <a:cubicBezTo>
                    <a:pt x="7765" y="5235"/>
                    <a:pt x="7907" y="5376"/>
                    <a:pt x="8080" y="5376"/>
                  </a:cubicBezTo>
                  <a:lnTo>
                    <a:pt x="8662" y="5376"/>
                  </a:lnTo>
                  <a:cubicBezTo>
                    <a:pt x="8836" y="5376"/>
                    <a:pt x="8977" y="5235"/>
                    <a:pt x="8977" y="5060"/>
                  </a:cubicBezTo>
                  <a:lnTo>
                    <a:pt x="8977" y="4714"/>
                  </a:lnTo>
                  <a:cubicBezTo>
                    <a:pt x="9112" y="4673"/>
                    <a:pt x="9243" y="4620"/>
                    <a:pt x="9368" y="4552"/>
                  </a:cubicBezTo>
                  <a:lnTo>
                    <a:pt x="9613" y="4797"/>
                  </a:lnTo>
                  <a:cubicBezTo>
                    <a:pt x="9674" y="4859"/>
                    <a:pt x="9754" y="4890"/>
                    <a:pt x="9835" y="4890"/>
                  </a:cubicBezTo>
                  <a:cubicBezTo>
                    <a:pt x="9916" y="4890"/>
                    <a:pt x="9997" y="4859"/>
                    <a:pt x="10059" y="4797"/>
                  </a:cubicBezTo>
                  <a:lnTo>
                    <a:pt x="10464" y="4392"/>
                  </a:lnTo>
                  <a:cubicBezTo>
                    <a:pt x="10586" y="4269"/>
                    <a:pt x="10586" y="4070"/>
                    <a:pt x="10464" y="3949"/>
                  </a:cubicBezTo>
                  <a:lnTo>
                    <a:pt x="10218" y="3702"/>
                  </a:lnTo>
                  <a:cubicBezTo>
                    <a:pt x="10285" y="3578"/>
                    <a:pt x="10340" y="3447"/>
                    <a:pt x="10380" y="3312"/>
                  </a:cubicBezTo>
                  <a:lnTo>
                    <a:pt x="10728" y="3312"/>
                  </a:lnTo>
                  <a:cubicBezTo>
                    <a:pt x="10902" y="3312"/>
                    <a:pt x="11043" y="3170"/>
                    <a:pt x="11043" y="2997"/>
                  </a:cubicBezTo>
                  <a:lnTo>
                    <a:pt x="11043" y="2380"/>
                  </a:lnTo>
                  <a:cubicBezTo>
                    <a:pt x="11042" y="2204"/>
                    <a:pt x="10902" y="2063"/>
                    <a:pt x="10729" y="2063"/>
                  </a:cubicBezTo>
                  <a:lnTo>
                    <a:pt x="10380" y="2063"/>
                  </a:lnTo>
                  <a:cubicBezTo>
                    <a:pt x="10341" y="1928"/>
                    <a:pt x="10286" y="1797"/>
                    <a:pt x="10218" y="1674"/>
                  </a:cubicBezTo>
                  <a:lnTo>
                    <a:pt x="10464" y="1427"/>
                  </a:lnTo>
                  <a:cubicBezTo>
                    <a:pt x="10523" y="1368"/>
                    <a:pt x="10556" y="1289"/>
                    <a:pt x="10556" y="1206"/>
                  </a:cubicBezTo>
                  <a:cubicBezTo>
                    <a:pt x="10556" y="1122"/>
                    <a:pt x="10523" y="1043"/>
                    <a:pt x="10464" y="985"/>
                  </a:cubicBezTo>
                  <a:lnTo>
                    <a:pt x="10059" y="579"/>
                  </a:lnTo>
                  <a:cubicBezTo>
                    <a:pt x="9997" y="517"/>
                    <a:pt x="9916" y="487"/>
                    <a:pt x="9836" y="487"/>
                  </a:cubicBezTo>
                  <a:cubicBezTo>
                    <a:pt x="9755" y="487"/>
                    <a:pt x="9675" y="517"/>
                    <a:pt x="9613" y="579"/>
                  </a:cubicBezTo>
                  <a:lnTo>
                    <a:pt x="9368" y="823"/>
                  </a:lnTo>
                  <a:cubicBezTo>
                    <a:pt x="9243" y="757"/>
                    <a:pt x="9112" y="702"/>
                    <a:pt x="8977" y="661"/>
                  </a:cubicBezTo>
                  <a:lnTo>
                    <a:pt x="8977" y="315"/>
                  </a:lnTo>
                  <a:cubicBezTo>
                    <a:pt x="8977" y="141"/>
                    <a:pt x="8836" y="0"/>
                    <a:pt x="86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5"/>
            <p:cNvSpPr/>
            <p:nvPr/>
          </p:nvSpPr>
          <p:spPr>
            <a:xfrm>
              <a:off x="1008367" y="1531051"/>
              <a:ext cx="105169" cy="101039"/>
            </a:xfrm>
            <a:custGeom>
              <a:avLst/>
              <a:gdLst/>
              <a:ahLst/>
              <a:cxnLst/>
              <a:rect l="l" t="t" r="r" b="b"/>
              <a:pathLst>
                <a:path w="2776" h="2667" extrusionOk="0">
                  <a:moveTo>
                    <a:pt x="1005" y="1631"/>
                  </a:moveTo>
                  <a:cubicBezTo>
                    <a:pt x="1078" y="1631"/>
                    <a:pt x="1138" y="1692"/>
                    <a:pt x="1138" y="1765"/>
                  </a:cubicBezTo>
                  <a:lnTo>
                    <a:pt x="1138" y="2008"/>
                  </a:lnTo>
                  <a:lnTo>
                    <a:pt x="1137" y="2008"/>
                  </a:lnTo>
                  <a:cubicBezTo>
                    <a:pt x="1137" y="2095"/>
                    <a:pt x="1107" y="2174"/>
                    <a:pt x="1056" y="2237"/>
                  </a:cubicBezTo>
                  <a:cubicBezTo>
                    <a:pt x="913" y="2191"/>
                    <a:pt x="782" y="2111"/>
                    <a:pt x="672" y="2000"/>
                  </a:cubicBezTo>
                  <a:cubicBezTo>
                    <a:pt x="566" y="1894"/>
                    <a:pt x="488" y="1768"/>
                    <a:pt x="442" y="1631"/>
                  </a:cubicBezTo>
                  <a:close/>
                  <a:moveTo>
                    <a:pt x="1344" y="361"/>
                  </a:moveTo>
                  <a:cubicBezTo>
                    <a:pt x="1605" y="361"/>
                    <a:pt x="1865" y="471"/>
                    <a:pt x="2044" y="660"/>
                  </a:cubicBezTo>
                  <a:cubicBezTo>
                    <a:pt x="2305" y="930"/>
                    <a:pt x="2375" y="1322"/>
                    <a:pt x="2233" y="1682"/>
                  </a:cubicBezTo>
                  <a:cubicBezTo>
                    <a:pt x="2096" y="2024"/>
                    <a:pt x="1798" y="2252"/>
                    <a:pt x="1446" y="2286"/>
                  </a:cubicBezTo>
                  <a:cubicBezTo>
                    <a:pt x="1478" y="2203"/>
                    <a:pt x="1497" y="2111"/>
                    <a:pt x="1497" y="2016"/>
                  </a:cubicBezTo>
                  <a:lnTo>
                    <a:pt x="1497" y="1773"/>
                  </a:lnTo>
                  <a:cubicBezTo>
                    <a:pt x="1497" y="1498"/>
                    <a:pt x="1273" y="1273"/>
                    <a:pt x="996" y="1273"/>
                  </a:cubicBezTo>
                  <a:lnTo>
                    <a:pt x="383" y="1273"/>
                  </a:lnTo>
                  <a:cubicBezTo>
                    <a:pt x="409" y="787"/>
                    <a:pt x="810" y="388"/>
                    <a:pt x="1295" y="362"/>
                  </a:cubicBezTo>
                  <a:cubicBezTo>
                    <a:pt x="1311" y="362"/>
                    <a:pt x="1328" y="361"/>
                    <a:pt x="1344" y="361"/>
                  </a:cubicBezTo>
                  <a:close/>
                  <a:moveTo>
                    <a:pt x="1350" y="0"/>
                  </a:moveTo>
                  <a:cubicBezTo>
                    <a:pt x="1327" y="0"/>
                    <a:pt x="1304" y="1"/>
                    <a:pt x="1282" y="2"/>
                  </a:cubicBezTo>
                  <a:cubicBezTo>
                    <a:pt x="607" y="37"/>
                    <a:pt x="53" y="592"/>
                    <a:pt x="19" y="1265"/>
                  </a:cubicBezTo>
                  <a:cubicBezTo>
                    <a:pt x="1" y="1642"/>
                    <a:pt x="142" y="2011"/>
                    <a:pt x="408" y="2276"/>
                  </a:cubicBezTo>
                  <a:cubicBezTo>
                    <a:pt x="658" y="2526"/>
                    <a:pt x="1000" y="2667"/>
                    <a:pt x="1353" y="2667"/>
                  </a:cubicBezTo>
                  <a:cubicBezTo>
                    <a:pt x="1895" y="2667"/>
                    <a:pt x="2378" y="2326"/>
                    <a:pt x="2577" y="1825"/>
                  </a:cubicBezTo>
                  <a:cubicBezTo>
                    <a:pt x="2775" y="1330"/>
                    <a:pt x="2675" y="788"/>
                    <a:pt x="2315" y="412"/>
                  </a:cubicBezTo>
                  <a:cubicBezTo>
                    <a:pt x="2063" y="149"/>
                    <a:pt x="1714" y="0"/>
                    <a:pt x="1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5" name="Google Shape;1785;p45"/>
          <p:cNvGrpSpPr/>
          <p:nvPr/>
        </p:nvGrpSpPr>
        <p:grpSpPr>
          <a:xfrm>
            <a:off x="817835" y="1319890"/>
            <a:ext cx="341227" cy="289621"/>
            <a:chOff x="7952725" y="749256"/>
            <a:chExt cx="476707" cy="404612"/>
          </a:xfrm>
        </p:grpSpPr>
        <p:sp>
          <p:nvSpPr>
            <p:cNvPr id="1786" name="Google Shape;1786;p45"/>
            <p:cNvSpPr/>
            <p:nvPr/>
          </p:nvSpPr>
          <p:spPr>
            <a:xfrm>
              <a:off x="8164957" y="779147"/>
              <a:ext cx="52243" cy="21367"/>
            </a:xfrm>
            <a:custGeom>
              <a:avLst/>
              <a:gdLst/>
              <a:ahLst/>
              <a:cxnLst/>
              <a:rect l="l" t="t" r="r" b="b"/>
              <a:pathLst>
                <a:path w="1379" h="564" extrusionOk="0">
                  <a:moveTo>
                    <a:pt x="684" y="1"/>
                  </a:moveTo>
                  <a:cubicBezTo>
                    <a:pt x="461" y="1"/>
                    <a:pt x="248" y="81"/>
                    <a:pt x="82" y="229"/>
                  </a:cubicBezTo>
                  <a:cubicBezTo>
                    <a:pt x="7" y="297"/>
                    <a:pt x="0" y="414"/>
                    <a:pt x="68" y="490"/>
                  </a:cubicBezTo>
                  <a:cubicBezTo>
                    <a:pt x="105" y="531"/>
                    <a:pt x="155" y="552"/>
                    <a:pt x="206" y="552"/>
                  </a:cubicBezTo>
                  <a:cubicBezTo>
                    <a:pt x="249" y="552"/>
                    <a:pt x="293" y="536"/>
                    <a:pt x="328" y="505"/>
                  </a:cubicBezTo>
                  <a:cubicBezTo>
                    <a:pt x="427" y="417"/>
                    <a:pt x="552" y="369"/>
                    <a:pt x="683" y="369"/>
                  </a:cubicBezTo>
                  <a:cubicBezTo>
                    <a:pt x="819" y="369"/>
                    <a:pt x="949" y="421"/>
                    <a:pt x="1049" y="514"/>
                  </a:cubicBezTo>
                  <a:cubicBezTo>
                    <a:pt x="1084" y="547"/>
                    <a:pt x="1129" y="563"/>
                    <a:pt x="1174" y="563"/>
                  </a:cubicBezTo>
                  <a:cubicBezTo>
                    <a:pt x="1223" y="563"/>
                    <a:pt x="1273" y="543"/>
                    <a:pt x="1310" y="506"/>
                  </a:cubicBezTo>
                  <a:cubicBezTo>
                    <a:pt x="1379" y="431"/>
                    <a:pt x="1374" y="315"/>
                    <a:pt x="1301" y="246"/>
                  </a:cubicBezTo>
                  <a:cubicBezTo>
                    <a:pt x="1134" y="89"/>
                    <a:pt x="915" y="1"/>
                    <a:pt x="6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5"/>
            <p:cNvSpPr/>
            <p:nvPr/>
          </p:nvSpPr>
          <p:spPr>
            <a:xfrm>
              <a:off x="8144386" y="749256"/>
              <a:ext cx="93424" cy="29588"/>
            </a:xfrm>
            <a:custGeom>
              <a:avLst/>
              <a:gdLst/>
              <a:ahLst/>
              <a:cxnLst/>
              <a:rect l="l" t="t" r="r" b="b"/>
              <a:pathLst>
                <a:path w="2466" h="781" extrusionOk="0">
                  <a:moveTo>
                    <a:pt x="1220" y="0"/>
                  </a:moveTo>
                  <a:cubicBezTo>
                    <a:pt x="800" y="0"/>
                    <a:pt x="397" y="155"/>
                    <a:pt x="84" y="434"/>
                  </a:cubicBezTo>
                  <a:cubicBezTo>
                    <a:pt x="7" y="502"/>
                    <a:pt x="1" y="618"/>
                    <a:pt x="69" y="694"/>
                  </a:cubicBezTo>
                  <a:cubicBezTo>
                    <a:pt x="104" y="734"/>
                    <a:pt x="154" y="755"/>
                    <a:pt x="204" y="755"/>
                  </a:cubicBezTo>
                  <a:cubicBezTo>
                    <a:pt x="248" y="755"/>
                    <a:pt x="291" y="739"/>
                    <a:pt x="327" y="708"/>
                  </a:cubicBezTo>
                  <a:cubicBezTo>
                    <a:pt x="572" y="490"/>
                    <a:pt x="889" y="368"/>
                    <a:pt x="1219" y="368"/>
                  </a:cubicBezTo>
                  <a:cubicBezTo>
                    <a:pt x="1560" y="368"/>
                    <a:pt x="1885" y="497"/>
                    <a:pt x="2135" y="730"/>
                  </a:cubicBezTo>
                  <a:cubicBezTo>
                    <a:pt x="2170" y="765"/>
                    <a:pt x="2216" y="780"/>
                    <a:pt x="2261" y="780"/>
                  </a:cubicBezTo>
                  <a:cubicBezTo>
                    <a:pt x="2310" y="780"/>
                    <a:pt x="2358" y="760"/>
                    <a:pt x="2395" y="723"/>
                  </a:cubicBezTo>
                  <a:cubicBezTo>
                    <a:pt x="2465" y="648"/>
                    <a:pt x="2461" y="532"/>
                    <a:pt x="2388" y="462"/>
                  </a:cubicBezTo>
                  <a:cubicBezTo>
                    <a:pt x="2069" y="163"/>
                    <a:pt x="1655" y="0"/>
                    <a:pt x="12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5"/>
            <p:cNvSpPr/>
            <p:nvPr/>
          </p:nvSpPr>
          <p:spPr>
            <a:xfrm>
              <a:off x="8006333" y="846052"/>
              <a:ext cx="368659" cy="229659"/>
            </a:xfrm>
            <a:custGeom>
              <a:avLst/>
              <a:gdLst/>
              <a:ahLst/>
              <a:cxnLst/>
              <a:rect l="l" t="t" r="r" b="b"/>
              <a:pathLst>
                <a:path w="9731" h="6062" extrusionOk="0">
                  <a:moveTo>
                    <a:pt x="9257" y="363"/>
                  </a:moveTo>
                  <a:cubicBezTo>
                    <a:pt x="9319" y="363"/>
                    <a:pt x="9372" y="414"/>
                    <a:pt x="9372" y="478"/>
                  </a:cubicBezTo>
                  <a:lnTo>
                    <a:pt x="9372" y="5555"/>
                  </a:lnTo>
                  <a:cubicBezTo>
                    <a:pt x="9370" y="5618"/>
                    <a:pt x="9319" y="5670"/>
                    <a:pt x="9257" y="5670"/>
                  </a:cubicBezTo>
                  <a:lnTo>
                    <a:pt x="476" y="5670"/>
                  </a:lnTo>
                  <a:cubicBezTo>
                    <a:pt x="413" y="5670"/>
                    <a:pt x="361" y="5619"/>
                    <a:pt x="361" y="5556"/>
                  </a:cubicBezTo>
                  <a:lnTo>
                    <a:pt x="361" y="477"/>
                  </a:lnTo>
                  <a:cubicBezTo>
                    <a:pt x="361" y="414"/>
                    <a:pt x="413" y="363"/>
                    <a:pt x="476" y="363"/>
                  </a:cubicBezTo>
                  <a:close/>
                  <a:moveTo>
                    <a:pt x="483" y="1"/>
                  </a:moveTo>
                  <a:cubicBezTo>
                    <a:pt x="216" y="1"/>
                    <a:pt x="0" y="216"/>
                    <a:pt x="0" y="483"/>
                  </a:cubicBezTo>
                  <a:lnTo>
                    <a:pt x="0" y="5579"/>
                  </a:lnTo>
                  <a:cubicBezTo>
                    <a:pt x="0" y="5846"/>
                    <a:pt x="216" y="6062"/>
                    <a:pt x="483" y="6062"/>
                  </a:cubicBezTo>
                  <a:lnTo>
                    <a:pt x="9248" y="6062"/>
                  </a:lnTo>
                  <a:cubicBezTo>
                    <a:pt x="9515" y="6062"/>
                    <a:pt x="9731" y="5846"/>
                    <a:pt x="9731" y="5579"/>
                  </a:cubicBezTo>
                  <a:lnTo>
                    <a:pt x="9731" y="484"/>
                  </a:lnTo>
                  <a:cubicBezTo>
                    <a:pt x="9730" y="217"/>
                    <a:pt x="9514" y="1"/>
                    <a:pt x="9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5"/>
            <p:cNvSpPr/>
            <p:nvPr/>
          </p:nvSpPr>
          <p:spPr>
            <a:xfrm>
              <a:off x="7952725" y="812524"/>
              <a:ext cx="476707" cy="341344"/>
            </a:xfrm>
            <a:custGeom>
              <a:avLst/>
              <a:gdLst/>
              <a:ahLst/>
              <a:cxnLst/>
              <a:rect l="l" t="t" r="r" b="b"/>
              <a:pathLst>
                <a:path w="12583" h="9010" extrusionOk="0">
                  <a:moveTo>
                    <a:pt x="7411" y="7799"/>
                  </a:moveTo>
                  <a:lnTo>
                    <a:pt x="7411" y="7846"/>
                  </a:lnTo>
                  <a:cubicBezTo>
                    <a:pt x="7411" y="7948"/>
                    <a:pt x="7330" y="8029"/>
                    <a:pt x="7229" y="8029"/>
                  </a:cubicBezTo>
                  <a:lnTo>
                    <a:pt x="5364" y="8029"/>
                  </a:lnTo>
                  <a:cubicBezTo>
                    <a:pt x="5263" y="8029"/>
                    <a:pt x="5181" y="7948"/>
                    <a:pt x="5181" y="7846"/>
                  </a:cubicBezTo>
                  <a:lnTo>
                    <a:pt x="5181" y="7799"/>
                  </a:lnTo>
                  <a:close/>
                  <a:moveTo>
                    <a:pt x="12062" y="7798"/>
                  </a:moveTo>
                  <a:cubicBezTo>
                    <a:pt x="12128" y="7798"/>
                    <a:pt x="12182" y="7852"/>
                    <a:pt x="12182" y="7918"/>
                  </a:cubicBezTo>
                  <a:cubicBezTo>
                    <a:pt x="12185" y="8304"/>
                    <a:pt x="11871" y="8618"/>
                    <a:pt x="11484" y="8618"/>
                  </a:cubicBezTo>
                  <a:lnTo>
                    <a:pt x="1120" y="8618"/>
                  </a:lnTo>
                  <a:cubicBezTo>
                    <a:pt x="733" y="8618"/>
                    <a:pt x="419" y="8304"/>
                    <a:pt x="419" y="7918"/>
                  </a:cubicBezTo>
                  <a:cubicBezTo>
                    <a:pt x="419" y="7852"/>
                    <a:pt x="472" y="7798"/>
                    <a:pt x="538" y="7798"/>
                  </a:cubicBezTo>
                  <a:lnTo>
                    <a:pt x="4820" y="7798"/>
                  </a:lnTo>
                  <a:lnTo>
                    <a:pt x="4820" y="7837"/>
                  </a:lnTo>
                  <a:cubicBezTo>
                    <a:pt x="4820" y="8141"/>
                    <a:pt x="5066" y="8387"/>
                    <a:pt x="5370" y="8387"/>
                  </a:cubicBezTo>
                  <a:lnTo>
                    <a:pt x="7218" y="8387"/>
                  </a:lnTo>
                  <a:cubicBezTo>
                    <a:pt x="7522" y="8387"/>
                    <a:pt x="7768" y="8141"/>
                    <a:pt x="7768" y="7837"/>
                  </a:cubicBezTo>
                  <a:lnTo>
                    <a:pt x="7768" y="7798"/>
                  </a:lnTo>
                  <a:close/>
                  <a:moveTo>
                    <a:pt x="1466" y="1"/>
                  </a:moveTo>
                  <a:cubicBezTo>
                    <a:pt x="1004" y="1"/>
                    <a:pt x="628" y="374"/>
                    <a:pt x="628" y="838"/>
                  </a:cubicBezTo>
                  <a:lnTo>
                    <a:pt x="628" y="6968"/>
                  </a:lnTo>
                  <a:cubicBezTo>
                    <a:pt x="628" y="7142"/>
                    <a:pt x="682" y="7303"/>
                    <a:pt x="772" y="7438"/>
                  </a:cubicBezTo>
                  <a:lnTo>
                    <a:pt x="488" y="7438"/>
                  </a:lnTo>
                  <a:cubicBezTo>
                    <a:pt x="488" y="7438"/>
                    <a:pt x="0" y="7654"/>
                    <a:pt x="0" y="7923"/>
                  </a:cubicBezTo>
                  <a:cubicBezTo>
                    <a:pt x="0" y="8515"/>
                    <a:pt x="482" y="8996"/>
                    <a:pt x="1074" y="9010"/>
                  </a:cubicBezTo>
                  <a:lnTo>
                    <a:pt x="11509" y="9010"/>
                  </a:lnTo>
                  <a:cubicBezTo>
                    <a:pt x="12101" y="8996"/>
                    <a:pt x="12583" y="8515"/>
                    <a:pt x="12583" y="7923"/>
                  </a:cubicBezTo>
                  <a:cubicBezTo>
                    <a:pt x="12583" y="7653"/>
                    <a:pt x="12364" y="7434"/>
                    <a:pt x="12094" y="7434"/>
                  </a:cubicBezTo>
                  <a:lnTo>
                    <a:pt x="12094" y="7438"/>
                  </a:lnTo>
                  <a:lnTo>
                    <a:pt x="11803" y="7438"/>
                  </a:lnTo>
                  <a:cubicBezTo>
                    <a:pt x="11893" y="7301"/>
                    <a:pt x="11946" y="7139"/>
                    <a:pt x="11934" y="6965"/>
                  </a:cubicBezTo>
                  <a:lnTo>
                    <a:pt x="11934" y="6067"/>
                  </a:lnTo>
                  <a:cubicBezTo>
                    <a:pt x="11947" y="5965"/>
                    <a:pt x="11865" y="5883"/>
                    <a:pt x="11763" y="5883"/>
                  </a:cubicBezTo>
                  <a:cubicBezTo>
                    <a:pt x="11661" y="5883"/>
                    <a:pt x="11573" y="6067"/>
                    <a:pt x="11573" y="6067"/>
                  </a:cubicBezTo>
                  <a:lnTo>
                    <a:pt x="11573" y="6970"/>
                  </a:lnTo>
                  <a:cubicBezTo>
                    <a:pt x="11573" y="7228"/>
                    <a:pt x="11364" y="7438"/>
                    <a:pt x="11104" y="7438"/>
                  </a:cubicBezTo>
                  <a:lnTo>
                    <a:pt x="1460" y="7438"/>
                  </a:lnTo>
                  <a:cubicBezTo>
                    <a:pt x="1200" y="7438"/>
                    <a:pt x="991" y="7228"/>
                    <a:pt x="991" y="6970"/>
                  </a:cubicBezTo>
                  <a:lnTo>
                    <a:pt x="991" y="864"/>
                  </a:lnTo>
                  <a:cubicBezTo>
                    <a:pt x="991" y="604"/>
                    <a:pt x="1200" y="394"/>
                    <a:pt x="1460" y="394"/>
                  </a:cubicBezTo>
                  <a:lnTo>
                    <a:pt x="11382" y="394"/>
                  </a:lnTo>
                  <a:cubicBezTo>
                    <a:pt x="11488" y="394"/>
                    <a:pt x="11573" y="479"/>
                    <a:pt x="11573" y="586"/>
                  </a:cubicBezTo>
                  <a:lnTo>
                    <a:pt x="11573" y="5281"/>
                  </a:lnTo>
                  <a:cubicBezTo>
                    <a:pt x="11573" y="5304"/>
                    <a:pt x="11583" y="5325"/>
                    <a:pt x="11598" y="5339"/>
                  </a:cubicBezTo>
                  <a:cubicBezTo>
                    <a:pt x="11650" y="5388"/>
                    <a:pt x="11704" y="5408"/>
                    <a:pt x="11754" y="5408"/>
                  </a:cubicBezTo>
                  <a:cubicBezTo>
                    <a:pt x="11853" y="5408"/>
                    <a:pt x="11934" y="5326"/>
                    <a:pt x="11934" y="5224"/>
                  </a:cubicBezTo>
                  <a:lnTo>
                    <a:pt x="11934" y="838"/>
                  </a:lnTo>
                  <a:cubicBezTo>
                    <a:pt x="11934" y="377"/>
                    <a:pt x="11559" y="1"/>
                    <a:pt x="11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5"/>
            <p:cNvSpPr/>
            <p:nvPr/>
          </p:nvSpPr>
          <p:spPr>
            <a:xfrm>
              <a:off x="8039747" y="885756"/>
              <a:ext cx="301716" cy="144266"/>
            </a:xfrm>
            <a:custGeom>
              <a:avLst/>
              <a:gdLst/>
              <a:ahLst/>
              <a:cxnLst/>
              <a:rect l="l" t="t" r="r" b="b"/>
              <a:pathLst>
                <a:path w="7964" h="3808" extrusionOk="0">
                  <a:moveTo>
                    <a:pt x="7603" y="1410"/>
                  </a:moveTo>
                  <a:lnTo>
                    <a:pt x="7603" y="2721"/>
                  </a:lnTo>
                  <a:lnTo>
                    <a:pt x="6998" y="2721"/>
                  </a:lnTo>
                  <a:cubicBezTo>
                    <a:pt x="6825" y="2721"/>
                    <a:pt x="6685" y="2860"/>
                    <a:pt x="6685" y="3033"/>
                  </a:cubicBezTo>
                  <a:lnTo>
                    <a:pt x="6685" y="3397"/>
                  </a:lnTo>
                  <a:lnTo>
                    <a:pt x="5885" y="2785"/>
                  </a:lnTo>
                  <a:cubicBezTo>
                    <a:pt x="5832" y="2743"/>
                    <a:pt x="5763" y="2721"/>
                    <a:pt x="5695" y="2721"/>
                  </a:cubicBezTo>
                  <a:lnTo>
                    <a:pt x="2917" y="2721"/>
                  </a:lnTo>
                  <a:lnTo>
                    <a:pt x="2917" y="1410"/>
                  </a:lnTo>
                  <a:close/>
                  <a:moveTo>
                    <a:pt x="313" y="1"/>
                  </a:moveTo>
                  <a:cubicBezTo>
                    <a:pt x="140" y="1"/>
                    <a:pt x="1" y="141"/>
                    <a:pt x="1" y="314"/>
                  </a:cubicBezTo>
                  <a:lnTo>
                    <a:pt x="1" y="1720"/>
                  </a:lnTo>
                  <a:cubicBezTo>
                    <a:pt x="1" y="1893"/>
                    <a:pt x="140" y="2033"/>
                    <a:pt x="313" y="2033"/>
                  </a:cubicBezTo>
                  <a:lnTo>
                    <a:pt x="918" y="2033"/>
                  </a:lnTo>
                  <a:lnTo>
                    <a:pt x="918" y="2436"/>
                  </a:lnTo>
                  <a:cubicBezTo>
                    <a:pt x="918" y="2552"/>
                    <a:pt x="977" y="2665"/>
                    <a:pt x="1080" y="2720"/>
                  </a:cubicBezTo>
                  <a:cubicBezTo>
                    <a:pt x="1128" y="2746"/>
                    <a:pt x="1181" y="2760"/>
                    <a:pt x="1234" y="2760"/>
                  </a:cubicBezTo>
                  <a:cubicBezTo>
                    <a:pt x="1302" y="2760"/>
                    <a:pt x="1369" y="2738"/>
                    <a:pt x="1424" y="2696"/>
                  </a:cubicBezTo>
                  <a:lnTo>
                    <a:pt x="2305" y="2032"/>
                  </a:lnTo>
                  <a:lnTo>
                    <a:pt x="2556" y="2032"/>
                  </a:lnTo>
                  <a:lnTo>
                    <a:pt x="2556" y="2767"/>
                  </a:lnTo>
                  <a:cubicBezTo>
                    <a:pt x="2556" y="2940"/>
                    <a:pt x="2696" y="3080"/>
                    <a:pt x="2869" y="3080"/>
                  </a:cubicBezTo>
                  <a:lnTo>
                    <a:pt x="5702" y="3080"/>
                  </a:lnTo>
                  <a:lnTo>
                    <a:pt x="6575" y="3743"/>
                  </a:lnTo>
                  <a:cubicBezTo>
                    <a:pt x="6632" y="3785"/>
                    <a:pt x="6697" y="3807"/>
                    <a:pt x="6765" y="3807"/>
                  </a:cubicBezTo>
                  <a:cubicBezTo>
                    <a:pt x="6817" y="3807"/>
                    <a:pt x="6872" y="3793"/>
                    <a:pt x="6920" y="3766"/>
                  </a:cubicBezTo>
                  <a:cubicBezTo>
                    <a:pt x="7020" y="3710"/>
                    <a:pt x="7078" y="3600"/>
                    <a:pt x="7078" y="3483"/>
                  </a:cubicBezTo>
                  <a:lnTo>
                    <a:pt x="7078" y="3080"/>
                  </a:lnTo>
                  <a:lnTo>
                    <a:pt x="7650" y="3080"/>
                  </a:lnTo>
                  <a:cubicBezTo>
                    <a:pt x="7823" y="3080"/>
                    <a:pt x="7963" y="2940"/>
                    <a:pt x="7963" y="2767"/>
                  </a:cubicBezTo>
                  <a:lnTo>
                    <a:pt x="7963" y="1360"/>
                  </a:lnTo>
                  <a:cubicBezTo>
                    <a:pt x="7964" y="1189"/>
                    <a:pt x="7825" y="1050"/>
                    <a:pt x="7653" y="1050"/>
                  </a:cubicBezTo>
                  <a:lnTo>
                    <a:pt x="5442" y="1050"/>
                  </a:lnTo>
                  <a:lnTo>
                    <a:pt x="5442" y="193"/>
                  </a:lnTo>
                  <a:cubicBezTo>
                    <a:pt x="5442" y="88"/>
                    <a:pt x="5356" y="1"/>
                    <a:pt x="5250" y="1"/>
                  </a:cubicBezTo>
                  <a:lnTo>
                    <a:pt x="2177" y="1"/>
                  </a:lnTo>
                  <a:cubicBezTo>
                    <a:pt x="2142" y="1"/>
                    <a:pt x="2107" y="17"/>
                    <a:pt x="2084" y="46"/>
                  </a:cubicBezTo>
                  <a:cubicBezTo>
                    <a:pt x="1968" y="196"/>
                    <a:pt x="2072" y="361"/>
                    <a:pt x="2214" y="361"/>
                  </a:cubicBezTo>
                  <a:lnTo>
                    <a:pt x="5080" y="361"/>
                  </a:lnTo>
                  <a:lnTo>
                    <a:pt x="5080" y="1050"/>
                  </a:lnTo>
                  <a:lnTo>
                    <a:pt x="2871" y="1050"/>
                  </a:lnTo>
                  <a:cubicBezTo>
                    <a:pt x="2698" y="1050"/>
                    <a:pt x="2558" y="1190"/>
                    <a:pt x="2558" y="1363"/>
                  </a:cubicBezTo>
                  <a:lnTo>
                    <a:pt x="2558" y="1672"/>
                  </a:lnTo>
                  <a:lnTo>
                    <a:pt x="2276" y="1672"/>
                  </a:lnTo>
                  <a:cubicBezTo>
                    <a:pt x="2208" y="1672"/>
                    <a:pt x="2140" y="1695"/>
                    <a:pt x="2085" y="1735"/>
                  </a:cubicBezTo>
                  <a:lnTo>
                    <a:pt x="1280" y="2347"/>
                  </a:lnTo>
                  <a:lnTo>
                    <a:pt x="1280" y="1985"/>
                  </a:lnTo>
                  <a:cubicBezTo>
                    <a:pt x="1280" y="1812"/>
                    <a:pt x="1139" y="1672"/>
                    <a:pt x="967" y="1672"/>
                  </a:cubicBezTo>
                  <a:lnTo>
                    <a:pt x="362" y="1672"/>
                  </a:lnTo>
                  <a:lnTo>
                    <a:pt x="362" y="361"/>
                  </a:lnTo>
                  <a:lnTo>
                    <a:pt x="1258" y="361"/>
                  </a:lnTo>
                  <a:cubicBezTo>
                    <a:pt x="1353" y="361"/>
                    <a:pt x="1438" y="292"/>
                    <a:pt x="1446" y="198"/>
                  </a:cubicBezTo>
                  <a:cubicBezTo>
                    <a:pt x="1455" y="90"/>
                    <a:pt x="1371" y="1"/>
                    <a:pt x="12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1" name="Google Shape;1791;p45"/>
          <p:cNvGrpSpPr/>
          <p:nvPr/>
        </p:nvGrpSpPr>
        <p:grpSpPr>
          <a:xfrm>
            <a:off x="6317588" y="3052879"/>
            <a:ext cx="341362" cy="327858"/>
            <a:chOff x="7163051" y="722585"/>
            <a:chExt cx="476896" cy="458030"/>
          </a:xfrm>
        </p:grpSpPr>
        <p:sp>
          <p:nvSpPr>
            <p:cNvPr id="1792" name="Google Shape;1792;p45"/>
            <p:cNvSpPr/>
            <p:nvPr/>
          </p:nvSpPr>
          <p:spPr>
            <a:xfrm>
              <a:off x="7163051" y="722585"/>
              <a:ext cx="476896" cy="458030"/>
            </a:xfrm>
            <a:custGeom>
              <a:avLst/>
              <a:gdLst/>
              <a:ahLst/>
              <a:cxnLst/>
              <a:rect l="l" t="t" r="r" b="b"/>
              <a:pathLst>
                <a:path w="12588" h="12090" extrusionOk="0">
                  <a:moveTo>
                    <a:pt x="10624" y="359"/>
                  </a:moveTo>
                  <a:cubicBezTo>
                    <a:pt x="10640" y="359"/>
                    <a:pt x="10653" y="373"/>
                    <a:pt x="10653" y="389"/>
                  </a:cubicBezTo>
                  <a:lnTo>
                    <a:pt x="10653" y="1014"/>
                  </a:lnTo>
                  <a:lnTo>
                    <a:pt x="1938" y="1014"/>
                  </a:lnTo>
                  <a:lnTo>
                    <a:pt x="1938" y="389"/>
                  </a:lnTo>
                  <a:cubicBezTo>
                    <a:pt x="1938" y="374"/>
                    <a:pt x="1952" y="359"/>
                    <a:pt x="1968" y="359"/>
                  </a:cubicBezTo>
                  <a:close/>
                  <a:moveTo>
                    <a:pt x="1577" y="2850"/>
                  </a:moveTo>
                  <a:lnTo>
                    <a:pt x="1577" y="8748"/>
                  </a:lnTo>
                  <a:lnTo>
                    <a:pt x="1217" y="8748"/>
                  </a:lnTo>
                  <a:lnTo>
                    <a:pt x="1217" y="2914"/>
                  </a:lnTo>
                  <a:cubicBezTo>
                    <a:pt x="1217" y="2878"/>
                    <a:pt x="1245" y="2850"/>
                    <a:pt x="1281" y="2850"/>
                  </a:cubicBezTo>
                  <a:close/>
                  <a:moveTo>
                    <a:pt x="10653" y="1408"/>
                  </a:moveTo>
                  <a:lnTo>
                    <a:pt x="10653" y="8748"/>
                  </a:lnTo>
                  <a:lnTo>
                    <a:pt x="1938" y="8748"/>
                  </a:lnTo>
                  <a:lnTo>
                    <a:pt x="1938" y="1408"/>
                  </a:lnTo>
                  <a:close/>
                  <a:moveTo>
                    <a:pt x="11942" y="1998"/>
                  </a:moveTo>
                  <a:cubicBezTo>
                    <a:pt x="12100" y="1998"/>
                    <a:pt x="12229" y="2126"/>
                    <a:pt x="12229" y="2285"/>
                  </a:cubicBezTo>
                  <a:lnTo>
                    <a:pt x="12229" y="8748"/>
                  </a:lnTo>
                  <a:lnTo>
                    <a:pt x="11734" y="8748"/>
                  </a:lnTo>
                  <a:lnTo>
                    <a:pt x="11734" y="4156"/>
                  </a:lnTo>
                  <a:cubicBezTo>
                    <a:pt x="11734" y="4069"/>
                    <a:pt x="11677" y="3988"/>
                    <a:pt x="11591" y="3971"/>
                  </a:cubicBezTo>
                  <a:cubicBezTo>
                    <a:pt x="11578" y="3968"/>
                    <a:pt x="11566" y="3967"/>
                    <a:pt x="11554" y="3967"/>
                  </a:cubicBezTo>
                  <a:cubicBezTo>
                    <a:pt x="11455" y="3967"/>
                    <a:pt x="11375" y="4050"/>
                    <a:pt x="11375" y="4151"/>
                  </a:cubicBezTo>
                  <a:lnTo>
                    <a:pt x="11375" y="8747"/>
                  </a:lnTo>
                  <a:lnTo>
                    <a:pt x="11015" y="8747"/>
                  </a:lnTo>
                  <a:lnTo>
                    <a:pt x="11015" y="2849"/>
                  </a:lnTo>
                  <a:lnTo>
                    <a:pt x="11312" y="2849"/>
                  </a:lnTo>
                  <a:cubicBezTo>
                    <a:pt x="11347" y="2849"/>
                    <a:pt x="11376" y="2877"/>
                    <a:pt x="11376" y="2913"/>
                  </a:cubicBezTo>
                  <a:lnTo>
                    <a:pt x="11376" y="3278"/>
                  </a:lnTo>
                  <a:cubicBezTo>
                    <a:pt x="11376" y="3365"/>
                    <a:pt x="11434" y="3446"/>
                    <a:pt x="11520" y="3464"/>
                  </a:cubicBezTo>
                  <a:cubicBezTo>
                    <a:pt x="11532" y="3466"/>
                    <a:pt x="11545" y="3468"/>
                    <a:pt x="11557" y="3468"/>
                  </a:cubicBezTo>
                  <a:cubicBezTo>
                    <a:pt x="11656" y="3468"/>
                    <a:pt x="11737" y="3384"/>
                    <a:pt x="11737" y="3283"/>
                  </a:cubicBezTo>
                  <a:lnTo>
                    <a:pt x="11737" y="2922"/>
                  </a:lnTo>
                  <a:cubicBezTo>
                    <a:pt x="11737" y="2683"/>
                    <a:pt x="11544" y="2489"/>
                    <a:pt x="11304" y="2489"/>
                  </a:cubicBezTo>
                  <a:lnTo>
                    <a:pt x="11016" y="2489"/>
                  </a:lnTo>
                  <a:lnTo>
                    <a:pt x="11016" y="1998"/>
                  </a:lnTo>
                  <a:close/>
                  <a:moveTo>
                    <a:pt x="12225" y="9108"/>
                  </a:moveTo>
                  <a:lnTo>
                    <a:pt x="12225" y="9674"/>
                  </a:lnTo>
                  <a:cubicBezTo>
                    <a:pt x="12225" y="9832"/>
                    <a:pt x="12098" y="9961"/>
                    <a:pt x="11941" y="9961"/>
                  </a:cubicBezTo>
                  <a:lnTo>
                    <a:pt x="651" y="9961"/>
                  </a:lnTo>
                  <a:cubicBezTo>
                    <a:pt x="493" y="9961"/>
                    <a:pt x="364" y="9832"/>
                    <a:pt x="364" y="9674"/>
                  </a:cubicBezTo>
                  <a:lnTo>
                    <a:pt x="364" y="9108"/>
                  </a:lnTo>
                  <a:close/>
                  <a:moveTo>
                    <a:pt x="7026" y="10320"/>
                  </a:moveTo>
                  <a:cubicBezTo>
                    <a:pt x="7076" y="10611"/>
                    <a:pt x="7197" y="11239"/>
                    <a:pt x="7409" y="11728"/>
                  </a:cubicBezTo>
                  <a:lnTo>
                    <a:pt x="5172" y="11728"/>
                  </a:lnTo>
                  <a:cubicBezTo>
                    <a:pt x="5382" y="11239"/>
                    <a:pt x="5505" y="10611"/>
                    <a:pt x="5553" y="10320"/>
                  </a:cubicBezTo>
                  <a:close/>
                  <a:moveTo>
                    <a:pt x="1976" y="0"/>
                  </a:moveTo>
                  <a:cubicBezTo>
                    <a:pt x="1817" y="0"/>
                    <a:pt x="1680" y="95"/>
                    <a:pt x="1617" y="229"/>
                  </a:cubicBezTo>
                  <a:cubicBezTo>
                    <a:pt x="1593" y="280"/>
                    <a:pt x="1579" y="337"/>
                    <a:pt x="1579" y="399"/>
                  </a:cubicBezTo>
                  <a:lnTo>
                    <a:pt x="1579" y="1639"/>
                  </a:lnTo>
                  <a:lnTo>
                    <a:pt x="198" y="1639"/>
                  </a:lnTo>
                  <a:cubicBezTo>
                    <a:pt x="92" y="1639"/>
                    <a:pt x="7" y="1725"/>
                    <a:pt x="7" y="1830"/>
                  </a:cubicBezTo>
                  <a:lnTo>
                    <a:pt x="7" y="7457"/>
                  </a:lnTo>
                  <a:cubicBezTo>
                    <a:pt x="7" y="7471"/>
                    <a:pt x="12" y="7485"/>
                    <a:pt x="22" y="7495"/>
                  </a:cubicBezTo>
                  <a:cubicBezTo>
                    <a:pt x="76" y="7551"/>
                    <a:pt x="134" y="7575"/>
                    <a:pt x="187" y="7575"/>
                  </a:cubicBezTo>
                  <a:cubicBezTo>
                    <a:pt x="286" y="7575"/>
                    <a:pt x="367" y="7492"/>
                    <a:pt x="367" y="7390"/>
                  </a:cubicBezTo>
                  <a:lnTo>
                    <a:pt x="367" y="2285"/>
                  </a:lnTo>
                  <a:cubicBezTo>
                    <a:pt x="367" y="2126"/>
                    <a:pt x="495" y="1998"/>
                    <a:pt x="653" y="1998"/>
                  </a:cubicBezTo>
                  <a:lnTo>
                    <a:pt x="1579" y="1998"/>
                  </a:lnTo>
                  <a:lnTo>
                    <a:pt x="1579" y="2489"/>
                  </a:lnTo>
                  <a:lnTo>
                    <a:pt x="1259" y="2489"/>
                  </a:lnTo>
                  <a:cubicBezTo>
                    <a:pt x="1019" y="2489"/>
                    <a:pt x="825" y="2683"/>
                    <a:pt x="825" y="2922"/>
                  </a:cubicBezTo>
                  <a:lnTo>
                    <a:pt x="825" y="8748"/>
                  </a:lnTo>
                  <a:lnTo>
                    <a:pt x="367" y="8748"/>
                  </a:lnTo>
                  <a:lnTo>
                    <a:pt x="367" y="8246"/>
                  </a:lnTo>
                  <a:cubicBezTo>
                    <a:pt x="367" y="8246"/>
                    <a:pt x="287" y="8062"/>
                    <a:pt x="185" y="8062"/>
                  </a:cubicBezTo>
                  <a:cubicBezTo>
                    <a:pt x="83" y="8062"/>
                    <a:pt x="1" y="8144"/>
                    <a:pt x="5" y="8246"/>
                  </a:cubicBezTo>
                  <a:lnTo>
                    <a:pt x="5" y="9674"/>
                  </a:lnTo>
                  <a:cubicBezTo>
                    <a:pt x="1" y="10030"/>
                    <a:pt x="285" y="10320"/>
                    <a:pt x="640" y="10320"/>
                  </a:cubicBezTo>
                  <a:cubicBezTo>
                    <a:pt x="645" y="10320"/>
                    <a:pt x="650" y="10320"/>
                    <a:pt x="655" y="10320"/>
                  </a:cubicBezTo>
                  <a:lnTo>
                    <a:pt x="5180" y="10320"/>
                  </a:lnTo>
                  <a:cubicBezTo>
                    <a:pt x="5120" y="10660"/>
                    <a:pt x="4764" y="11728"/>
                    <a:pt x="4764" y="11728"/>
                  </a:cubicBezTo>
                  <a:lnTo>
                    <a:pt x="3745" y="11728"/>
                  </a:lnTo>
                  <a:cubicBezTo>
                    <a:pt x="3657" y="11728"/>
                    <a:pt x="3575" y="11786"/>
                    <a:pt x="3559" y="11873"/>
                  </a:cubicBezTo>
                  <a:cubicBezTo>
                    <a:pt x="3536" y="11988"/>
                    <a:pt x="3626" y="12090"/>
                    <a:pt x="3739" y="12090"/>
                  </a:cubicBezTo>
                  <a:lnTo>
                    <a:pt x="8836" y="12090"/>
                  </a:lnTo>
                  <a:cubicBezTo>
                    <a:pt x="8932" y="12090"/>
                    <a:pt x="9016" y="12021"/>
                    <a:pt x="9026" y="11926"/>
                  </a:cubicBezTo>
                  <a:cubicBezTo>
                    <a:pt x="9035" y="11820"/>
                    <a:pt x="8949" y="11731"/>
                    <a:pt x="8843" y="11731"/>
                  </a:cubicBezTo>
                  <a:lnTo>
                    <a:pt x="7818" y="11731"/>
                  </a:lnTo>
                  <a:cubicBezTo>
                    <a:pt x="7598" y="11307"/>
                    <a:pt x="7462" y="10654"/>
                    <a:pt x="7405" y="10322"/>
                  </a:cubicBezTo>
                  <a:lnTo>
                    <a:pt x="11933" y="10322"/>
                  </a:lnTo>
                  <a:cubicBezTo>
                    <a:pt x="12295" y="10322"/>
                    <a:pt x="12588" y="10029"/>
                    <a:pt x="12588" y="9667"/>
                  </a:cubicBezTo>
                  <a:lnTo>
                    <a:pt x="12588" y="2294"/>
                  </a:lnTo>
                  <a:cubicBezTo>
                    <a:pt x="12586" y="1931"/>
                    <a:pt x="12292" y="1637"/>
                    <a:pt x="11932" y="1637"/>
                  </a:cubicBezTo>
                  <a:lnTo>
                    <a:pt x="11014" y="1637"/>
                  </a:lnTo>
                  <a:lnTo>
                    <a:pt x="11014" y="398"/>
                  </a:lnTo>
                  <a:cubicBezTo>
                    <a:pt x="11014" y="324"/>
                    <a:pt x="10993" y="255"/>
                    <a:pt x="10958" y="196"/>
                  </a:cubicBezTo>
                  <a:cubicBezTo>
                    <a:pt x="10889" y="79"/>
                    <a:pt x="10762" y="0"/>
                    <a:pt x="106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5"/>
            <p:cNvSpPr/>
            <p:nvPr/>
          </p:nvSpPr>
          <p:spPr>
            <a:xfrm>
              <a:off x="7293678" y="846961"/>
              <a:ext cx="119451" cy="135439"/>
            </a:xfrm>
            <a:custGeom>
              <a:avLst/>
              <a:gdLst/>
              <a:ahLst/>
              <a:cxnLst/>
              <a:rect l="l" t="t" r="r" b="b"/>
              <a:pathLst>
                <a:path w="3153" h="3575" extrusionOk="0">
                  <a:moveTo>
                    <a:pt x="1786" y="367"/>
                  </a:moveTo>
                  <a:cubicBezTo>
                    <a:pt x="2070" y="367"/>
                    <a:pt x="2346" y="451"/>
                    <a:pt x="2580" y="609"/>
                  </a:cubicBezTo>
                  <a:cubicBezTo>
                    <a:pt x="2636" y="647"/>
                    <a:pt x="2649" y="716"/>
                    <a:pt x="2612" y="773"/>
                  </a:cubicBezTo>
                  <a:cubicBezTo>
                    <a:pt x="2589" y="806"/>
                    <a:pt x="2552" y="824"/>
                    <a:pt x="2513" y="824"/>
                  </a:cubicBezTo>
                  <a:cubicBezTo>
                    <a:pt x="2491" y="824"/>
                    <a:pt x="2468" y="818"/>
                    <a:pt x="2447" y="804"/>
                  </a:cubicBezTo>
                  <a:cubicBezTo>
                    <a:pt x="2252" y="672"/>
                    <a:pt x="2023" y="603"/>
                    <a:pt x="1786" y="603"/>
                  </a:cubicBezTo>
                  <a:cubicBezTo>
                    <a:pt x="1135" y="603"/>
                    <a:pt x="603" y="1134"/>
                    <a:pt x="603" y="1786"/>
                  </a:cubicBezTo>
                  <a:cubicBezTo>
                    <a:pt x="603" y="2438"/>
                    <a:pt x="1135" y="2970"/>
                    <a:pt x="1786" y="2970"/>
                  </a:cubicBezTo>
                  <a:cubicBezTo>
                    <a:pt x="2038" y="2970"/>
                    <a:pt x="2252" y="2892"/>
                    <a:pt x="2423" y="2741"/>
                  </a:cubicBezTo>
                  <a:cubicBezTo>
                    <a:pt x="2472" y="2696"/>
                    <a:pt x="2525" y="2609"/>
                    <a:pt x="2597" y="2601"/>
                  </a:cubicBezTo>
                  <a:cubicBezTo>
                    <a:pt x="2600" y="2601"/>
                    <a:pt x="2603" y="2601"/>
                    <a:pt x="2606" y="2601"/>
                  </a:cubicBezTo>
                  <a:cubicBezTo>
                    <a:pt x="2634" y="2601"/>
                    <a:pt x="2661" y="2610"/>
                    <a:pt x="2683" y="2630"/>
                  </a:cubicBezTo>
                  <a:cubicBezTo>
                    <a:pt x="2732" y="2671"/>
                    <a:pt x="2738" y="2746"/>
                    <a:pt x="2697" y="2795"/>
                  </a:cubicBezTo>
                  <a:cubicBezTo>
                    <a:pt x="2660" y="2839"/>
                    <a:pt x="2620" y="2879"/>
                    <a:pt x="2578" y="2918"/>
                  </a:cubicBezTo>
                  <a:cubicBezTo>
                    <a:pt x="2367" y="3106"/>
                    <a:pt x="2093" y="3206"/>
                    <a:pt x="1786" y="3206"/>
                  </a:cubicBezTo>
                  <a:cubicBezTo>
                    <a:pt x="1004" y="3206"/>
                    <a:pt x="367" y="2569"/>
                    <a:pt x="367" y="1786"/>
                  </a:cubicBezTo>
                  <a:cubicBezTo>
                    <a:pt x="367" y="1003"/>
                    <a:pt x="1004" y="367"/>
                    <a:pt x="1786" y="367"/>
                  </a:cubicBezTo>
                  <a:close/>
                  <a:moveTo>
                    <a:pt x="1787" y="1"/>
                  </a:moveTo>
                  <a:cubicBezTo>
                    <a:pt x="802" y="1"/>
                    <a:pt x="1" y="802"/>
                    <a:pt x="1" y="1787"/>
                  </a:cubicBezTo>
                  <a:cubicBezTo>
                    <a:pt x="1" y="2773"/>
                    <a:pt x="803" y="3574"/>
                    <a:pt x="1787" y="3574"/>
                  </a:cubicBezTo>
                  <a:cubicBezTo>
                    <a:pt x="2185" y="3574"/>
                    <a:pt x="2545" y="3442"/>
                    <a:pt x="2826" y="3193"/>
                  </a:cubicBezTo>
                  <a:cubicBezTo>
                    <a:pt x="2881" y="3145"/>
                    <a:pt x="2933" y="3091"/>
                    <a:pt x="2980" y="3034"/>
                  </a:cubicBezTo>
                  <a:cubicBezTo>
                    <a:pt x="3152" y="2826"/>
                    <a:pt x="3125" y="2520"/>
                    <a:pt x="2919" y="2348"/>
                  </a:cubicBezTo>
                  <a:cubicBezTo>
                    <a:pt x="2830" y="2273"/>
                    <a:pt x="2722" y="2234"/>
                    <a:pt x="2608" y="2234"/>
                  </a:cubicBezTo>
                  <a:cubicBezTo>
                    <a:pt x="2594" y="2234"/>
                    <a:pt x="2579" y="2234"/>
                    <a:pt x="2565" y="2236"/>
                  </a:cubicBezTo>
                  <a:cubicBezTo>
                    <a:pt x="2435" y="2248"/>
                    <a:pt x="2318" y="2308"/>
                    <a:pt x="2235" y="2408"/>
                  </a:cubicBezTo>
                  <a:cubicBezTo>
                    <a:pt x="2217" y="2428"/>
                    <a:pt x="2198" y="2448"/>
                    <a:pt x="2178" y="2467"/>
                  </a:cubicBezTo>
                  <a:cubicBezTo>
                    <a:pt x="2075" y="2557"/>
                    <a:pt x="1948" y="2601"/>
                    <a:pt x="1787" y="2601"/>
                  </a:cubicBezTo>
                  <a:cubicBezTo>
                    <a:pt x="1339" y="2601"/>
                    <a:pt x="974" y="2237"/>
                    <a:pt x="974" y="1787"/>
                  </a:cubicBezTo>
                  <a:cubicBezTo>
                    <a:pt x="974" y="1338"/>
                    <a:pt x="1339" y="973"/>
                    <a:pt x="1787" y="973"/>
                  </a:cubicBezTo>
                  <a:cubicBezTo>
                    <a:pt x="1952" y="973"/>
                    <a:pt x="2109" y="1022"/>
                    <a:pt x="2243" y="1112"/>
                  </a:cubicBezTo>
                  <a:cubicBezTo>
                    <a:pt x="2327" y="1168"/>
                    <a:pt x="2421" y="1195"/>
                    <a:pt x="2515" y="1195"/>
                  </a:cubicBezTo>
                  <a:cubicBezTo>
                    <a:pt x="2671" y="1195"/>
                    <a:pt x="2825" y="1120"/>
                    <a:pt x="2919" y="981"/>
                  </a:cubicBezTo>
                  <a:cubicBezTo>
                    <a:pt x="2992" y="873"/>
                    <a:pt x="3018" y="744"/>
                    <a:pt x="2994" y="615"/>
                  </a:cubicBezTo>
                  <a:cubicBezTo>
                    <a:pt x="2969" y="489"/>
                    <a:pt x="2897" y="378"/>
                    <a:pt x="2788" y="305"/>
                  </a:cubicBezTo>
                  <a:cubicBezTo>
                    <a:pt x="2492" y="105"/>
                    <a:pt x="2147" y="1"/>
                    <a:pt x="17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5"/>
            <p:cNvSpPr/>
            <p:nvPr/>
          </p:nvSpPr>
          <p:spPr>
            <a:xfrm>
              <a:off x="7414342" y="874428"/>
              <a:ext cx="95091" cy="107859"/>
            </a:xfrm>
            <a:custGeom>
              <a:avLst/>
              <a:gdLst/>
              <a:ahLst/>
              <a:cxnLst/>
              <a:rect l="l" t="t" r="r" b="b"/>
              <a:pathLst>
                <a:path w="2510" h="2847" extrusionOk="0">
                  <a:moveTo>
                    <a:pt x="1423" y="372"/>
                  </a:moveTo>
                  <a:cubicBezTo>
                    <a:pt x="1633" y="372"/>
                    <a:pt x="1838" y="435"/>
                    <a:pt x="2012" y="553"/>
                  </a:cubicBezTo>
                  <a:cubicBezTo>
                    <a:pt x="2063" y="587"/>
                    <a:pt x="2078" y="667"/>
                    <a:pt x="2043" y="717"/>
                  </a:cubicBezTo>
                  <a:cubicBezTo>
                    <a:pt x="2020" y="750"/>
                    <a:pt x="1983" y="769"/>
                    <a:pt x="1945" y="769"/>
                  </a:cubicBezTo>
                  <a:cubicBezTo>
                    <a:pt x="1922" y="769"/>
                    <a:pt x="1900" y="762"/>
                    <a:pt x="1880" y="748"/>
                  </a:cubicBezTo>
                  <a:cubicBezTo>
                    <a:pt x="1745" y="656"/>
                    <a:pt x="1586" y="608"/>
                    <a:pt x="1422" y="608"/>
                  </a:cubicBezTo>
                  <a:cubicBezTo>
                    <a:pt x="969" y="608"/>
                    <a:pt x="603" y="976"/>
                    <a:pt x="603" y="1428"/>
                  </a:cubicBezTo>
                  <a:cubicBezTo>
                    <a:pt x="603" y="1879"/>
                    <a:pt x="972" y="2246"/>
                    <a:pt x="1422" y="2246"/>
                  </a:cubicBezTo>
                  <a:cubicBezTo>
                    <a:pt x="1592" y="2246"/>
                    <a:pt x="1742" y="2192"/>
                    <a:pt x="1858" y="2090"/>
                  </a:cubicBezTo>
                  <a:cubicBezTo>
                    <a:pt x="1905" y="2047"/>
                    <a:pt x="1955" y="1980"/>
                    <a:pt x="2017" y="1980"/>
                  </a:cubicBezTo>
                  <a:cubicBezTo>
                    <a:pt x="2039" y="1980"/>
                    <a:pt x="2063" y="1988"/>
                    <a:pt x="2088" y="2009"/>
                  </a:cubicBezTo>
                  <a:cubicBezTo>
                    <a:pt x="2140" y="2051"/>
                    <a:pt x="2147" y="2121"/>
                    <a:pt x="2104" y="2174"/>
                  </a:cubicBezTo>
                  <a:cubicBezTo>
                    <a:pt x="2077" y="2206"/>
                    <a:pt x="2047" y="2237"/>
                    <a:pt x="2016" y="2264"/>
                  </a:cubicBezTo>
                  <a:cubicBezTo>
                    <a:pt x="1858" y="2405"/>
                    <a:pt x="1652" y="2480"/>
                    <a:pt x="1423" y="2480"/>
                  </a:cubicBezTo>
                  <a:cubicBezTo>
                    <a:pt x="842" y="2480"/>
                    <a:pt x="369" y="2007"/>
                    <a:pt x="369" y="1426"/>
                  </a:cubicBezTo>
                  <a:cubicBezTo>
                    <a:pt x="369" y="845"/>
                    <a:pt x="842" y="372"/>
                    <a:pt x="1423" y="372"/>
                  </a:cubicBezTo>
                  <a:close/>
                  <a:moveTo>
                    <a:pt x="1424" y="0"/>
                  </a:moveTo>
                  <a:cubicBezTo>
                    <a:pt x="640" y="0"/>
                    <a:pt x="1" y="639"/>
                    <a:pt x="1" y="1424"/>
                  </a:cubicBezTo>
                  <a:cubicBezTo>
                    <a:pt x="1" y="2207"/>
                    <a:pt x="640" y="2846"/>
                    <a:pt x="1424" y="2846"/>
                  </a:cubicBezTo>
                  <a:cubicBezTo>
                    <a:pt x="1795" y="2846"/>
                    <a:pt x="2148" y="2692"/>
                    <a:pt x="2387" y="2408"/>
                  </a:cubicBezTo>
                  <a:cubicBezTo>
                    <a:pt x="2470" y="2309"/>
                    <a:pt x="2509" y="2183"/>
                    <a:pt x="2498" y="2053"/>
                  </a:cubicBezTo>
                  <a:cubicBezTo>
                    <a:pt x="2487" y="1927"/>
                    <a:pt x="2425" y="1808"/>
                    <a:pt x="2326" y="1724"/>
                  </a:cubicBezTo>
                  <a:cubicBezTo>
                    <a:pt x="2237" y="1650"/>
                    <a:pt x="2127" y="1611"/>
                    <a:pt x="2013" y="1611"/>
                  </a:cubicBezTo>
                  <a:cubicBezTo>
                    <a:pt x="1999" y="1611"/>
                    <a:pt x="1986" y="1611"/>
                    <a:pt x="1972" y="1612"/>
                  </a:cubicBezTo>
                  <a:cubicBezTo>
                    <a:pt x="1842" y="1624"/>
                    <a:pt x="1726" y="1684"/>
                    <a:pt x="1642" y="1784"/>
                  </a:cubicBezTo>
                  <a:cubicBezTo>
                    <a:pt x="1586" y="1849"/>
                    <a:pt x="1508" y="1874"/>
                    <a:pt x="1424" y="1874"/>
                  </a:cubicBezTo>
                  <a:cubicBezTo>
                    <a:pt x="1175" y="1874"/>
                    <a:pt x="974" y="1672"/>
                    <a:pt x="974" y="1424"/>
                  </a:cubicBezTo>
                  <a:cubicBezTo>
                    <a:pt x="974" y="1175"/>
                    <a:pt x="1175" y="973"/>
                    <a:pt x="1424" y="973"/>
                  </a:cubicBezTo>
                  <a:cubicBezTo>
                    <a:pt x="1514" y="973"/>
                    <a:pt x="1601" y="1000"/>
                    <a:pt x="1675" y="1051"/>
                  </a:cubicBezTo>
                  <a:cubicBezTo>
                    <a:pt x="1759" y="1107"/>
                    <a:pt x="1853" y="1134"/>
                    <a:pt x="1947" y="1134"/>
                  </a:cubicBezTo>
                  <a:cubicBezTo>
                    <a:pt x="2103" y="1134"/>
                    <a:pt x="2257" y="1059"/>
                    <a:pt x="2351" y="920"/>
                  </a:cubicBezTo>
                  <a:cubicBezTo>
                    <a:pt x="2424" y="812"/>
                    <a:pt x="2450" y="682"/>
                    <a:pt x="2425" y="555"/>
                  </a:cubicBezTo>
                  <a:cubicBezTo>
                    <a:pt x="2401" y="428"/>
                    <a:pt x="2328" y="316"/>
                    <a:pt x="2220" y="244"/>
                  </a:cubicBezTo>
                  <a:cubicBezTo>
                    <a:pt x="1984" y="84"/>
                    <a:pt x="1710" y="0"/>
                    <a:pt x="14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45"/>
            <p:cNvSpPr/>
            <p:nvPr/>
          </p:nvSpPr>
          <p:spPr>
            <a:xfrm>
              <a:off x="7245072" y="792937"/>
              <a:ext cx="311756" cy="242805"/>
            </a:xfrm>
            <a:custGeom>
              <a:avLst/>
              <a:gdLst/>
              <a:ahLst/>
              <a:cxnLst/>
              <a:rect l="l" t="t" r="r" b="b"/>
              <a:pathLst>
                <a:path w="8229" h="6409" extrusionOk="0">
                  <a:moveTo>
                    <a:pt x="535" y="370"/>
                  </a:moveTo>
                  <a:cubicBezTo>
                    <a:pt x="611" y="370"/>
                    <a:pt x="672" y="431"/>
                    <a:pt x="672" y="507"/>
                  </a:cubicBezTo>
                  <a:cubicBezTo>
                    <a:pt x="672" y="585"/>
                    <a:pt x="611" y="644"/>
                    <a:pt x="535" y="644"/>
                  </a:cubicBezTo>
                  <a:cubicBezTo>
                    <a:pt x="459" y="644"/>
                    <a:pt x="398" y="584"/>
                    <a:pt x="398" y="507"/>
                  </a:cubicBezTo>
                  <a:cubicBezTo>
                    <a:pt x="398" y="431"/>
                    <a:pt x="459" y="370"/>
                    <a:pt x="535" y="370"/>
                  </a:cubicBezTo>
                  <a:close/>
                  <a:moveTo>
                    <a:pt x="7714" y="370"/>
                  </a:moveTo>
                  <a:cubicBezTo>
                    <a:pt x="7790" y="370"/>
                    <a:pt x="7852" y="431"/>
                    <a:pt x="7852" y="507"/>
                  </a:cubicBezTo>
                  <a:cubicBezTo>
                    <a:pt x="7852" y="585"/>
                    <a:pt x="7791" y="644"/>
                    <a:pt x="7714" y="644"/>
                  </a:cubicBezTo>
                  <a:cubicBezTo>
                    <a:pt x="7639" y="644"/>
                    <a:pt x="7577" y="584"/>
                    <a:pt x="7577" y="507"/>
                  </a:cubicBezTo>
                  <a:cubicBezTo>
                    <a:pt x="7577" y="431"/>
                    <a:pt x="7639" y="370"/>
                    <a:pt x="7714" y="370"/>
                  </a:cubicBezTo>
                  <a:close/>
                  <a:moveTo>
                    <a:pt x="4125" y="371"/>
                  </a:moveTo>
                  <a:cubicBezTo>
                    <a:pt x="4201" y="371"/>
                    <a:pt x="4262" y="433"/>
                    <a:pt x="4262" y="508"/>
                  </a:cubicBezTo>
                  <a:cubicBezTo>
                    <a:pt x="4262" y="585"/>
                    <a:pt x="4201" y="646"/>
                    <a:pt x="4125" y="646"/>
                  </a:cubicBezTo>
                  <a:cubicBezTo>
                    <a:pt x="4049" y="646"/>
                    <a:pt x="3987" y="585"/>
                    <a:pt x="3987" y="508"/>
                  </a:cubicBezTo>
                  <a:cubicBezTo>
                    <a:pt x="3987" y="433"/>
                    <a:pt x="4049" y="371"/>
                    <a:pt x="4125" y="371"/>
                  </a:cubicBezTo>
                  <a:close/>
                  <a:moveTo>
                    <a:pt x="535" y="3074"/>
                  </a:moveTo>
                  <a:cubicBezTo>
                    <a:pt x="611" y="3074"/>
                    <a:pt x="672" y="3136"/>
                    <a:pt x="672" y="3212"/>
                  </a:cubicBezTo>
                  <a:cubicBezTo>
                    <a:pt x="672" y="3288"/>
                    <a:pt x="611" y="3350"/>
                    <a:pt x="535" y="3350"/>
                  </a:cubicBezTo>
                  <a:cubicBezTo>
                    <a:pt x="459" y="3350"/>
                    <a:pt x="398" y="3288"/>
                    <a:pt x="398" y="3212"/>
                  </a:cubicBezTo>
                  <a:cubicBezTo>
                    <a:pt x="398" y="3136"/>
                    <a:pt x="459" y="3074"/>
                    <a:pt x="535" y="3074"/>
                  </a:cubicBezTo>
                  <a:close/>
                  <a:moveTo>
                    <a:pt x="7714" y="3074"/>
                  </a:moveTo>
                  <a:cubicBezTo>
                    <a:pt x="7790" y="3074"/>
                    <a:pt x="7852" y="3136"/>
                    <a:pt x="7852" y="3212"/>
                  </a:cubicBezTo>
                  <a:cubicBezTo>
                    <a:pt x="7852" y="3288"/>
                    <a:pt x="7791" y="3350"/>
                    <a:pt x="7714" y="3350"/>
                  </a:cubicBezTo>
                  <a:cubicBezTo>
                    <a:pt x="7639" y="3350"/>
                    <a:pt x="7577" y="3288"/>
                    <a:pt x="7577" y="3212"/>
                  </a:cubicBezTo>
                  <a:cubicBezTo>
                    <a:pt x="7577" y="3136"/>
                    <a:pt x="7639" y="3074"/>
                    <a:pt x="7714" y="3074"/>
                  </a:cubicBezTo>
                  <a:close/>
                  <a:moveTo>
                    <a:pt x="7267" y="729"/>
                  </a:moveTo>
                  <a:cubicBezTo>
                    <a:pt x="7325" y="852"/>
                    <a:pt x="7422" y="938"/>
                    <a:pt x="7537" y="981"/>
                  </a:cubicBezTo>
                  <a:lnTo>
                    <a:pt x="7537" y="2727"/>
                  </a:lnTo>
                  <a:lnTo>
                    <a:pt x="7542" y="2727"/>
                  </a:lnTo>
                  <a:lnTo>
                    <a:pt x="7542" y="2731"/>
                  </a:lnTo>
                  <a:cubicBezTo>
                    <a:pt x="7348" y="2809"/>
                    <a:pt x="7210" y="2995"/>
                    <a:pt x="7210" y="3212"/>
                  </a:cubicBezTo>
                  <a:cubicBezTo>
                    <a:pt x="7210" y="3429"/>
                    <a:pt x="7537" y="3686"/>
                    <a:pt x="7537" y="3686"/>
                  </a:cubicBezTo>
                  <a:lnTo>
                    <a:pt x="7537" y="5436"/>
                  </a:lnTo>
                  <a:cubicBezTo>
                    <a:pt x="7419" y="5480"/>
                    <a:pt x="7321" y="5567"/>
                    <a:pt x="7263" y="5678"/>
                  </a:cubicBezTo>
                  <a:lnTo>
                    <a:pt x="4563" y="5678"/>
                  </a:lnTo>
                  <a:cubicBezTo>
                    <a:pt x="4478" y="5517"/>
                    <a:pt x="4309" y="5405"/>
                    <a:pt x="4115" y="5405"/>
                  </a:cubicBezTo>
                  <a:cubicBezTo>
                    <a:pt x="3919" y="5405"/>
                    <a:pt x="3749" y="5517"/>
                    <a:pt x="3665" y="5678"/>
                  </a:cubicBezTo>
                  <a:lnTo>
                    <a:pt x="965" y="5678"/>
                  </a:lnTo>
                  <a:cubicBezTo>
                    <a:pt x="908" y="5567"/>
                    <a:pt x="810" y="5481"/>
                    <a:pt x="691" y="5436"/>
                  </a:cubicBezTo>
                  <a:lnTo>
                    <a:pt x="691" y="3680"/>
                  </a:lnTo>
                  <a:cubicBezTo>
                    <a:pt x="885" y="3608"/>
                    <a:pt x="1023" y="3423"/>
                    <a:pt x="1023" y="3204"/>
                  </a:cubicBezTo>
                  <a:cubicBezTo>
                    <a:pt x="1023" y="2985"/>
                    <a:pt x="885" y="2801"/>
                    <a:pt x="691" y="2729"/>
                  </a:cubicBezTo>
                  <a:lnTo>
                    <a:pt x="691" y="972"/>
                  </a:lnTo>
                  <a:cubicBezTo>
                    <a:pt x="810" y="928"/>
                    <a:pt x="908" y="841"/>
                    <a:pt x="965" y="729"/>
                  </a:cubicBezTo>
                  <a:lnTo>
                    <a:pt x="3677" y="729"/>
                  </a:lnTo>
                  <a:cubicBezTo>
                    <a:pt x="3677" y="729"/>
                    <a:pt x="3931" y="1013"/>
                    <a:pt x="4125" y="1013"/>
                  </a:cubicBezTo>
                  <a:cubicBezTo>
                    <a:pt x="4320" y="1013"/>
                    <a:pt x="4489" y="901"/>
                    <a:pt x="4573" y="729"/>
                  </a:cubicBezTo>
                  <a:close/>
                  <a:moveTo>
                    <a:pt x="535" y="5778"/>
                  </a:moveTo>
                  <a:cubicBezTo>
                    <a:pt x="611" y="5778"/>
                    <a:pt x="672" y="5839"/>
                    <a:pt x="672" y="5916"/>
                  </a:cubicBezTo>
                  <a:cubicBezTo>
                    <a:pt x="672" y="5991"/>
                    <a:pt x="611" y="6053"/>
                    <a:pt x="535" y="6053"/>
                  </a:cubicBezTo>
                  <a:cubicBezTo>
                    <a:pt x="459" y="6053"/>
                    <a:pt x="398" y="5991"/>
                    <a:pt x="398" y="5916"/>
                  </a:cubicBezTo>
                  <a:cubicBezTo>
                    <a:pt x="398" y="5839"/>
                    <a:pt x="459" y="5778"/>
                    <a:pt x="535" y="5778"/>
                  </a:cubicBezTo>
                  <a:close/>
                  <a:moveTo>
                    <a:pt x="4125" y="5778"/>
                  </a:moveTo>
                  <a:cubicBezTo>
                    <a:pt x="4201" y="5778"/>
                    <a:pt x="4262" y="5839"/>
                    <a:pt x="4262" y="5916"/>
                  </a:cubicBezTo>
                  <a:cubicBezTo>
                    <a:pt x="4262" y="5991"/>
                    <a:pt x="4201" y="6053"/>
                    <a:pt x="4125" y="6053"/>
                  </a:cubicBezTo>
                  <a:cubicBezTo>
                    <a:pt x="4049" y="6053"/>
                    <a:pt x="3987" y="5991"/>
                    <a:pt x="3987" y="5916"/>
                  </a:cubicBezTo>
                  <a:cubicBezTo>
                    <a:pt x="3987" y="5839"/>
                    <a:pt x="4049" y="5778"/>
                    <a:pt x="4125" y="5778"/>
                  </a:cubicBezTo>
                  <a:close/>
                  <a:moveTo>
                    <a:pt x="7714" y="5778"/>
                  </a:moveTo>
                  <a:cubicBezTo>
                    <a:pt x="7790" y="5778"/>
                    <a:pt x="7852" y="5839"/>
                    <a:pt x="7852" y="5916"/>
                  </a:cubicBezTo>
                  <a:cubicBezTo>
                    <a:pt x="7852" y="5991"/>
                    <a:pt x="7791" y="6053"/>
                    <a:pt x="7714" y="6053"/>
                  </a:cubicBezTo>
                  <a:cubicBezTo>
                    <a:pt x="7639" y="6053"/>
                    <a:pt x="7577" y="5991"/>
                    <a:pt x="7577" y="5916"/>
                  </a:cubicBezTo>
                  <a:cubicBezTo>
                    <a:pt x="7577" y="5839"/>
                    <a:pt x="7639" y="5778"/>
                    <a:pt x="7714" y="5778"/>
                  </a:cubicBezTo>
                  <a:close/>
                  <a:moveTo>
                    <a:pt x="4115" y="0"/>
                  </a:moveTo>
                  <a:cubicBezTo>
                    <a:pt x="3882" y="0"/>
                    <a:pt x="3687" y="157"/>
                    <a:pt x="3627" y="370"/>
                  </a:cubicBezTo>
                  <a:lnTo>
                    <a:pt x="1011" y="370"/>
                  </a:lnTo>
                  <a:cubicBezTo>
                    <a:pt x="953" y="157"/>
                    <a:pt x="756" y="1"/>
                    <a:pt x="525" y="1"/>
                  </a:cubicBezTo>
                  <a:cubicBezTo>
                    <a:pt x="505" y="1"/>
                    <a:pt x="484" y="2"/>
                    <a:pt x="463" y="4"/>
                  </a:cubicBezTo>
                  <a:cubicBezTo>
                    <a:pt x="230" y="32"/>
                    <a:pt x="43" y="224"/>
                    <a:pt x="22" y="459"/>
                  </a:cubicBezTo>
                  <a:cubicBezTo>
                    <a:pt x="1" y="688"/>
                    <a:pt x="135" y="889"/>
                    <a:pt x="331" y="972"/>
                  </a:cubicBezTo>
                  <a:lnTo>
                    <a:pt x="331" y="2739"/>
                  </a:lnTo>
                  <a:cubicBezTo>
                    <a:pt x="148" y="2815"/>
                    <a:pt x="20" y="2996"/>
                    <a:pt x="20" y="3205"/>
                  </a:cubicBezTo>
                  <a:cubicBezTo>
                    <a:pt x="20" y="3415"/>
                    <a:pt x="147" y="3596"/>
                    <a:pt x="331" y="3671"/>
                  </a:cubicBezTo>
                  <a:lnTo>
                    <a:pt x="331" y="5439"/>
                  </a:lnTo>
                  <a:cubicBezTo>
                    <a:pt x="135" y="5522"/>
                    <a:pt x="1" y="5723"/>
                    <a:pt x="22" y="5952"/>
                  </a:cubicBezTo>
                  <a:cubicBezTo>
                    <a:pt x="44" y="6187"/>
                    <a:pt x="230" y="6378"/>
                    <a:pt x="464" y="6405"/>
                  </a:cubicBezTo>
                  <a:cubicBezTo>
                    <a:pt x="484" y="6407"/>
                    <a:pt x="505" y="6408"/>
                    <a:pt x="525" y="6408"/>
                  </a:cubicBezTo>
                  <a:cubicBezTo>
                    <a:pt x="757" y="6408"/>
                    <a:pt x="953" y="6252"/>
                    <a:pt x="1012" y="6040"/>
                  </a:cubicBezTo>
                  <a:lnTo>
                    <a:pt x="3629" y="6040"/>
                  </a:lnTo>
                  <a:cubicBezTo>
                    <a:pt x="3687" y="6252"/>
                    <a:pt x="3883" y="6409"/>
                    <a:pt x="4116" y="6409"/>
                  </a:cubicBezTo>
                  <a:cubicBezTo>
                    <a:pt x="4347" y="6409"/>
                    <a:pt x="4542" y="6252"/>
                    <a:pt x="4603" y="6040"/>
                  </a:cubicBezTo>
                  <a:lnTo>
                    <a:pt x="7218" y="6040"/>
                  </a:lnTo>
                  <a:cubicBezTo>
                    <a:pt x="7277" y="6253"/>
                    <a:pt x="7471" y="6409"/>
                    <a:pt x="7702" y="6409"/>
                  </a:cubicBezTo>
                  <a:cubicBezTo>
                    <a:pt x="7723" y="6409"/>
                    <a:pt x="7744" y="6407"/>
                    <a:pt x="7766" y="6405"/>
                  </a:cubicBezTo>
                  <a:cubicBezTo>
                    <a:pt x="7998" y="6378"/>
                    <a:pt x="8186" y="6187"/>
                    <a:pt x="8208" y="5952"/>
                  </a:cubicBezTo>
                  <a:cubicBezTo>
                    <a:pt x="8229" y="5723"/>
                    <a:pt x="8096" y="5520"/>
                    <a:pt x="7899" y="5439"/>
                  </a:cubicBezTo>
                  <a:lnTo>
                    <a:pt x="7899" y="3671"/>
                  </a:lnTo>
                  <a:cubicBezTo>
                    <a:pt x="8081" y="3596"/>
                    <a:pt x="8211" y="3415"/>
                    <a:pt x="8211" y="3205"/>
                  </a:cubicBezTo>
                  <a:cubicBezTo>
                    <a:pt x="8211" y="2996"/>
                    <a:pt x="8082" y="2815"/>
                    <a:pt x="7899" y="2739"/>
                  </a:cubicBezTo>
                  <a:lnTo>
                    <a:pt x="7899" y="972"/>
                  </a:lnTo>
                  <a:cubicBezTo>
                    <a:pt x="8081" y="895"/>
                    <a:pt x="8210" y="716"/>
                    <a:pt x="8210" y="506"/>
                  </a:cubicBezTo>
                  <a:cubicBezTo>
                    <a:pt x="8210" y="227"/>
                    <a:pt x="7983" y="0"/>
                    <a:pt x="7704" y="0"/>
                  </a:cubicBezTo>
                  <a:cubicBezTo>
                    <a:pt x="7472" y="0"/>
                    <a:pt x="7278" y="157"/>
                    <a:pt x="7217" y="370"/>
                  </a:cubicBezTo>
                  <a:lnTo>
                    <a:pt x="4602" y="370"/>
                  </a:lnTo>
                  <a:cubicBezTo>
                    <a:pt x="4542" y="157"/>
                    <a:pt x="4346" y="0"/>
                    <a:pt x="4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6" name="Google Shape;1796;p45"/>
          <p:cNvGrpSpPr/>
          <p:nvPr/>
        </p:nvGrpSpPr>
        <p:grpSpPr>
          <a:xfrm>
            <a:off x="6317598" y="1313637"/>
            <a:ext cx="341362" cy="302150"/>
            <a:chOff x="6364624" y="740505"/>
            <a:chExt cx="476896" cy="422115"/>
          </a:xfrm>
        </p:grpSpPr>
        <p:sp>
          <p:nvSpPr>
            <p:cNvPr id="1797" name="Google Shape;1797;p45"/>
            <p:cNvSpPr/>
            <p:nvPr/>
          </p:nvSpPr>
          <p:spPr>
            <a:xfrm>
              <a:off x="6638230" y="799719"/>
              <a:ext cx="143622" cy="142410"/>
            </a:xfrm>
            <a:custGeom>
              <a:avLst/>
              <a:gdLst/>
              <a:ahLst/>
              <a:cxnLst/>
              <a:rect l="l" t="t" r="r" b="b"/>
              <a:pathLst>
                <a:path w="3791" h="3759" extrusionOk="0">
                  <a:moveTo>
                    <a:pt x="1880" y="370"/>
                  </a:moveTo>
                  <a:cubicBezTo>
                    <a:pt x="2712" y="370"/>
                    <a:pt x="3391" y="1049"/>
                    <a:pt x="3391" y="1881"/>
                  </a:cubicBezTo>
                  <a:cubicBezTo>
                    <a:pt x="3391" y="2730"/>
                    <a:pt x="2671" y="3380"/>
                    <a:pt x="1880" y="3390"/>
                  </a:cubicBezTo>
                  <a:cubicBezTo>
                    <a:pt x="1873" y="3390"/>
                    <a:pt x="1867" y="3390"/>
                    <a:pt x="1861" y="3390"/>
                  </a:cubicBezTo>
                  <a:cubicBezTo>
                    <a:pt x="1320" y="3390"/>
                    <a:pt x="846" y="3110"/>
                    <a:pt x="582" y="2638"/>
                  </a:cubicBezTo>
                  <a:cubicBezTo>
                    <a:pt x="413" y="2337"/>
                    <a:pt x="351" y="1983"/>
                    <a:pt x="391" y="1643"/>
                  </a:cubicBezTo>
                  <a:cubicBezTo>
                    <a:pt x="475" y="925"/>
                    <a:pt x="1173" y="370"/>
                    <a:pt x="1880" y="370"/>
                  </a:cubicBezTo>
                  <a:close/>
                  <a:moveTo>
                    <a:pt x="1880" y="0"/>
                  </a:moveTo>
                  <a:cubicBezTo>
                    <a:pt x="844" y="0"/>
                    <a:pt x="1" y="843"/>
                    <a:pt x="1" y="1879"/>
                  </a:cubicBezTo>
                  <a:cubicBezTo>
                    <a:pt x="1" y="2915"/>
                    <a:pt x="844" y="3758"/>
                    <a:pt x="1880" y="3758"/>
                  </a:cubicBezTo>
                  <a:cubicBezTo>
                    <a:pt x="2964" y="3758"/>
                    <a:pt x="3791" y="2750"/>
                    <a:pt x="3721" y="1690"/>
                  </a:cubicBezTo>
                  <a:cubicBezTo>
                    <a:pt x="3691" y="1261"/>
                    <a:pt x="3512" y="854"/>
                    <a:pt x="3209" y="550"/>
                  </a:cubicBezTo>
                  <a:cubicBezTo>
                    <a:pt x="2858" y="202"/>
                    <a:pt x="2376" y="0"/>
                    <a:pt x="18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5"/>
            <p:cNvSpPr/>
            <p:nvPr/>
          </p:nvSpPr>
          <p:spPr>
            <a:xfrm>
              <a:off x="6693731" y="842529"/>
              <a:ext cx="32960" cy="56903"/>
            </a:xfrm>
            <a:custGeom>
              <a:avLst/>
              <a:gdLst/>
              <a:ahLst/>
              <a:cxnLst/>
              <a:rect l="l" t="t" r="r" b="b"/>
              <a:pathLst>
                <a:path w="870" h="1502" extrusionOk="0">
                  <a:moveTo>
                    <a:pt x="661" y="1"/>
                  </a:moveTo>
                  <a:cubicBezTo>
                    <a:pt x="588" y="1"/>
                    <a:pt x="518" y="45"/>
                    <a:pt x="489" y="117"/>
                  </a:cubicBezTo>
                  <a:lnTo>
                    <a:pt x="39" y="1248"/>
                  </a:lnTo>
                  <a:cubicBezTo>
                    <a:pt x="1" y="1342"/>
                    <a:pt x="48" y="1450"/>
                    <a:pt x="142" y="1488"/>
                  </a:cubicBezTo>
                  <a:cubicBezTo>
                    <a:pt x="164" y="1497"/>
                    <a:pt x="188" y="1501"/>
                    <a:pt x="210" y="1501"/>
                  </a:cubicBezTo>
                  <a:cubicBezTo>
                    <a:pt x="284" y="1501"/>
                    <a:pt x="353" y="1456"/>
                    <a:pt x="382" y="1384"/>
                  </a:cubicBezTo>
                  <a:lnTo>
                    <a:pt x="832" y="254"/>
                  </a:lnTo>
                  <a:cubicBezTo>
                    <a:pt x="869" y="157"/>
                    <a:pt x="823" y="51"/>
                    <a:pt x="729" y="14"/>
                  </a:cubicBezTo>
                  <a:cubicBezTo>
                    <a:pt x="706" y="5"/>
                    <a:pt x="683" y="1"/>
                    <a:pt x="6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5"/>
            <p:cNvSpPr/>
            <p:nvPr/>
          </p:nvSpPr>
          <p:spPr>
            <a:xfrm>
              <a:off x="6729078" y="844575"/>
              <a:ext cx="26785" cy="52736"/>
            </a:xfrm>
            <a:custGeom>
              <a:avLst/>
              <a:gdLst/>
              <a:ahLst/>
              <a:cxnLst/>
              <a:rect l="l" t="t" r="r" b="b"/>
              <a:pathLst>
                <a:path w="707" h="1392" extrusionOk="0">
                  <a:moveTo>
                    <a:pt x="211" y="1"/>
                  </a:moveTo>
                  <a:cubicBezTo>
                    <a:pt x="179" y="1"/>
                    <a:pt x="146" y="9"/>
                    <a:pt x="116" y="27"/>
                  </a:cubicBezTo>
                  <a:cubicBezTo>
                    <a:pt x="29" y="79"/>
                    <a:pt x="1" y="193"/>
                    <a:pt x="53" y="279"/>
                  </a:cubicBezTo>
                  <a:lnTo>
                    <a:pt x="299" y="688"/>
                  </a:lnTo>
                  <a:lnTo>
                    <a:pt x="52" y="1116"/>
                  </a:lnTo>
                  <a:cubicBezTo>
                    <a:pt x="1" y="1203"/>
                    <a:pt x="31" y="1316"/>
                    <a:pt x="119" y="1368"/>
                  </a:cubicBezTo>
                  <a:cubicBezTo>
                    <a:pt x="148" y="1384"/>
                    <a:pt x="179" y="1392"/>
                    <a:pt x="210" y="1392"/>
                  </a:cubicBezTo>
                  <a:cubicBezTo>
                    <a:pt x="275" y="1392"/>
                    <a:pt x="336" y="1359"/>
                    <a:pt x="371" y="1301"/>
                  </a:cubicBezTo>
                  <a:lnTo>
                    <a:pt x="673" y="779"/>
                  </a:lnTo>
                  <a:cubicBezTo>
                    <a:pt x="707" y="721"/>
                    <a:pt x="706" y="649"/>
                    <a:pt x="671" y="592"/>
                  </a:cubicBezTo>
                  <a:lnTo>
                    <a:pt x="370" y="91"/>
                  </a:lnTo>
                  <a:cubicBezTo>
                    <a:pt x="335" y="33"/>
                    <a:pt x="274" y="1"/>
                    <a:pt x="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5"/>
            <p:cNvSpPr/>
            <p:nvPr/>
          </p:nvSpPr>
          <p:spPr>
            <a:xfrm>
              <a:off x="6663044" y="844575"/>
              <a:ext cx="26785" cy="52736"/>
            </a:xfrm>
            <a:custGeom>
              <a:avLst/>
              <a:gdLst/>
              <a:ahLst/>
              <a:cxnLst/>
              <a:rect l="l" t="t" r="r" b="b"/>
              <a:pathLst>
                <a:path w="707" h="1392" extrusionOk="0">
                  <a:moveTo>
                    <a:pt x="495" y="0"/>
                  </a:moveTo>
                  <a:cubicBezTo>
                    <a:pt x="433" y="0"/>
                    <a:pt x="373" y="32"/>
                    <a:pt x="338" y="90"/>
                  </a:cubicBezTo>
                  <a:lnTo>
                    <a:pt x="36" y="591"/>
                  </a:lnTo>
                  <a:cubicBezTo>
                    <a:pt x="0" y="648"/>
                    <a:pt x="0" y="720"/>
                    <a:pt x="35" y="778"/>
                  </a:cubicBezTo>
                  <a:lnTo>
                    <a:pt x="337" y="1301"/>
                  </a:lnTo>
                  <a:cubicBezTo>
                    <a:pt x="371" y="1359"/>
                    <a:pt x="433" y="1392"/>
                    <a:pt x="497" y="1392"/>
                  </a:cubicBezTo>
                  <a:cubicBezTo>
                    <a:pt x="528" y="1392"/>
                    <a:pt x="559" y="1384"/>
                    <a:pt x="589" y="1368"/>
                  </a:cubicBezTo>
                  <a:cubicBezTo>
                    <a:pt x="676" y="1316"/>
                    <a:pt x="706" y="1203"/>
                    <a:pt x="655" y="1116"/>
                  </a:cubicBezTo>
                  <a:lnTo>
                    <a:pt x="408" y="688"/>
                  </a:lnTo>
                  <a:lnTo>
                    <a:pt x="654" y="279"/>
                  </a:lnTo>
                  <a:cubicBezTo>
                    <a:pt x="706" y="191"/>
                    <a:pt x="679" y="79"/>
                    <a:pt x="591" y="27"/>
                  </a:cubicBezTo>
                  <a:cubicBezTo>
                    <a:pt x="561" y="9"/>
                    <a:pt x="528" y="0"/>
                    <a:pt x="4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5"/>
            <p:cNvSpPr/>
            <p:nvPr/>
          </p:nvSpPr>
          <p:spPr>
            <a:xfrm>
              <a:off x="6449487" y="767289"/>
              <a:ext cx="18677" cy="18677"/>
            </a:xfrm>
            <a:custGeom>
              <a:avLst/>
              <a:gdLst/>
              <a:ahLst/>
              <a:cxnLst/>
              <a:rect l="l" t="t" r="r" b="b"/>
              <a:pathLst>
                <a:path w="493" h="493" extrusionOk="0">
                  <a:moveTo>
                    <a:pt x="245" y="1"/>
                  </a:moveTo>
                  <a:cubicBezTo>
                    <a:pt x="109" y="1"/>
                    <a:pt x="0" y="111"/>
                    <a:pt x="0" y="247"/>
                  </a:cubicBezTo>
                  <a:cubicBezTo>
                    <a:pt x="0" y="383"/>
                    <a:pt x="110" y="493"/>
                    <a:pt x="246" y="493"/>
                  </a:cubicBezTo>
                  <a:cubicBezTo>
                    <a:pt x="383" y="493"/>
                    <a:pt x="493" y="383"/>
                    <a:pt x="493" y="247"/>
                  </a:cubicBezTo>
                  <a:cubicBezTo>
                    <a:pt x="493" y="111"/>
                    <a:pt x="383" y="1"/>
                    <a:pt x="246" y="1"/>
                  </a:cubicBezTo>
                  <a:cubicBezTo>
                    <a:pt x="246" y="1"/>
                    <a:pt x="245" y="1"/>
                    <a:pt x="2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5"/>
            <p:cNvSpPr/>
            <p:nvPr/>
          </p:nvSpPr>
          <p:spPr>
            <a:xfrm>
              <a:off x="6485212" y="767289"/>
              <a:ext cx="18715" cy="18677"/>
            </a:xfrm>
            <a:custGeom>
              <a:avLst/>
              <a:gdLst/>
              <a:ahLst/>
              <a:cxnLst/>
              <a:rect l="l" t="t" r="r" b="b"/>
              <a:pathLst>
                <a:path w="494" h="493" extrusionOk="0">
                  <a:moveTo>
                    <a:pt x="245" y="1"/>
                  </a:moveTo>
                  <a:cubicBezTo>
                    <a:pt x="110" y="1"/>
                    <a:pt x="1" y="111"/>
                    <a:pt x="1" y="247"/>
                  </a:cubicBezTo>
                  <a:cubicBezTo>
                    <a:pt x="1" y="383"/>
                    <a:pt x="111" y="493"/>
                    <a:pt x="247" y="493"/>
                  </a:cubicBezTo>
                  <a:cubicBezTo>
                    <a:pt x="383" y="493"/>
                    <a:pt x="493" y="383"/>
                    <a:pt x="493" y="247"/>
                  </a:cubicBezTo>
                  <a:cubicBezTo>
                    <a:pt x="493" y="111"/>
                    <a:pt x="383" y="1"/>
                    <a:pt x="247" y="1"/>
                  </a:cubicBezTo>
                  <a:cubicBezTo>
                    <a:pt x="246" y="1"/>
                    <a:pt x="246" y="1"/>
                    <a:pt x="2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5"/>
            <p:cNvSpPr/>
            <p:nvPr/>
          </p:nvSpPr>
          <p:spPr>
            <a:xfrm>
              <a:off x="6364624" y="740505"/>
              <a:ext cx="476896" cy="422115"/>
            </a:xfrm>
            <a:custGeom>
              <a:avLst/>
              <a:gdLst/>
              <a:ahLst/>
              <a:cxnLst/>
              <a:rect l="l" t="t" r="r" b="b"/>
              <a:pathLst>
                <a:path w="12588" h="11142" extrusionOk="0">
                  <a:moveTo>
                    <a:pt x="6537" y="3016"/>
                  </a:moveTo>
                  <a:cubicBezTo>
                    <a:pt x="6514" y="3158"/>
                    <a:pt x="6500" y="3305"/>
                    <a:pt x="6500" y="3456"/>
                  </a:cubicBezTo>
                  <a:cubicBezTo>
                    <a:pt x="6500" y="3761"/>
                    <a:pt x="6551" y="4054"/>
                    <a:pt x="6645" y="4326"/>
                  </a:cubicBezTo>
                  <a:lnTo>
                    <a:pt x="1577" y="4326"/>
                  </a:lnTo>
                  <a:lnTo>
                    <a:pt x="1577" y="3016"/>
                  </a:lnTo>
                  <a:close/>
                  <a:moveTo>
                    <a:pt x="9102" y="1160"/>
                  </a:moveTo>
                  <a:cubicBezTo>
                    <a:pt x="10361" y="1161"/>
                    <a:pt x="11385" y="2184"/>
                    <a:pt x="11385" y="3444"/>
                  </a:cubicBezTo>
                  <a:cubicBezTo>
                    <a:pt x="11385" y="3712"/>
                    <a:pt x="11338" y="3980"/>
                    <a:pt x="11244" y="4232"/>
                  </a:cubicBezTo>
                  <a:cubicBezTo>
                    <a:pt x="10908" y="5146"/>
                    <a:pt x="10023" y="5715"/>
                    <a:pt x="9102" y="5723"/>
                  </a:cubicBezTo>
                  <a:cubicBezTo>
                    <a:pt x="9095" y="5723"/>
                    <a:pt x="9088" y="5723"/>
                    <a:pt x="9081" y="5723"/>
                  </a:cubicBezTo>
                  <a:cubicBezTo>
                    <a:pt x="7849" y="5723"/>
                    <a:pt x="6818" y="4671"/>
                    <a:pt x="6818" y="3443"/>
                  </a:cubicBezTo>
                  <a:cubicBezTo>
                    <a:pt x="6818" y="2184"/>
                    <a:pt x="7843" y="1160"/>
                    <a:pt x="9102" y="1160"/>
                  </a:cubicBezTo>
                  <a:close/>
                  <a:moveTo>
                    <a:pt x="9506" y="7178"/>
                  </a:moveTo>
                  <a:lnTo>
                    <a:pt x="9506" y="9584"/>
                  </a:lnTo>
                  <a:cubicBezTo>
                    <a:pt x="9506" y="9789"/>
                    <a:pt x="9354" y="9971"/>
                    <a:pt x="9149" y="9990"/>
                  </a:cubicBezTo>
                  <a:cubicBezTo>
                    <a:pt x="9137" y="9991"/>
                    <a:pt x="9125" y="9992"/>
                    <a:pt x="9113" y="9992"/>
                  </a:cubicBezTo>
                  <a:cubicBezTo>
                    <a:pt x="8896" y="9992"/>
                    <a:pt x="8719" y="9813"/>
                    <a:pt x="8719" y="9592"/>
                  </a:cubicBezTo>
                  <a:lnTo>
                    <a:pt x="8719" y="7178"/>
                  </a:lnTo>
                  <a:close/>
                  <a:moveTo>
                    <a:pt x="621" y="1"/>
                  </a:moveTo>
                  <a:cubicBezTo>
                    <a:pt x="279" y="1"/>
                    <a:pt x="0" y="279"/>
                    <a:pt x="5" y="621"/>
                  </a:cubicBezTo>
                  <a:lnTo>
                    <a:pt x="5" y="7585"/>
                  </a:lnTo>
                  <a:cubicBezTo>
                    <a:pt x="0" y="7687"/>
                    <a:pt x="83" y="7769"/>
                    <a:pt x="184" y="7769"/>
                  </a:cubicBezTo>
                  <a:cubicBezTo>
                    <a:pt x="287" y="7769"/>
                    <a:pt x="367" y="7585"/>
                    <a:pt x="367" y="7585"/>
                  </a:cubicBezTo>
                  <a:lnTo>
                    <a:pt x="367" y="1933"/>
                  </a:lnTo>
                  <a:lnTo>
                    <a:pt x="6848" y="1933"/>
                  </a:lnTo>
                  <a:cubicBezTo>
                    <a:pt x="6704" y="2142"/>
                    <a:pt x="6592" y="2374"/>
                    <a:pt x="6514" y="2622"/>
                  </a:cubicBezTo>
                  <a:lnTo>
                    <a:pt x="1370" y="2622"/>
                  </a:lnTo>
                  <a:cubicBezTo>
                    <a:pt x="1267" y="2622"/>
                    <a:pt x="1185" y="2704"/>
                    <a:pt x="1185" y="2806"/>
                  </a:cubicBezTo>
                  <a:lnTo>
                    <a:pt x="1185" y="4502"/>
                  </a:lnTo>
                  <a:cubicBezTo>
                    <a:pt x="1185" y="4604"/>
                    <a:pt x="1267" y="4686"/>
                    <a:pt x="1370" y="4686"/>
                  </a:cubicBezTo>
                  <a:lnTo>
                    <a:pt x="6751" y="4686"/>
                  </a:lnTo>
                  <a:cubicBezTo>
                    <a:pt x="7169" y="5474"/>
                    <a:pt x="7977" y="6028"/>
                    <a:pt x="8917" y="6092"/>
                  </a:cubicBezTo>
                  <a:lnTo>
                    <a:pt x="8917" y="6817"/>
                  </a:lnTo>
                  <a:lnTo>
                    <a:pt x="8464" y="6817"/>
                  </a:lnTo>
                  <a:cubicBezTo>
                    <a:pt x="8388" y="6817"/>
                    <a:pt x="8326" y="6878"/>
                    <a:pt x="8326" y="6954"/>
                  </a:cubicBezTo>
                  <a:lnTo>
                    <a:pt x="8326" y="9714"/>
                  </a:lnTo>
                  <a:cubicBezTo>
                    <a:pt x="8326" y="9880"/>
                    <a:pt x="8436" y="10095"/>
                    <a:pt x="8573" y="10190"/>
                  </a:cubicBezTo>
                  <a:cubicBezTo>
                    <a:pt x="8749" y="10315"/>
                    <a:pt x="8929" y="10369"/>
                    <a:pt x="9097" y="10369"/>
                  </a:cubicBezTo>
                  <a:cubicBezTo>
                    <a:pt x="9522" y="10369"/>
                    <a:pt x="9867" y="10024"/>
                    <a:pt x="9867" y="9600"/>
                  </a:cubicBezTo>
                  <a:lnTo>
                    <a:pt x="9867" y="7001"/>
                  </a:lnTo>
                  <a:cubicBezTo>
                    <a:pt x="9867" y="6899"/>
                    <a:pt x="9785" y="6816"/>
                    <a:pt x="9683" y="6816"/>
                  </a:cubicBezTo>
                  <a:lnTo>
                    <a:pt x="9277" y="6816"/>
                  </a:lnTo>
                  <a:lnTo>
                    <a:pt x="9277" y="6100"/>
                  </a:lnTo>
                  <a:cubicBezTo>
                    <a:pt x="10649" y="6006"/>
                    <a:pt x="11736" y="4856"/>
                    <a:pt x="11736" y="3458"/>
                  </a:cubicBezTo>
                  <a:cubicBezTo>
                    <a:pt x="11736" y="2906"/>
                    <a:pt x="11566" y="2393"/>
                    <a:pt x="11276" y="1968"/>
                  </a:cubicBezTo>
                  <a:lnTo>
                    <a:pt x="12192" y="1968"/>
                  </a:lnTo>
                  <a:lnTo>
                    <a:pt x="12192" y="10530"/>
                  </a:lnTo>
                  <a:cubicBezTo>
                    <a:pt x="12192" y="10668"/>
                    <a:pt x="12080" y="10781"/>
                    <a:pt x="11941" y="10781"/>
                  </a:cubicBezTo>
                  <a:lnTo>
                    <a:pt x="556" y="10781"/>
                  </a:lnTo>
                  <a:cubicBezTo>
                    <a:pt x="450" y="10781"/>
                    <a:pt x="366" y="10695"/>
                    <a:pt x="366" y="10589"/>
                  </a:cubicBezTo>
                  <a:lnTo>
                    <a:pt x="366" y="8421"/>
                  </a:lnTo>
                  <a:cubicBezTo>
                    <a:pt x="366" y="8373"/>
                    <a:pt x="341" y="8327"/>
                    <a:pt x="303" y="8301"/>
                  </a:cubicBezTo>
                  <a:cubicBezTo>
                    <a:pt x="263" y="8274"/>
                    <a:pt x="223" y="8262"/>
                    <a:pt x="185" y="8262"/>
                  </a:cubicBezTo>
                  <a:cubicBezTo>
                    <a:pt x="86" y="8262"/>
                    <a:pt x="5" y="8345"/>
                    <a:pt x="5" y="8446"/>
                  </a:cubicBezTo>
                  <a:lnTo>
                    <a:pt x="5" y="10521"/>
                  </a:lnTo>
                  <a:cubicBezTo>
                    <a:pt x="5" y="10864"/>
                    <a:pt x="283" y="11141"/>
                    <a:pt x="625" y="11141"/>
                  </a:cubicBezTo>
                  <a:lnTo>
                    <a:pt x="11966" y="11141"/>
                  </a:lnTo>
                  <a:cubicBezTo>
                    <a:pt x="12308" y="11141"/>
                    <a:pt x="12586" y="10864"/>
                    <a:pt x="12586" y="10521"/>
                  </a:cubicBezTo>
                  <a:lnTo>
                    <a:pt x="12586" y="623"/>
                  </a:lnTo>
                  <a:cubicBezTo>
                    <a:pt x="12587" y="279"/>
                    <a:pt x="12307" y="2"/>
                    <a:pt x="11966" y="2"/>
                  </a:cubicBezTo>
                  <a:lnTo>
                    <a:pt x="10946" y="2"/>
                  </a:lnTo>
                  <a:cubicBezTo>
                    <a:pt x="10841" y="2"/>
                    <a:pt x="10757" y="91"/>
                    <a:pt x="10767" y="199"/>
                  </a:cubicBezTo>
                  <a:cubicBezTo>
                    <a:pt x="10775" y="293"/>
                    <a:pt x="10860" y="362"/>
                    <a:pt x="10955" y="362"/>
                  </a:cubicBezTo>
                  <a:lnTo>
                    <a:pt x="11975" y="362"/>
                  </a:lnTo>
                  <a:cubicBezTo>
                    <a:pt x="12114" y="362"/>
                    <a:pt x="12227" y="475"/>
                    <a:pt x="12227" y="613"/>
                  </a:cubicBezTo>
                  <a:lnTo>
                    <a:pt x="12227" y="1575"/>
                  </a:lnTo>
                  <a:lnTo>
                    <a:pt x="11001" y="1575"/>
                  </a:lnTo>
                  <a:cubicBezTo>
                    <a:pt x="10520" y="1086"/>
                    <a:pt x="9850" y="784"/>
                    <a:pt x="9112" y="784"/>
                  </a:cubicBezTo>
                  <a:cubicBezTo>
                    <a:pt x="8374" y="784"/>
                    <a:pt x="7704" y="1086"/>
                    <a:pt x="7223" y="1575"/>
                  </a:cubicBezTo>
                  <a:lnTo>
                    <a:pt x="366" y="1575"/>
                  </a:lnTo>
                  <a:lnTo>
                    <a:pt x="366" y="623"/>
                  </a:lnTo>
                  <a:cubicBezTo>
                    <a:pt x="366" y="623"/>
                    <a:pt x="482" y="371"/>
                    <a:pt x="621" y="362"/>
                  </a:cubicBezTo>
                  <a:lnTo>
                    <a:pt x="10091" y="362"/>
                  </a:lnTo>
                  <a:cubicBezTo>
                    <a:pt x="10096" y="362"/>
                    <a:pt x="10101" y="363"/>
                    <a:pt x="10106" y="363"/>
                  </a:cubicBezTo>
                  <a:cubicBezTo>
                    <a:pt x="10201" y="363"/>
                    <a:pt x="10276" y="283"/>
                    <a:pt x="10276" y="185"/>
                  </a:cubicBezTo>
                  <a:cubicBezTo>
                    <a:pt x="10276" y="83"/>
                    <a:pt x="10194" y="1"/>
                    <a:pt x="100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5"/>
            <p:cNvSpPr/>
            <p:nvPr/>
          </p:nvSpPr>
          <p:spPr>
            <a:xfrm>
              <a:off x="6483886" y="931331"/>
              <a:ext cx="13714" cy="201927"/>
            </a:xfrm>
            <a:custGeom>
              <a:avLst/>
              <a:gdLst/>
              <a:ahLst/>
              <a:cxnLst/>
              <a:rect l="l" t="t" r="r" b="b"/>
              <a:pathLst>
                <a:path w="362" h="5330" extrusionOk="0">
                  <a:moveTo>
                    <a:pt x="181" y="1"/>
                  </a:moveTo>
                  <a:cubicBezTo>
                    <a:pt x="82" y="1"/>
                    <a:pt x="0" y="83"/>
                    <a:pt x="0" y="185"/>
                  </a:cubicBezTo>
                  <a:lnTo>
                    <a:pt x="0" y="5140"/>
                  </a:lnTo>
                  <a:cubicBezTo>
                    <a:pt x="0" y="5228"/>
                    <a:pt x="58" y="5309"/>
                    <a:pt x="145" y="5326"/>
                  </a:cubicBezTo>
                  <a:cubicBezTo>
                    <a:pt x="157" y="5329"/>
                    <a:pt x="169" y="5330"/>
                    <a:pt x="181" y="5330"/>
                  </a:cubicBezTo>
                  <a:cubicBezTo>
                    <a:pt x="281" y="5330"/>
                    <a:pt x="362" y="5247"/>
                    <a:pt x="362" y="5145"/>
                  </a:cubicBezTo>
                  <a:lnTo>
                    <a:pt x="362" y="190"/>
                  </a:lnTo>
                  <a:cubicBezTo>
                    <a:pt x="362" y="102"/>
                    <a:pt x="304" y="21"/>
                    <a:pt x="218" y="5"/>
                  </a:cubicBezTo>
                  <a:cubicBezTo>
                    <a:pt x="206" y="2"/>
                    <a:pt x="193" y="1"/>
                    <a:pt x="1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5"/>
            <p:cNvSpPr/>
            <p:nvPr/>
          </p:nvSpPr>
          <p:spPr>
            <a:xfrm>
              <a:off x="6410162" y="949062"/>
              <a:ext cx="51940" cy="13676"/>
            </a:xfrm>
            <a:custGeom>
              <a:avLst/>
              <a:gdLst/>
              <a:ahLst/>
              <a:cxnLst/>
              <a:rect l="l" t="t" r="r" b="b"/>
              <a:pathLst>
                <a:path w="1371" h="361" extrusionOk="0">
                  <a:moveTo>
                    <a:pt x="197" y="1"/>
                  </a:moveTo>
                  <a:cubicBezTo>
                    <a:pt x="102" y="1"/>
                    <a:pt x="17" y="71"/>
                    <a:pt x="9" y="166"/>
                  </a:cubicBezTo>
                  <a:cubicBezTo>
                    <a:pt x="0" y="272"/>
                    <a:pt x="84" y="361"/>
                    <a:pt x="189" y="361"/>
                  </a:cubicBezTo>
                  <a:lnTo>
                    <a:pt x="1173" y="361"/>
                  </a:lnTo>
                  <a:cubicBezTo>
                    <a:pt x="1269" y="361"/>
                    <a:pt x="1354" y="292"/>
                    <a:pt x="1362" y="197"/>
                  </a:cubicBezTo>
                  <a:cubicBezTo>
                    <a:pt x="1370" y="90"/>
                    <a:pt x="1287" y="1"/>
                    <a:pt x="11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5"/>
            <p:cNvSpPr/>
            <p:nvPr/>
          </p:nvSpPr>
          <p:spPr>
            <a:xfrm>
              <a:off x="6410162" y="980127"/>
              <a:ext cx="51940" cy="13676"/>
            </a:xfrm>
            <a:custGeom>
              <a:avLst/>
              <a:gdLst/>
              <a:ahLst/>
              <a:cxnLst/>
              <a:rect l="l" t="t" r="r" b="b"/>
              <a:pathLst>
                <a:path w="1371" h="361" extrusionOk="0">
                  <a:moveTo>
                    <a:pt x="197" y="1"/>
                  </a:moveTo>
                  <a:cubicBezTo>
                    <a:pt x="102" y="1"/>
                    <a:pt x="17" y="70"/>
                    <a:pt x="9" y="165"/>
                  </a:cubicBezTo>
                  <a:cubicBezTo>
                    <a:pt x="0" y="272"/>
                    <a:pt x="84" y="361"/>
                    <a:pt x="189" y="361"/>
                  </a:cubicBezTo>
                  <a:lnTo>
                    <a:pt x="1173" y="361"/>
                  </a:lnTo>
                  <a:cubicBezTo>
                    <a:pt x="1269" y="361"/>
                    <a:pt x="1354" y="291"/>
                    <a:pt x="1362" y="196"/>
                  </a:cubicBezTo>
                  <a:cubicBezTo>
                    <a:pt x="1370" y="90"/>
                    <a:pt x="1287" y="1"/>
                    <a:pt x="11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5"/>
            <p:cNvSpPr/>
            <p:nvPr/>
          </p:nvSpPr>
          <p:spPr>
            <a:xfrm>
              <a:off x="6410162" y="1009943"/>
              <a:ext cx="51902" cy="13676"/>
            </a:xfrm>
            <a:custGeom>
              <a:avLst/>
              <a:gdLst/>
              <a:ahLst/>
              <a:cxnLst/>
              <a:rect l="l" t="t" r="r" b="b"/>
              <a:pathLst>
                <a:path w="1370" h="361" extrusionOk="0">
                  <a:moveTo>
                    <a:pt x="197" y="0"/>
                  </a:moveTo>
                  <a:cubicBezTo>
                    <a:pt x="102" y="0"/>
                    <a:pt x="17" y="69"/>
                    <a:pt x="9" y="164"/>
                  </a:cubicBezTo>
                  <a:cubicBezTo>
                    <a:pt x="0" y="270"/>
                    <a:pt x="84" y="360"/>
                    <a:pt x="189" y="360"/>
                  </a:cubicBezTo>
                  <a:lnTo>
                    <a:pt x="1171" y="360"/>
                  </a:lnTo>
                  <a:cubicBezTo>
                    <a:pt x="1268" y="360"/>
                    <a:pt x="1353" y="290"/>
                    <a:pt x="1360" y="197"/>
                  </a:cubicBezTo>
                  <a:cubicBezTo>
                    <a:pt x="1369" y="89"/>
                    <a:pt x="1286" y="0"/>
                    <a:pt x="1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5"/>
            <p:cNvSpPr/>
            <p:nvPr/>
          </p:nvSpPr>
          <p:spPr>
            <a:xfrm>
              <a:off x="6410162" y="1040895"/>
              <a:ext cx="51940" cy="13714"/>
            </a:xfrm>
            <a:custGeom>
              <a:avLst/>
              <a:gdLst/>
              <a:ahLst/>
              <a:cxnLst/>
              <a:rect l="l" t="t" r="r" b="b"/>
              <a:pathLst>
                <a:path w="1371" h="362" extrusionOk="0">
                  <a:moveTo>
                    <a:pt x="197" y="0"/>
                  </a:moveTo>
                  <a:cubicBezTo>
                    <a:pt x="102" y="0"/>
                    <a:pt x="17" y="69"/>
                    <a:pt x="9" y="163"/>
                  </a:cubicBezTo>
                  <a:cubicBezTo>
                    <a:pt x="0" y="272"/>
                    <a:pt x="84" y="361"/>
                    <a:pt x="189" y="361"/>
                  </a:cubicBezTo>
                  <a:lnTo>
                    <a:pt x="1173" y="361"/>
                  </a:lnTo>
                  <a:cubicBezTo>
                    <a:pt x="1269" y="361"/>
                    <a:pt x="1354" y="292"/>
                    <a:pt x="1362" y="196"/>
                  </a:cubicBezTo>
                  <a:cubicBezTo>
                    <a:pt x="1370" y="89"/>
                    <a:pt x="1287" y="0"/>
                    <a:pt x="1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5"/>
            <p:cNvSpPr/>
            <p:nvPr/>
          </p:nvSpPr>
          <p:spPr>
            <a:xfrm>
              <a:off x="6410162" y="1070748"/>
              <a:ext cx="51940" cy="13639"/>
            </a:xfrm>
            <a:custGeom>
              <a:avLst/>
              <a:gdLst/>
              <a:ahLst/>
              <a:cxnLst/>
              <a:rect l="l" t="t" r="r" b="b"/>
              <a:pathLst>
                <a:path w="1371" h="360" extrusionOk="0">
                  <a:moveTo>
                    <a:pt x="197" y="1"/>
                  </a:moveTo>
                  <a:cubicBezTo>
                    <a:pt x="102" y="1"/>
                    <a:pt x="17" y="70"/>
                    <a:pt x="9" y="165"/>
                  </a:cubicBezTo>
                  <a:cubicBezTo>
                    <a:pt x="0" y="271"/>
                    <a:pt x="84" y="360"/>
                    <a:pt x="189" y="360"/>
                  </a:cubicBezTo>
                  <a:lnTo>
                    <a:pt x="1173" y="360"/>
                  </a:lnTo>
                  <a:cubicBezTo>
                    <a:pt x="1269" y="360"/>
                    <a:pt x="1354" y="291"/>
                    <a:pt x="1362" y="197"/>
                  </a:cubicBezTo>
                  <a:cubicBezTo>
                    <a:pt x="1370" y="90"/>
                    <a:pt x="1287" y="1"/>
                    <a:pt x="11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5"/>
            <p:cNvSpPr/>
            <p:nvPr/>
          </p:nvSpPr>
          <p:spPr>
            <a:xfrm>
              <a:off x="6410162" y="1101776"/>
              <a:ext cx="51902" cy="13714"/>
            </a:xfrm>
            <a:custGeom>
              <a:avLst/>
              <a:gdLst/>
              <a:ahLst/>
              <a:cxnLst/>
              <a:rect l="l" t="t" r="r" b="b"/>
              <a:pathLst>
                <a:path w="1370" h="362" extrusionOk="0">
                  <a:moveTo>
                    <a:pt x="197" y="1"/>
                  </a:moveTo>
                  <a:cubicBezTo>
                    <a:pt x="102" y="1"/>
                    <a:pt x="17" y="70"/>
                    <a:pt x="9" y="164"/>
                  </a:cubicBezTo>
                  <a:cubicBezTo>
                    <a:pt x="0" y="271"/>
                    <a:pt x="84" y="361"/>
                    <a:pt x="189" y="361"/>
                  </a:cubicBezTo>
                  <a:lnTo>
                    <a:pt x="1171" y="361"/>
                  </a:lnTo>
                  <a:cubicBezTo>
                    <a:pt x="1268" y="361"/>
                    <a:pt x="1353" y="292"/>
                    <a:pt x="1360" y="198"/>
                  </a:cubicBezTo>
                  <a:cubicBezTo>
                    <a:pt x="1369" y="90"/>
                    <a:pt x="1286" y="1"/>
                    <a:pt x="11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1" name="Google Shape;1811;p45"/>
          <p:cNvGrpSpPr/>
          <p:nvPr/>
        </p:nvGrpSpPr>
        <p:grpSpPr>
          <a:xfrm>
            <a:off x="3567729" y="3065739"/>
            <a:ext cx="341254" cy="302123"/>
            <a:chOff x="5553999" y="740543"/>
            <a:chExt cx="476745" cy="422077"/>
          </a:xfrm>
        </p:grpSpPr>
        <p:sp>
          <p:nvSpPr>
            <p:cNvPr id="1812" name="Google Shape;1812;p45"/>
            <p:cNvSpPr/>
            <p:nvPr/>
          </p:nvSpPr>
          <p:spPr>
            <a:xfrm>
              <a:off x="5553999" y="740543"/>
              <a:ext cx="476745" cy="422077"/>
            </a:xfrm>
            <a:custGeom>
              <a:avLst/>
              <a:gdLst/>
              <a:ahLst/>
              <a:cxnLst/>
              <a:rect l="l" t="t" r="r" b="b"/>
              <a:pathLst>
                <a:path w="12584" h="11141" extrusionOk="0">
                  <a:moveTo>
                    <a:pt x="12223" y="1967"/>
                  </a:moveTo>
                  <a:lnTo>
                    <a:pt x="12223" y="10529"/>
                  </a:lnTo>
                  <a:cubicBezTo>
                    <a:pt x="12223" y="10667"/>
                    <a:pt x="12110" y="10780"/>
                    <a:pt x="11971" y="10780"/>
                  </a:cubicBezTo>
                  <a:lnTo>
                    <a:pt x="613" y="10780"/>
                  </a:lnTo>
                  <a:cubicBezTo>
                    <a:pt x="475" y="10780"/>
                    <a:pt x="362" y="10667"/>
                    <a:pt x="362" y="10529"/>
                  </a:cubicBezTo>
                  <a:lnTo>
                    <a:pt x="362" y="1967"/>
                  </a:lnTo>
                  <a:close/>
                  <a:moveTo>
                    <a:pt x="622" y="1"/>
                  </a:moveTo>
                  <a:cubicBezTo>
                    <a:pt x="278" y="1"/>
                    <a:pt x="1" y="278"/>
                    <a:pt x="1" y="622"/>
                  </a:cubicBezTo>
                  <a:lnTo>
                    <a:pt x="1" y="10520"/>
                  </a:lnTo>
                  <a:cubicBezTo>
                    <a:pt x="1" y="10863"/>
                    <a:pt x="278" y="11140"/>
                    <a:pt x="622" y="11140"/>
                  </a:cubicBezTo>
                  <a:lnTo>
                    <a:pt x="11962" y="11140"/>
                  </a:lnTo>
                  <a:cubicBezTo>
                    <a:pt x="12305" y="11140"/>
                    <a:pt x="12583" y="10863"/>
                    <a:pt x="12583" y="10520"/>
                  </a:cubicBezTo>
                  <a:lnTo>
                    <a:pt x="12583" y="622"/>
                  </a:lnTo>
                  <a:cubicBezTo>
                    <a:pt x="12584" y="278"/>
                    <a:pt x="12305" y="1"/>
                    <a:pt x="11964" y="1"/>
                  </a:cubicBezTo>
                  <a:lnTo>
                    <a:pt x="9236" y="1"/>
                  </a:lnTo>
                  <a:cubicBezTo>
                    <a:pt x="9141" y="1"/>
                    <a:pt x="9055" y="71"/>
                    <a:pt x="9048" y="165"/>
                  </a:cubicBezTo>
                  <a:cubicBezTo>
                    <a:pt x="9038" y="272"/>
                    <a:pt x="9122" y="361"/>
                    <a:pt x="9227" y="361"/>
                  </a:cubicBezTo>
                  <a:lnTo>
                    <a:pt x="11972" y="361"/>
                  </a:lnTo>
                  <a:cubicBezTo>
                    <a:pt x="12111" y="361"/>
                    <a:pt x="12223" y="474"/>
                    <a:pt x="12223" y="612"/>
                  </a:cubicBezTo>
                  <a:lnTo>
                    <a:pt x="12223" y="1574"/>
                  </a:lnTo>
                  <a:lnTo>
                    <a:pt x="362" y="1574"/>
                  </a:lnTo>
                  <a:lnTo>
                    <a:pt x="362" y="553"/>
                  </a:lnTo>
                  <a:cubicBezTo>
                    <a:pt x="362" y="446"/>
                    <a:pt x="448" y="361"/>
                    <a:pt x="554" y="361"/>
                  </a:cubicBezTo>
                  <a:lnTo>
                    <a:pt x="8393" y="361"/>
                  </a:lnTo>
                  <a:cubicBezTo>
                    <a:pt x="8441" y="361"/>
                    <a:pt x="8487" y="337"/>
                    <a:pt x="8514" y="298"/>
                  </a:cubicBezTo>
                  <a:cubicBezTo>
                    <a:pt x="8612" y="154"/>
                    <a:pt x="8508" y="1"/>
                    <a:pt x="83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5"/>
            <p:cNvSpPr/>
            <p:nvPr/>
          </p:nvSpPr>
          <p:spPr>
            <a:xfrm>
              <a:off x="5603022" y="767289"/>
              <a:ext cx="18677" cy="18677"/>
            </a:xfrm>
            <a:custGeom>
              <a:avLst/>
              <a:gdLst/>
              <a:ahLst/>
              <a:cxnLst/>
              <a:rect l="l" t="t" r="r" b="b"/>
              <a:pathLst>
                <a:path w="493" h="493" extrusionOk="0">
                  <a:moveTo>
                    <a:pt x="244" y="1"/>
                  </a:moveTo>
                  <a:cubicBezTo>
                    <a:pt x="109" y="1"/>
                    <a:pt x="0" y="111"/>
                    <a:pt x="0" y="247"/>
                  </a:cubicBezTo>
                  <a:cubicBezTo>
                    <a:pt x="0" y="383"/>
                    <a:pt x="110" y="493"/>
                    <a:pt x="246" y="493"/>
                  </a:cubicBezTo>
                  <a:cubicBezTo>
                    <a:pt x="383" y="493"/>
                    <a:pt x="493" y="383"/>
                    <a:pt x="493" y="247"/>
                  </a:cubicBezTo>
                  <a:cubicBezTo>
                    <a:pt x="493" y="111"/>
                    <a:pt x="383" y="1"/>
                    <a:pt x="246" y="1"/>
                  </a:cubicBezTo>
                  <a:cubicBezTo>
                    <a:pt x="246" y="1"/>
                    <a:pt x="245" y="1"/>
                    <a:pt x="2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5"/>
            <p:cNvSpPr/>
            <p:nvPr/>
          </p:nvSpPr>
          <p:spPr>
            <a:xfrm>
              <a:off x="5638710" y="767289"/>
              <a:ext cx="18715" cy="18677"/>
            </a:xfrm>
            <a:custGeom>
              <a:avLst/>
              <a:gdLst/>
              <a:ahLst/>
              <a:cxnLst/>
              <a:rect l="l" t="t" r="r" b="b"/>
              <a:pathLst>
                <a:path w="494" h="493" extrusionOk="0">
                  <a:moveTo>
                    <a:pt x="245" y="1"/>
                  </a:moveTo>
                  <a:cubicBezTo>
                    <a:pt x="110" y="1"/>
                    <a:pt x="1" y="111"/>
                    <a:pt x="1" y="247"/>
                  </a:cubicBezTo>
                  <a:cubicBezTo>
                    <a:pt x="1" y="383"/>
                    <a:pt x="111" y="493"/>
                    <a:pt x="247" y="493"/>
                  </a:cubicBezTo>
                  <a:cubicBezTo>
                    <a:pt x="383" y="493"/>
                    <a:pt x="493" y="383"/>
                    <a:pt x="493" y="247"/>
                  </a:cubicBezTo>
                  <a:cubicBezTo>
                    <a:pt x="493" y="111"/>
                    <a:pt x="383" y="1"/>
                    <a:pt x="247" y="1"/>
                  </a:cubicBezTo>
                  <a:cubicBezTo>
                    <a:pt x="246" y="1"/>
                    <a:pt x="246" y="1"/>
                    <a:pt x="2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5"/>
            <p:cNvSpPr/>
            <p:nvPr/>
          </p:nvSpPr>
          <p:spPr>
            <a:xfrm>
              <a:off x="5674511" y="767289"/>
              <a:ext cx="18639" cy="18677"/>
            </a:xfrm>
            <a:custGeom>
              <a:avLst/>
              <a:gdLst/>
              <a:ahLst/>
              <a:cxnLst/>
              <a:rect l="l" t="t" r="r" b="b"/>
              <a:pathLst>
                <a:path w="492" h="493" extrusionOk="0">
                  <a:moveTo>
                    <a:pt x="244" y="1"/>
                  </a:moveTo>
                  <a:cubicBezTo>
                    <a:pt x="110" y="1"/>
                    <a:pt x="1" y="111"/>
                    <a:pt x="1" y="247"/>
                  </a:cubicBezTo>
                  <a:cubicBezTo>
                    <a:pt x="1" y="383"/>
                    <a:pt x="111" y="493"/>
                    <a:pt x="246" y="493"/>
                  </a:cubicBezTo>
                  <a:cubicBezTo>
                    <a:pt x="382" y="493"/>
                    <a:pt x="492" y="383"/>
                    <a:pt x="492" y="247"/>
                  </a:cubicBezTo>
                  <a:cubicBezTo>
                    <a:pt x="492" y="111"/>
                    <a:pt x="382" y="1"/>
                    <a:pt x="246" y="1"/>
                  </a:cubicBezTo>
                  <a:cubicBezTo>
                    <a:pt x="245" y="1"/>
                    <a:pt x="244" y="1"/>
                    <a:pt x="2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5"/>
            <p:cNvSpPr/>
            <p:nvPr/>
          </p:nvSpPr>
          <p:spPr>
            <a:xfrm>
              <a:off x="5711866" y="985166"/>
              <a:ext cx="53077" cy="61146"/>
            </a:xfrm>
            <a:custGeom>
              <a:avLst/>
              <a:gdLst/>
              <a:ahLst/>
              <a:cxnLst/>
              <a:rect l="l" t="t" r="r" b="b"/>
              <a:pathLst>
                <a:path w="1401" h="1614" extrusionOk="0">
                  <a:moveTo>
                    <a:pt x="700" y="663"/>
                  </a:moveTo>
                  <a:lnTo>
                    <a:pt x="809" y="948"/>
                  </a:lnTo>
                  <a:lnTo>
                    <a:pt x="592" y="948"/>
                  </a:lnTo>
                  <a:lnTo>
                    <a:pt x="700" y="663"/>
                  </a:lnTo>
                  <a:close/>
                  <a:moveTo>
                    <a:pt x="702" y="1"/>
                  </a:moveTo>
                  <a:cubicBezTo>
                    <a:pt x="615" y="1"/>
                    <a:pt x="538" y="53"/>
                    <a:pt x="505" y="134"/>
                  </a:cubicBezTo>
                  <a:cubicBezTo>
                    <a:pt x="505" y="135"/>
                    <a:pt x="504" y="136"/>
                    <a:pt x="504" y="137"/>
                  </a:cubicBezTo>
                  <a:lnTo>
                    <a:pt x="37" y="1364"/>
                  </a:lnTo>
                  <a:cubicBezTo>
                    <a:pt x="0" y="1460"/>
                    <a:pt x="48" y="1565"/>
                    <a:pt x="143" y="1602"/>
                  </a:cubicBezTo>
                  <a:cubicBezTo>
                    <a:pt x="163" y="1610"/>
                    <a:pt x="185" y="1614"/>
                    <a:pt x="207" y="1614"/>
                  </a:cubicBezTo>
                  <a:cubicBezTo>
                    <a:pt x="281" y="1614"/>
                    <a:pt x="352" y="1569"/>
                    <a:pt x="381" y="1496"/>
                  </a:cubicBezTo>
                  <a:lnTo>
                    <a:pt x="452" y="1309"/>
                  </a:lnTo>
                  <a:lnTo>
                    <a:pt x="948" y="1309"/>
                  </a:lnTo>
                  <a:lnTo>
                    <a:pt x="1016" y="1488"/>
                  </a:lnTo>
                  <a:cubicBezTo>
                    <a:pt x="1044" y="1563"/>
                    <a:pt x="1116" y="1613"/>
                    <a:pt x="1192" y="1613"/>
                  </a:cubicBezTo>
                  <a:cubicBezTo>
                    <a:pt x="1206" y="1613"/>
                    <a:pt x="1219" y="1612"/>
                    <a:pt x="1233" y="1608"/>
                  </a:cubicBezTo>
                  <a:cubicBezTo>
                    <a:pt x="1343" y="1581"/>
                    <a:pt x="1400" y="1467"/>
                    <a:pt x="1363" y="1363"/>
                  </a:cubicBezTo>
                  <a:lnTo>
                    <a:pt x="901" y="139"/>
                  </a:lnTo>
                  <a:cubicBezTo>
                    <a:pt x="901" y="137"/>
                    <a:pt x="900" y="135"/>
                    <a:pt x="898" y="134"/>
                  </a:cubicBezTo>
                  <a:cubicBezTo>
                    <a:pt x="865" y="53"/>
                    <a:pt x="788" y="1"/>
                    <a:pt x="7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5"/>
            <p:cNvSpPr/>
            <p:nvPr/>
          </p:nvSpPr>
          <p:spPr>
            <a:xfrm>
              <a:off x="5861890" y="985810"/>
              <a:ext cx="45955" cy="60275"/>
            </a:xfrm>
            <a:custGeom>
              <a:avLst/>
              <a:gdLst/>
              <a:ahLst/>
              <a:cxnLst/>
              <a:rect l="l" t="t" r="r" b="b"/>
              <a:pathLst>
                <a:path w="1213" h="1591" extrusionOk="0">
                  <a:moveTo>
                    <a:pt x="186" y="1"/>
                  </a:moveTo>
                  <a:cubicBezTo>
                    <a:pt x="149" y="1"/>
                    <a:pt x="111" y="12"/>
                    <a:pt x="77" y="36"/>
                  </a:cubicBezTo>
                  <a:cubicBezTo>
                    <a:pt x="27" y="72"/>
                    <a:pt x="0" y="129"/>
                    <a:pt x="0" y="190"/>
                  </a:cubicBezTo>
                  <a:lnTo>
                    <a:pt x="0" y="1402"/>
                  </a:lnTo>
                  <a:cubicBezTo>
                    <a:pt x="0" y="1497"/>
                    <a:pt x="69" y="1583"/>
                    <a:pt x="164" y="1590"/>
                  </a:cubicBezTo>
                  <a:cubicBezTo>
                    <a:pt x="169" y="1591"/>
                    <a:pt x="175" y="1591"/>
                    <a:pt x="180" y="1591"/>
                  </a:cubicBezTo>
                  <a:cubicBezTo>
                    <a:pt x="280" y="1591"/>
                    <a:pt x="360" y="1510"/>
                    <a:pt x="360" y="1411"/>
                  </a:cubicBezTo>
                  <a:lnTo>
                    <a:pt x="360" y="774"/>
                  </a:lnTo>
                  <a:lnTo>
                    <a:pt x="854" y="1490"/>
                  </a:lnTo>
                  <a:cubicBezTo>
                    <a:pt x="901" y="1558"/>
                    <a:pt x="963" y="1582"/>
                    <a:pt x="1019" y="1582"/>
                  </a:cubicBezTo>
                  <a:cubicBezTo>
                    <a:pt x="1040" y="1582"/>
                    <a:pt x="1059" y="1579"/>
                    <a:pt x="1077" y="1573"/>
                  </a:cubicBezTo>
                  <a:cubicBezTo>
                    <a:pt x="1108" y="1563"/>
                    <a:pt x="1213" y="1519"/>
                    <a:pt x="1213" y="1369"/>
                  </a:cubicBezTo>
                  <a:lnTo>
                    <a:pt x="1213" y="183"/>
                  </a:lnTo>
                  <a:cubicBezTo>
                    <a:pt x="1213" y="83"/>
                    <a:pt x="1132" y="2"/>
                    <a:pt x="1033" y="2"/>
                  </a:cubicBezTo>
                  <a:cubicBezTo>
                    <a:pt x="933" y="2"/>
                    <a:pt x="853" y="83"/>
                    <a:pt x="853" y="183"/>
                  </a:cubicBezTo>
                  <a:lnTo>
                    <a:pt x="853" y="825"/>
                  </a:lnTo>
                  <a:lnTo>
                    <a:pt x="338" y="81"/>
                  </a:lnTo>
                  <a:cubicBezTo>
                    <a:pt x="303" y="30"/>
                    <a:pt x="245" y="1"/>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5"/>
            <p:cNvSpPr/>
            <p:nvPr/>
          </p:nvSpPr>
          <p:spPr>
            <a:xfrm>
              <a:off x="5607417" y="986416"/>
              <a:ext cx="29891" cy="61109"/>
            </a:xfrm>
            <a:custGeom>
              <a:avLst/>
              <a:gdLst/>
              <a:ahLst/>
              <a:cxnLst/>
              <a:rect l="l" t="t" r="r" b="b"/>
              <a:pathLst>
                <a:path w="789" h="1613" extrusionOk="0">
                  <a:moveTo>
                    <a:pt x="181" y="0"/>
                  </a:moveTo>
                  <a:cubicBezTo>
                    <a:pt x="82" y="0"/>
                    <a:pt x="2" y="82"/>
                    <a:pt x="2" y="184"/>
                  </a:cubicBezTo>
                  <a:lnTo>
                    <a:pt x="2" y="1428"/>
                  </a:lnTo>
                  <a:cubicBezTo>
                    <a:pt x="1" y="1517"/>
                    <a:pt x="64" y="1596"/>
                    <a:pt x="150" y="1612"/>
                  </a:cubicBezTo>
                  <a:cubicBezTo>
                    <a:pt x="150" y="1612"/>
                    <a:pt x="292" y="1613"/>
                    <a:pt x="428" y="1613"/>
                  </a:cubicBezTo>
                  <a:cubicBezTo>
                    <a:pt x="496" y="1613"/>
                    <a:pt x="562" y="1613"/>
                    <a:pt x="609" y="1612"/>
                  </a:cubicBezTo>
                  <a:cubicBezTo>
                    <a:pt x="709" y="1612"/>
                    <a:pt x="788" y="1528"/>
                    <a:pt x="788" y="1427"/>
                  </a:cubicBezTo>
                  <a:cubicBezTo>
                    <a:pt x="788" y="1326"/>
                    <a:pt x="706" y="1243"/>
                    <a:pt x="607" y="1243"/>
                  </a:cubicBezTo>
                  <a:lnTo>
                    <a:pt x="606" y="1243"/>
                  </a:lnTo>
                  <a:cubicBezTo>
                    <a:pt x="522" y="1243"/>
                    <a:pt x="434" y="1244"/>
                    <a:pt x="361" y="1244"/>
                  </a:cubicBezTo>
                  <a:lnTo>
                    <a:pt x="361" y="191"/>
                  </a:lnTo>
                  <a:cubicBezTo>
                    <a:pt x="361" y="95"/>
                    <a:pt x="292" y="10"/>
                    <a:pt x="197" y="1"/>
                  </a:cubicBezTo>
                  <a:cubicBezTo>
                    <a:pt x="192" y="1"/>
                    <a:pt x="187"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5"/>
            <p:cNvSpPr/>
            <p:nvPr/>
          </p:nvSpPr>
          <p:spPr>
            <a:xfrm>
              <a:off x="5833325" y="987894"/>
              <a:ext cx="13714" cy="57661"/>
            </a:xfrm>
            <a:custGeom>
              <a:avLst/>
              <a:gdLst/>
              <a:ahLst/>
              <a:cxnLst/>
              <a:rect l="l" t="t" r="r" b="b"/>
              <a:pathLst>
                <a:path w="362" h="1522" extrusionOk="0">
                  <a:moveTo>
                    <a:pt x="181" y="1"/>
                  </a:moveTo>
                  <a:cubicBezTo>
                    <a:pt x="82" y="1"/>
                    <a:pt x="0" y="83"/>
                    <a:pt x="0" y="182"/>
                  </a:cubicBezTo>
                  <a:lnTo>
                    <a:pt x="0" y="1332"/>
                  </a:lnTo>
                  <a:cubicBezTo>
                    <a:pt x="0" y="1428"/>
                    <a:pt x="69" y="1513"/>
                    <a:pt x="163" y="1521"/>
                  </a:cubicBezTo>
                  <a:cubicBezTo>
                    <a:pt x="169" y="1521"/>
                    <a:pt x="175" y="1521"/>
                    <a:pt x="180" y="1521"/>
                  </a:cubicBezTo>
                  <a:cubicBezTo>
                    <a:pt x="280" y="1521"/>
                    <a:pt x="360" y="1441"/>
                    <a:pt x="360" y="1341"/>
                  </a:cubicBezTo>
                  <a:lnTo>
                    <a:pt x="360" y="181"/>
                  </a:lnTo>
                  <a:cubicBezTo>
                    <a:pt x="361" y="80"/>
                    <a:pt x="281" y="1"/>
                    <a:pt x="1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5"/>
            <p:cNvSpPr/>
            <p:nvPr/>
          </p:nvSpPr>
          <p:spPr>
            <a:xfrm>
              <a:off x="5775020" y="987553"/>
              <a:ext cx="45348" cy="59669"/>
            </a:xfrm>
            <a:custGeom>
              <a:avLst/>
              <a:gdLst/>
              <a:ahLst/>
              <a:cxnLst/>
              <a:rect l="l" t="t" r="r" b="b"/>
              <a:pathLst>
                <a:path w="1197" h="1575" extrusionOk="0">
                  <a:moveTo>
                    <a:pt x="514" y="361"/>
                  </a:moveTo>
                  <a:cubicBezTo>
                    <a:pt x="795" y="361"/>
                    <a:pt x="817" y="681"/>
                    <a:pt x="817" y="780"/>
                  </a:cubicBezTo>
                  <a:cubicBezTo>
                    <a:pt x="816" y="985"/>
                    <a:pt x="725" y="1194"/>
                    <a:pt x="521" y="1198"/>
                  </a:cubicBezTo>
                  <a:cubicBezTo>
                    <a:pt x="482" y="1199"/>
                    <a:pt x="419" y="1199"/>
                    <a:pt x="359" y="1199"/>
                  </a:cubicBezTo>
                  <a:cubicBezTo>
                    <a:pt x="359" y="1058"/>
                    <a:pt x="357" y="506"/>
                    <a:pt x="357" y="361"/>
                  </a:cubicBezTo>
                  <a:close/>
                  <a:moveTo>
                    <a:pt x="184" y="0"/>
                  </a:moveTo>
                  <a:cubicBezTo>
                    <a:pt x="136" y="0"/>
                    <a:pt x="89" y="20"/>
                    <a:pt x="55" y="55"/>
                  </a:cubicBezTo>
                  <a:cubicBezTo>
                    <a:pt x="20" y="88"/>
                    <a:pt x="1" y="136"/>
                    <a:pt x="1" y="186"/>
                  </a:cubicBezTo>
                  <a:lnTo>
                    <a:pt x="4" y="1391"/>
                  </a:lnTo>
                  <a:cubicBezTo>
                    <a:pt x="4" y="1440"/>
                    <a:pt x="24" y="1487"/>
                    <a:pt x="57" y="1521"/>
                  </a:cubicBezTo>
                  <a:cubicBezTo>
                    <a:pt x="92" y="1555"/>
                    <a:pt x="139" y="1575"/>
                    <a:pt x="187" y="1575"/>
                  </a:cubicBezTo>
                  <a:cubicBezTo>
                    <a:pt x="197" y="1575"/>
                    <a:pt x="440" y="1574"/>
                    <a:pt x="538" y="1571"/>
                  </a:cubicBezTo>
                  <a:cubicBezTo>
                    <a:pt x="919" y="1565"/>
                    <a:pt x="1195" y="1235"/>
                    <a:pt x="1195" y="788"/>
                  </a:cubicBezTo>
                  <a:cubicBezTo>
                    <a:pt x="1197" y="317"/>
                    <a:pt x="926" y="0"/>
                    <a:pt x="5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5"/>
            <p:cNvSpPr/>
            <p:nvPr/>
          </p:nvSpPr>
          <p:spPr>
            <a:xfrm>
              <a:off x="5909701" y="986795"/>
              <a:ext cx="66678" cy="59820"/>
            </a:xfrm>
            <a:custGeom>
              <a:avLst/>
              <a:gdLst/>
              <a:ahLst/>
              <a:cxnLst/>
              <a:rect l="l" t="t" r="r" b="b"/>
              <a:pathLst>
                <a:path w="1760" h="1579" extrusionOk="0">
                  <a:moveTo>
                    <a:pt x="1054" y="1"/>
                  </a:moveTo>
                  <a:cubicBezTo>
                    <a:pt x="860" y="1"/>
                    <a:pt x="658" y="71"/>
                    <a:pt x="478" y="220"/>
                  </a:cubicBezTo>
                  <a:cubicBezTo>
                    <a:pt x="466" y="232"/>
                    <a:pt x="455" y="244"/>
                    <a:pt x="445" y="256"/>
                  </a:cubicBezTo>
                  <a:cubicBezTo>
                    <a:pt x="0" y="893"/>
                    <a:pt x="448" y="1579"/>
                    <a:pt x="1054" y="1579"/>
                  </a:cubicBezTo>
                  <a:cubicBezTo>
                    <a:pt x="1470" y="1579"/>
                    <a:pt x="1760" y="1254"/>
                    <a:pt x="1760" y="790"/>
                  </a:cubicBezTo>
                  <a:cubicBezTo>
                    <a:pt x="1760" y="691"/>
                    <a:pt x="1679" y="610"/>
                    <a:pt x="1580" y="610"/>
                  </a:cubicBezTo>
                  <a:lnTo>
                    <a:pt x="1146" y="610"/>
                  </a:lnTo>
                  <a:cubicBezTo>
                    <a:pt x="1136" y="610"/>
                    <a:pt x="1125" y="614"/>
                    <a:pt x="1117" y="622"/>
                  </a:cubicBezTo>
                  <a:cubicBezTo>
                    <a:pt x="953" y="779"/>
                    <a:pt x="1062" y="971"/>
                    <a:pt x="1216" y="971"/>
                  </a:cubicBezTo>
                  <a:lnTo>
                    <a:pt x="1376" y="971"/>
                  </a:lnTo>
                  <a:cubicBezTo>
                    <a:pt x="1323" y="1151"/>
                    <a:pt x="1185" y="1219"/>
                    <a:pt x="1056" y="1219"/>
                  </a:cubicBezTo>
                  <a:cubicBezTo>
                    <a:pt x="727" y="1219"/>
                    <a:pt x="483" y="847"/>
                    <a:pt x="724" y="501"/>
                  </a:cubicBezTo>
                  <a:cubicBezTo>
                    <a:pt x="729" y="493"/>
                    <a:pt x="737" y="487"/>
                    <a:pt x="743" y="480"/>
                  </a:cubicBezTo>
                  <a:cubicBezTo>
                    <a:pt x="840" y="399"/>
                    <a:pt x="950" y="361"/>
                    <a:pt x="1055" y="361"/>
                  </a:cubicBezTo>
                  <a:cubicBezTo>
                    <a:pt x="1161" y="361"/>
                    <a:pt x="1262" y="399"/>
                    <a:pt x="1341" y="471"/>
                  </a:cubicBezTo>
                  <a:cubicBezTo>
                    <a:pt x="1349" y="478"/>
                    <a:pt x="1359" y="481"/>
                    <a:pt x="1369" y="481"/>
                  </a:cubicBezTo>
                  <a:cubicBezTo>
                    <a:pt x="1370" y="481"/>
                    <a:pt x="1372" y="481"/>
                    <a:pt x="1373" y="481"/>
                  </a:cubicBezTo>
                  <a:cubicBezTo>
                    <a:pt x="1606" y="448"/>
                    <a:pt x="1625" y="223"/>
                    <a:pt x="1496" y="136"/>
                  </a:cubicBezTo>
                  <a:cubicBezTo>
                    <a:pt x="1365" y="48"/>
                    <a:pt x="1212" y="1"/>
                    <a:pt x="10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5"/>
            <p:cNvSpPr/>
            <p:nvPr/>
          </p:nvSpPr>
          <p:spPr>
            <a:xfrm>
              <a:off x="5644771" y="985772"/>
              <a:ext cx="61109" cy="61146"/>
            </a:xfrm>
            <a:custGeom>
              <a:avLst/>
              <a:gdLst/>
              <a:ahLst/>
              <a:cxnLst/>
              <a:rect l="l" t="t" r="r" b="b"/>
              <a:pathLst>
                <a:path w="1613" h="1614" extrusionOk="0">
                  <a:moveTo>
                    <a:pt x="807" y="369"/>
                  </a:moveTo>
                  <a:cubicBezTo>
                    <a:pt x="1048" y="369"/>
                    <a:pt x="1244" y="565"/>
                    <a:pt x="1244" y="807"/>
                  </a:cubicBezTo>
                  <a:cubicBezTo>
                    <a:pt x="1244" y="1050"/>
                    <a:pt x="1048" y="1246"/>
                    <a:pt x="807" y="1246"/>
                  </a:cubicBezTo>
                  <a:cubicBezTo>
                    <a:pt x="566" y="1246"/>
                    <a:pt x="368" y="1050"/>
                    <a:pt x="368" y="807"/>
                  </a:cubicBezTo>
                  <a:cubicBezTo>
                    <a:pt x="368" y="566"/>
                    <a:pt x="564" y="369"/>
                    <a:pt x="807" y="369"/>
                  </a:cubicBezTo>
                  <a:close/>
                  <a:moveTo>
                    <a:pt x="807" y="0"/>
                  </a:moveTo>
                  <a:cubicBezTo>
                    <a:pt x="361" y="0"/>
                    <a:pt x="0" y="362"/>
                    <a:pt x="0" y="807"/>
                  </a:cubicBezTo>
                  <a:cubicBezTo>
                    <a:pt x="0" y="1252"/>
                    <a:pt x="361" y="1613"/>
                    <a:pt x="807" y="1613"/>
                  </a:cubicBezTo>
                  <a:cubicBezTo>
                    <a:pt x="1252" y="1613"/>
                    <a:pt x="1613" y="1252"/>
                    <a:pt x="1613" y="807"/>
                  </a:cubicBezTo>
                  <a:cubicBezTo>
                    <a:pt x="1613" y="364"/>
                    <a:pt x="1252" y="0"/>
                    <a:pt x="8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5"/>
            <p:cNvSpPr/>
            <p:nvPr/>
          </p:nvSpPr>
          <p:spPr>
            <a:xfrm>
              <a:off x="5607379" y="916746"/>
              <a:ext cx="369985" cy="47318"/>
            </a:xfrm>
            <a:custGeom>
              <a:avLst/>
              <a:gdLst/>
              <a:ahLst/>
              <a:cxnLst/>
              <a:rect l="l" t="t" r="r" b="b"/>
              <a:pathLst>
                <a:path w="9766" h="1249" extrusionOk="0">
                  <a:moveTo>
                    <a:pt x="2131" y="363"/>
                  </a:moveTo>
                  <a:lnTo>
                    <a:pt x="2131" y="887"/>
                  </a:lnTo>
                  <a:lnTo>
                    <a:pt x="362" y="887"/>
                  </a:lnTo>
                  <a:lnTo>
                    <a:pt x="362" y="363"/>
                  </a:lnTo>
                  <a:close/>
                  <a:moveTo>
                    <a:pt x="185" y="1"/>
                  </a:moveTo>
                  <a:cubicBezTo>
                    <a:pt x="83" y="1"/>
                    <a:pt x="0" y="84"/>
                    <a:pt x="0" y="186"/>
                  </a:cubicBezTo>
                  <a:lnTo>
                    <a:pt x="0" y="1065"/>
                  </a:lnTo>
                  <a:cubicBezTo>
                    <a:pt x="2" y="1166"/>
                    <a:pt x="84" y="1246"/>
                    <a:pt x="187" y="1246"/>
                  </a:cubicBezTo>
                  <a:lnTo>
                    <a:pt x="3188" y="1246"/>
                  </a:lnTo>
                  <a:cubicBezTo>
                    <a:pt x="3283" y="1246"/>
                    <a:pt x="3368" y="1177"/>
                    <a:pt x="3376" y="1083"/>
                  </a:cubicBezTo>
                  <a:cubicBezTo>
                    <a:pt x="3386" y="976"/>
                    <a:pt x="3301" y="887"/>
                    <a:pt x="3196" y="887"/>
                  </a:cubicBezTo>
                  <a:lnTo>
                    <a:pt x="2525" y="887"/>
                  </a:lnTo>
                  <a:lnTo>
                    <a:pt x="2525" y="363"/>
                  </a:lnTo>
                  <a:lnTo>
                    <a:pt x="9406" y="363"/>
                  </a:lnTo>
                  <a:lnTo>
                    <a:pt x="9406" y="887"/>
                  </a:lnTo>
                  <a:lnTo>
                    <a:pt x="4075" y="887"/>
                  </a:lnTo>
                  <a:cubicBezTo>
                    <a:pt x="3987" y="887"/>
                    <a:pt x="3906" y="944"/>
                    <a:pt x="3889" y="1031"/>
                  </a:cubicBezTo>
                  <a:cubicBezTo>
                    <a:pt x="3865" y="1146"/>
                    <a:pt x="3955" y="1248"/>
                    <a:pt x="4069" y="1248"/>
                  </a:cubicBezTo>
                  <a:lnTo>
                    <a:pt x="9582" y="1248"/>
                  </a:lnTo>
                  <a:cubicBezTo>
                    <a:pt x="9683" y="1248"/>
                    <a:pt x="9766" y="1166"/>
                    <a:pt x="9766" y="1063"/>
                  </a:cubicBezTo>
                  <a:lnTo>
                    <a:pt x="9766" y="186"/>
                  </a:lnTo>
                  <a:cubicBezTo>
                    <a:pt x="9766" y="84"/>
                    <a:pt x="9683" y="1"/>
                    <a:pt x="95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4" name="Google Shape;1824;p45"/>
          <p:cNvGrpSpPr/>
          <p:nvPr/>
        </p:nvGrpSpPr>
        <p:grpSpPr>
          <a:xfrm>
            <a:off x="3567716" y="1294114"/>
            <a:ext cx="188579" cy="341173"/>
            <a:chOff x="4855778" y="713265"/>
            <a:chExt cx="263452" cy="476631"/>
          </a:xfrm>
        </p:grpSpPr>
        <p:sp>
          <p:nvSpPr>
            <p:cNvPr id="1825" name="Google Shape;1825;p45"/>
            <p:cNvSpPr/>
            <p:nvPr/>
          </p:nvSpPr>
          <p:spPr>
            <a:xfrm>
              <a:off x="4973032" y="1139055"/>
              <a:ext cx="29361" cy="13676"/>
            </a:xfrm>
            <a:custGeom>
              <a:avLst/>
              <a:gdLst/>
              <a:ahLst/>
              <a:cxnLst/>
              <a:rect l="l" t="t" r="r" b="b"/>
              <a:pathLst>
                <a:path w="775" h="361" extrusionOk="0">
                  <a:moveTo>
                    <a:pt x="197" y="0"/>
                  </a:moveTo>
                  <a:cubicBezTo>
                    <a:pt x="102" y="0"/>
                    <a:pt x="17" y="69"/>
                    <a:pt x="10" y="164"/>
                  </a:cubicBezTo>
                  <a:cubicBezTo>
                    <a:pt x="1" y="269"/>
                    <a:pt x="84" y="361"/>
                    <a:pt x="189" y="361"/>
                  </a:cubicBezTo>
                  <a:lnTo>
                    <a:pt x="577" y="361"/>
                  </a:lnTo>
                  <a:cubicBezTo>
                    <a:pt x="672" y="361"/>
                    <a:pt x="757" y="290"/>
                    <a:pt x="765" y="196"/>
                  </a:cubicBezTo>
                  <a:cubicBezTo>
                    <a:pt x="775" y="89"/>
                    <a:pt x="691" y="0"/>
                    <a:pt x="5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5"/>
            <p:cNvSpPr/>
            <p:nvPr/>
          </p:nvSpPr>
          <p:spPr>
            <a:xfrm>
              <a:off x="4855968" y="893712"/>
              <a:ext cx="263149" cy="296185"/>
            </a:xfrm>
            <a:custGeom>
              <a:avLst/>
              <a:gdLst/>
              <a:ahLst/>
              <a:cxnLst/>
              <a:rect l="l" t="t" r="r" b="b"/>
              <a:pathLst>
                <a:path w="6946" h="7818" extrusionOk="0">
                  <a:moveTo>
                    <a:pt x="6586" y="5853"/>
                  </a:moveTo>
                  <a:lnTo>
                    <a:pt x="6586" y="6918"/>
                  </a:lnTo>
                  <a:cubicBezTo>
                    <a:pt x="6586" y="7217"/>
                    <a:pt x="6344" y="7458"/>
                    <a:pt x="6046" y="7458"/>
                  </a:cubicBezTo>
                  <a:lnTo>
                    <a:pt x="901" y="7458"/>
                  </a:lnTo>
                  <a:cubicBezTo>
                    <a:pt x="603" y="7458"/>
                    <a:pt x="360" y="7217"/>
                    <a:pt x="360" y="6918"/>
                  </a:cubicBezTo>
                  <a:lnTo>
                    <a:pt x="360" y="5853"/>
                  </a:lnTo>
                  <a:close/>
                  <a:moveTo>
                    <a:pt x="6767" y="0"/>
                  </a:moveTo>
                  <a:cubicBezTo>
                    <a:pt x="6667" y="0"/>
                    <a:pt x="6586" y="83"/>
                    <a:pt x="6586" y="186"/>
                  </a:cubicBezTo>
                  <a:lnTo>
                    <a:pt x="6586" y="5460"/>
                  </a:lnTo>
                  <a:lnTo>
                    <a:pt x="361" y="5460"/>
                  </a:lnTo>
                  <a:lnTo>
                    <a:pt x="361" y="4749"/>
                  </a:lnTo>
                  <a:cubicBezTo>
                    <a:pt x="361" y="4654"/>
                    <a:pt x="291" y="4568"/>
                    <a:pt x="197" y="4560"/>
                  </a:cubicBezTo>
                  <a:cubicBezTo>
                    <a:pt x="191" y="4559"/>
                    <a:pt x="186" y="4559"/>
                    <a:pt x="181" y="4559"/>
                  </a:cubicBezTo>
                  <a:cubicBezTo>
                    <a:pt x="81" y="4559"/>
                    <a:pt x="1" y="4640"/>
                    <a:pt x="1" y="4743"/>
                  </a:cubicBezTo>
                  <a:lnTo>
                    <a:pt x="1" y="6915"/>
                  </a:lnTo>
                  <a:cubicBezTo>
                    <a:pt x="1" y="7414"/>
                    <a:pt x="405" y="7818"/>
                    <a:pt x="904" y="7818"/>
                  </a:cubicBezTo>
                  <a:lnTo>
                    <a:pt x="6041" y="7818"/>
                  </a:lnTo>
                  <a:cubicBezTo>
                    <a:pt x="6542" y="7818"/>
                    <a:pt x="6946" y="7413"/>
                    <a:pt x="6946" y="6913"/>
                  </a:cubicBezTo>
                  <a:lnTo>
                    <a:pt x="6946" y="184"/>
                  </a:lnTo>
                  <a:cubicBezTo>
                    <a:pt x="6946" y="83"/>
                    <a:pt x="6866" y="0"/>
                    <a:pt x="67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5"/>
            <p:cNvSpPr/>
            <p:nvPr/>
          </p:nvSpPr>
          <p:spPr>
            <a:xfrm>
              <a:off x="4855778" y="713265"/>
              <a:ext cx="263452" cy="335775"/>
            </a:xfrm>
            <a:custGeom>
              <a:avLst/>
              <a:gdLst/>
              <a:ahLst/>
              <a:cxnLst/>
              <a:rect l="l" t="t" r="r" b="b"/>
              <a:pathLst>
                <a:path w="6954" h="8863" extrusionOk="0">
                  <a:moveTo>
                    <a:pt x="906" y="0"/>
                  </a:moveTo>
                  <a:cubicBezTo>
                    <a:pt x="406" y="0"/>
                    <a:pt x="1" y="405"/>
                    <a:pt x="6" y="906"/>
                  </a:cubicBezTo>
                  <a:lnTo>
                    <a:pt x="6" y="8680"/>
                  </a:lnTo>
                  <a:cubicBezTo>
                    <a:pt x="1" y="8780"/>
                    <a:pt x="82" y="8863"/>
                    <a:pt x="184" y="8863"/>
                  </a:cubicBezTo>
                  <a:cubicBezTo>
                    <a:pt x="284" y="8863"/>
                    <a:pt x="367" y="8780"/>
                    <a:pt x="367" y="8680"/>
                  </a:cubicBezTo>
                  <a:lnTo>
                    <a:pt x="367" y="906"/>
                  </a:lnTo>
                  <a:cubicBezTo>
                    <a:pt x="367" y="609"/>
                    <a:pt x="907" y="360"/>
                    <a:pt x="907" y="360"/>
                  </a:cubicBezTo>
                  <a:lnTo>
                    <a:pt x="6401" y="360"/>
                  </a:lnTo>
                  <a:cubicBezTo>
                    <a:pt x="6506" y="360"/>
                    <a:pt x="6593" y="446"/>
                    <a:pt x="6593" y="552"/>
                  </a:cubicBezTo>
                  <a:lnTo>
                    <a:pt x="6593" y="4144"/>
                  </a:lnTo>
                  <a:cubicBezTo>
                    <a:pt x="6593" y="4162"/>
                    <a:pt x="6600" y="4181"/>
                    <a:pt x="6615" y="4194"/>
                  </a:cubicBezTo>
                  <a:cubicBezTo>
                    <a:pt x="6667" y="4244"/>
                    <a:pt x="6722" y="4265"/>
                    <a:pt x="6773" y="4265"/>
                  </a:cubicBezTo>
                  <a:cubicBezTo>
                    <a:pt x="6873" y="4265"/>
                    <a:pt x="6954" y="4184"/>
                    <a:pt x="6954" y="4085"/>
                  </a:cubicBezTo>
                  <a:lnTo>
                    <a:pt x="6954" y="891"/>
                  </a:lnTo>
                  <a:cubicBezTo>
                    <a:pt x="6951" y="399"/>
                    <a:pt x="6552" y="0"/>
                    <a:pt x="60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5"/>
            <p:cNvSpPr/>
            <p:nvPr/>
          </p:nvSpPr>
          <p:spPr>
            <a:xfrm>
              <a:off x="4888208" y="750468"/>
              <a:ext cx="199919" cy="105585"/>
            </a:xfrm>
            <a:custGeom>
              <a:avLst/>
              <a:gdLst/>
              <a:ahLst/>
              <a:cxnLst/>
              <a:rect l="l" t="t" r="r" b="b"/>
              <a:pathLst>
                <a:path w="5277" h="2787" extrusionOk="0">
                  <a:moveTo>
                    <a:pt x="4288" y="361"/>
                  </a:moveTo>
                  <a:lnTo>
                    <a:pt x="2626" y="1181"/>
                  </a:lnTo>
                  <a:lnTo>
                    <a:pt x="963" y="361"/>
                  </a:lnTo>
                  <a:close/>
                  <a:moveTo>
                    <a:pt x="361" y="488"/>
                  </a:moveTo>
                  <a:lnTo>
                    <a:pt x="2210" y="1401"/>
                  </a:lnTo>
                  <a:lnTo>
                    <a:pt x="361" y="2313"/>
                  </a:lnTo>
                  <a:lnTo>
                    <a:pt x="361" y="488"/>
                  </a:lnTo>
                  <a:close/>
                  <a:moveTo>
                    <a:pt x="4883" y="488"/>
                  </a:moveTo>
                  <a:lnTo>
                    <a:pt x="4883" y="2313"/>
                  </a:lnTo>
                  <a:lnTo>
                    <a:pt x="3032" y="1401"/>
                  </a:lnTo>
                  <a:lnTo>
                    <a:pt x="4883" y="488"/>
                  </a:lnTo>
                  <a:close/>
                  <a:moveTo>
                    <a:pt x="2627" y="1606"/>
                  </a:moveTo>
                  <a:lnTo>
                    <a:pt x="4289" y="2425"/>
                  </a:lnTo>
                  <a:lnTo>
                    <a:pt x="964" y="2425"/>
                  </a:lnTo>
                  <a:lnTo>
                    <a:pt x="2627" y="1606"/>
                  </a:lnTo>
                  <a:close/>
                  <a:moveTo>
                    <a:pt x="184" y="1"/>
                  </a:moveTo>
                  <a:cubicBezTo>
                    <a:pt x="83" y="1"/>
                    <a:pt x="0" y="83"/>
                    <a:pt x="0" y="184"/>
                  </a:cubicBezTo>
                  <a:lnTo>
                    <a:pt x="0" y="2603"/>
                  </a:lnTo>
                  <a:cubicBezTo>
                    <a:pt x="0" y="2705"/>
                    <a:pt x="83" y="2786"/>
                    <a:pt x="184" y="2786"/>
                  </a:cubicBezTo>
                  <a:lnTo>
                    <a:pt x="5094" y="2786"/>
                  </a:lnTo>
                  <a:cubicBezTo>
                    <a:pt x="5194" y="2786"/>
                    <a:pt x="5277" y="2705"/>
                    <a:pt x="5277" y="2603"/>
                  </a:cubicBezTo>
                  <a:lnTo>
                    <a:pt x="5277" y="184"/>
                  </a:lnTo>
                  <a:cubicBezTo>
                    <a:pt x="5277" y="82"/>
                    <a:pt x="5194" y="1"/>
                    <a:pt x="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5"/>
            <p:cNvSpPr/>
            <p:nvPr/>
          </p:nvSpPr>
          <p:spPr>
            <a:xfrm>
              <a:off x="4888018" y="875640"/>
              <a:ext cx="64821" cy="75315"/>
            </a:xfrm>
            <a:custGeom>
              <a:avLst/>
              <a:gdLst/>
              <a:ahLst/>
              <a:cxnLst/>
              <a:rect l="l" t="t" r="r" b="b"/>
              <a:pathLst>
                <a:path w="1711" h="1988" extrusionOk="0">
                  <a:moveTo>
                    <a:pt x="994" y="1"/>
                  </a:moveTo>
                  <a:cubicBezTo>
                    <a:pt x="446" y="1"/>
                    <a:pt x="0" y="448"/>
                    <a:pt x="0" y="995"/>
                  </a:cubicBezTo>
                  <a:cubicBezTo>
                    <a:pt x="0" y="1541"/>
                    <a:pt x="447" y="1988"/>
                    <a:pt x="994" y="1988"/>
                  </a:cubicBezTo>
                  <a:cubicBezTo>
                    <a:pt x="1213" y="1988"/>
                    <a:pt x="1409" y="1915"/>
                    <a:pt x="1561" y="1780"/>
                  </a:cubicBezTo>
                  <a:cubicBezTo>
                    <a:pt x="1591" y="1754"/>
                    <a:pt x="1618" y="1724"/>
                    <a:pt x="1644" y="1693"/>
                  </a:cubicBezTo>
                  <a:cubicBezTo>
                    <a:pt x="1710" y="1617"/>
                    <a:pt x="1700" y="1502"/>
                    <a:pt x="1622" y="1436"/>
                  </a:cubicBezTo>
                  <a:cubicBezTo>
                    <a:pt x="1588" y="1407"/>
                    <a:pt x="1546" y="1393"/>
                    <a:pt x="1505" y="1393"/>
                  </a:cubicBezTo>
                  <a:cubicBezTo>
                    <a:pt x="1453" y="1393"/>
                    <a:pt x="1401" y="1415"/>
                    <a:pt x="1365" y="1458"/>
                  </a:cubicBezTo>
                  <a:cubicBezTo>
                    <a:pt x="1350" y="1476"/>
                    <a:pt x="1334" y="1492"/>
                    <a:pt x="1318" y="1507"/>
                  </a:cubicBezTo>
                  <a:cubicBezTo>
                    <a:pt x="1232" y="1582"/>
                    <a:pt x="1124" y="1622"/>
                    <a:pt x="994" y="1622"/>
                  </a:cubicBezTo>
                  <a:cubicBezTo>
                    <a:pt x="648" y="1622"/>
                    <a:pt x="367" y="1340"/>
                    <a:pt x="367" y="995"/>
                  </a:cubicBezTo>
                  <a:cubicBezTo>
                    <a:pt x="367" y="649"/>
                    <a:pt x="648" y="367"/>
                    <a:pt x="994" y="367"/>
                  </a:cubicBezTo>
                  <a:cubicBezTo>
                    <a:pt x="1120" y="367"/>
                    <a:pt x="1241" y="404"/>
                    <a:pt x="1345" y="475"/>
                  </a:cubicBezTo>
                  <a:cubicBezTo>
                    <a:pt x="1376" y="496"/>
                    <a:pt x="1411" y="506"/>
                    <a:pt x="1446" y="506"/>
                  </a:cubicBezTo>
                  <a:cubicBezTo>
                    <a:pt x="1505" y="506"/>
                    <a:pt x="1563" y="478"/>
                    <a:pt x="1598" y="425"/>
                  </a:cubicBezTo>
                  <a:cubicBezTo>
                    <a:pt x="1655" y="341"/>
                    <a:pt x="1633" y="227"/>
                    <a:pt x="1549" y="172"/>
                  </a:cubicBezTo>
                  <a:cubicBezTo>
                    <a:pt x="1384" y="61"/>
                    <a:pt x="1193" y="1"/>
                    <a:pt x="9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5"/>
            <p:cNvSpPr/>
            <p:nvPr/>
          </p:nvSpPr>
          <p:spPr>
            <a:xfrm>
              <a:off x="4962728" y="936673"/>
              <a:ext cx="124035" cy="13714"/>
            </a:xfrm>
            <a:custGeom>
              <a:avLst/>
              <a:gdLst/>
              <a:ahLst/>
              <a:cxnLst/>
              <a:rect l="l" t="t" r="r" b="b"/>
              <a:pathLst>
                <a:path w="3274" h="362" extrusionOk="0">
                  <a:moveTo>
                    <a:pt x="198" y="1"/>
                  </a:moveTo>
                  <a:cubicBezTo>
                    <a:pt x="102" y="1"/>
                    <a:pt x="17" y="70"/>
                    <a:pt x="10" y="164"/>
                  </a:cubicBezTo>
                  <a:cubicBezTo>
                    <a:pt x="0" y="272"/>
                    <a:pt x="84" y="361"/>
                    <a:pt x="189" y="361"/>
                  </a:cubicBezTo>
                  <a:lnTo>
                    <a:pt x="3075" y="361"/>
                  </a:lnTo>
                  <a:cubicBezTo>
                    <a:pt x="3171" y="361"/>
                    <a:pt x="3256" y="291"/>
                    <a:pt x="3264" y="197"/>
                  </a:cubicBezTo>
                  <a:cubicBezTo>
                    <a:pt x="3273" y="90"/>
                    <a:pt x="3189" y="1"/>
                    <a:pt x="30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5"/>
            <p:cNvSpPr/>
            <p:nvPr/>
          </p:nvSpPr>
          <p:spPr>
            <a:xfrm>
              <a:off x="4989096" y="968989"/>
              <a:ext cx="97857" cy="13639"/>
            </a:xfrm>
            <a:custGeom>
              <a:avLst/>
              <a:gdLst/>
              <a:ahLst/>
              <a:cxnLst/>
              <a:rect l="l" t="t" r="r" b="b"/>
              <a:pathLst>
                <a:path w="2583" h="360" extrusionOk="0">
                  <a:moveTo>
                    <a:pt x="198" y="0"/>
                  </a:moveTo>
                  <a:cubicBezTo>
                    <a:pt x="102" y="0"/>
                    <a:pt x="17" y="69"/>
                    <a:pt x="9" y="164"/>
                  </a:cubicBezTo>
                  <a:cubicBezTo>
                    <a:pt x="1" y="271"/>
                    <a:pt x="85" y="360"/>
                    <a:pt x="189" y="360"/>
                  </a:cubicBezTo>
                  <a:lnTo>
                    <a:pt x="2384" y="360"/>
                  </a:lnTo>
                  <a:cubicBezTo>
                    <a:pt x="2480" y="360"/>
                    <a:pt x="2566" y="290"/>
                    <a:pt x="2573" y="196"/>
                  </a:cubicBezTo>
                  <a:cubicBezTo>
                    <a:pt x="2582" y="88"/>
                    <a:pt x="2499" y="0"/>
                    <a:pt x="23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5"/>
            <p:cNvSpPr/>
            <p:nvPr/>
          </p:nvSpPr>
          <p:spPr>
            <a:xfrm>
              <a:off x="4888359" y="968989"/>
              <a:ext cx="82097" cy="13639"/>
            </a:xfrm>
            <a:custGeom>
              <a:avLst/>
              <a:gdLst/>
              <a:ahLst/>
              <a:cxnLst/>
              <a:rect l="l" t="t" r="r" b="b"/>
              <a:pathLst>
                <a:path w="2167" h="360" extrusionOk="0">
                  <a:moveTo>
                    <a:pt x="198" y="0"/>
                  </a:moveTo>
                  <a:cubicBezTo>
                    <a:pt x="102" y="0"/>
                    <a:pt x="17" y="69"/>
                    <a:pt x="10" y="164"/>
                  </a:cubicBezTo>
                  <a:cubicBezTo>
                    <a:pt x="1" y="271"/>
                    <a:pt x="84" y="360"/>
                    <a:pt x="189" y="360"/>
                  </a:cubicBezTo>
                  <a:lnTo>
                    <a:pt x="1968" y="360"/>
                  </a:lnTo>
                  <a:cubicBezTo>
                    <a:pt x="2064" y="360"/>
                    <a:pt x="2149" y="290"/>
                    <a:pt x="2157" y="196"/>
                  </a:cubicBezTo>
                  <a:cubicBezTo>
                    <a:pt x="2166" y="89"/>
                    <a:pt x="2082" y="0"/>
                    <a:pt x="19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5"/>
            <p:cNvSpPr/>
            <p:nvPr/>
          </p:nvSpPr>
          <p:spPr>
            <a:xfrm>
              <a:off x="4889231" y="1000017"/>
              <a:ext cx="196926" cy="13676"/>
            </a:xfrm>
            <a:custGeom>
              <a:avLst/>
              <a:gdLst/>
              <a:ahLst/>
              <a:cxnLst/>
              <a:rect l="l" t="t" r="r" b="b"/>
              <a:pathLst>
                <a:path w="5198" h="361" extrusionOk="0">
                  <a:moveTo>
                    <a:pt x="198" y="0"/>
                  </a:moveTo>
                  <a:cubicBezTo>
                    <a:pt x="103" y="0"/>
                    <a:pt x="18" y="69"/>
                    <a:pt x="10" y="164"/>
                  </a:cubicBezTo>
                  <a:cubicBezTo>
                    <a:pt x="1" y="271"/>
                    <a:pt x="85" y="361"/>
                    <a:pt x="190" y="361"/>
                  </a:cubicBezTo>
                  <a:lnTo>
                    <a:pt x="5000" y="361"/>
                  </a:lnTo>
                  <a:cubicBezTo>
                    <a:pt x="5095" y="361"/>
                    <a:pt x="5181" y="290"/>
                    <a:pt x="5188" y="197"/>
                  </a:cubicBezTo>
                  <a:cubicBezTo>
                    <a:pt x="5197" y="89"/>
                    <a:pt x="5114" y="0"/>
                    <a:pt x="50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5"/>
            <p:cNvSpPr/>
            <p:nvPr/>
          </p:nvSpPr>
          <p:spPr>
            <a:xfrm>
              <a:off x="5059562" y="1032257"/>
              <a:ext cx="27959" cy="13676"/>
            </a:xfrm>
            <a:custGeom>
              <a:avLst/>
              <a:gdLst/>
              <a:ahLst/>
              <a:cxnLst/>
              <a:rect l="l" t="t" r="r" b="b"/>
              <a:pathLst>
                <a:path w="738" h="361" extrusionOk="0">
                  <a:moveTo>
                    <a:pt x="199" y="1"/>
                  </a:moveTo>
                  <a:cubicBezTo>
                    <a:pt x="103" y="1"/>
                    <a:pt x="18" y="70"/>
                    <a:pt x="10" y="164"/>
                  </a:cubicBezTo>
                  <a:cubicBezTo>
                    <a:pt x="1" y="271"/>
                    <a:pt x="85" y="360"/>
                    <a:pt x="189" y="360"/>
                  </a:cubicBezTo>
                  <a:lnTo>
                    <a:pt x="539" y="360"/>
                  </a:lnTo>
                  <a:cubicBezTo>
                    <a:pt x="634" y="360"/>
                    <a:pt x="719" y="291"/>
                    <a:pt x="728" y="197"/>
                  </a:cubicBezTo>
                  <a:cubicBezTo>
                    <a:pt x="737" y="90"/>
                    <a:pt x="653" y="1"/>
                    <a:pt x="5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5"/>
            <p:cNvSpPr/>
            <p:nvPr/>
          </p:nvSpPr>
          <p:spPr>
            <a:xfrm>
              <a:off x="4888928" y="1032257"/>
              <a:ext cx="152373" cy="13676"/>
            </a:xfrm>
            <a:custGeom>
              <a:avLst/>
              <a:gdLst/>
              <a:ahLst/>
              <a:cxnLst/>
              <a:rect l="l" t="t" r="r" b="b"/>
              <a:pathLst>
                <a:path w="4022" h="361" extrusionOk="0">
                  <a:moveTo>
                    <a:pt x="197" y="1"/>
                  </a:moveTo>
                  <a:cubicBezTo>
                    <a:pt x="102" y="1"/>
                    <a:pt x="17" y="70"/>
                    <a:pt x="9" y="164"/>
                  </a:cubicBezTo>
                  <a:cubicBezTo>
                    <a:pt x="0" y="271"/>
                    <a:pt x="84" y="360"/>
                    <a:pt x="189" y="360"/>
                  </a:cubicBezTo>
                  <a:lnTo>
                    <a:pt x="3824" y="360"/>
                  </a:lnTo>
                  <a:cubicBezTo>
                    <a:pt x="3919" y="360"/>
                    <a:pt x="4005" y="291"/>
                    <a:pt x="4013" y="197"/>
                  </a:cubicBezTo>
                  <a:cubicBezTo>
                    <a:pt x="4022" y="90"/>
                    <a:pt x="3938" y="1"/>
                    <a:pt x="38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5"/>
            <p:cNvSpPr/>
            <p:nvPr/>
          </p:nvSpPr>
          <p:spPr>
            <a:xfrm>
              <a:off x="4889231" y="1063285"/>
              <a:ext cx="196926" cy="13714"/>
            </a:xfrm>
            <a:custGeom>
              <a:avLst/>
              <a:gdLst/>
              <a:ahLst/>
              <a:cxnLst/>
              <a:rect l="l" t="t" r="r" b="b"/>
              <a:pathLst>
                <a:path w="5198" h="362" extrusionOk="0">
                  <a:moveTo>
                    <a:pt x="198" y="1"/>
                  </a:moveTo>
                  <a:cubicBezTo>
                    <a:pt x="103" y="1"/>
                    <a:pt x="18" y="70"/>
                    <a:pt x="10" y="164"/>
                  </a:cubicBezTo>
                  <a:cubicBezTo>
                    <a:pt x="1" y="272"/>
                    <a:pt x="85" y="361"/>
                    <a:pt x="190" y="361"/>
                  </a:cubicBezTo>
                  <a:lnTo>
                    <a:pt x="5000" y="361"/>
                  </a:lnTo>
                  <a:cubicBezTo>
                    <a:pt x="5095" y="361"/>
                    <a:pt x="5181" y="292"/>
                    <a:pt x="5188" y="198"/>
                  </a:cubicBezTo>
                  <a:cubicBezTo>
                    <a:pt x="5197" y="90"/>
                    <a:pt x="5114" y="1"/>
                    <a:pt x="50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2"/>
        <p:cNvGrpSpPr/>
        <p:nvPr/>
      </p:nvGrpSpPr>
      <p:grpSpPr>
        <a:xfrm>
          <a:off x="0" y="0"/>
          <a:ext cx="0" cy="0"/>
          <a:chOff x="0" y="0"/>
          <a:chExt cx="0" cy="0"/>
        </a:xfrm>
      </p:grpSpPr>
      <p:sp>
        <p:nvSpPr>
          <p:cNvPr id="1483" name="Google Shape;1483;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02</a:t>
            </a:r>
          </a:p>
        </p:txBody>
      </p:sp>
      <p:sp>
        <p:nvSpPr>
          <p:cNvPr id="1484" name="Google Shape;1484;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Mô hình bài toán, độ khó và cận trên LP</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l="16960" t="24719" r="7121" b="26177"/>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1" name="Google Shape;1491;p38"/>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Formulation</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8" name="Google Shape;1498;p38"/>
            <p:cNvPicPr preferRelativeResize="0"/>
            <p:nvPr/>
          </p:nvPicPr>
          <p:blipFill rotWithShape="1">
            <a:blip r:embed="rId3">
              <a:alphaModFix/>
            </a:blip>
            <a:srcRect l="16960" t="24719" r="7121" b="26177"/>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4" name="Google Shape;1524;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5" name="Google Shape;1525;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E4DC8-DABF-2C22-7CC5-99B68812A204}"/>
              </a:ext>
            </a:extLst>
          </p:cNvPr>
          <p:cNvSpPr>
            <a:spLocks noGrp="1"/>
          </p:cNvSpPr>
          <p:nvPr>
            <p:ph type="title"/>
          </p:nvPr>
        </p:nvSpPr>
        <p:spPr>
          <a:xfrm>
            <a:off x="722376" y="448056"/>
            <a:ext cx="7708392" cy="576072"/>
          </a:xfrm>
        </p:spPr>
        <p:txBody>
          <a:bodyPr/>
          <a:lstStyle/>
          <a:p>
            <a:pPr algn="l"/>
            <a:r>
              <a:rPr lang="en-US"/>
              <a:t>Network Model</a:t>
            </a:r>
          </a:p>
        </p:txBody>
      </p:sp>
      <p:pic>
        <p:nvPicPr>
          <p:cNvPr id="6" name="Picture 5" descr="ours.png">
            <a:extLst>
              <a:ext uri="{FF2B5EF4-FFF2-40B4-BE49-F238E27FC236}">
                <a16:creationId xmlns:a16="http://schemas.microsoft.com/office/drawing/2014/main" id="{CD0F5912-E6B7-2373-19E2-C947A8C85BE5}"/>
              </a:ext>
            </a:extLst>
          </p:cNvPr>
          <p:cNvPicPr>
            <a:picLocks noChangeAspect="1"/>
          </p:cNvPicPr>
          <p:nvPr/>
        </p:nvPicPr>
        <p:blipFill>
          <a:blip r:embed="rId2"/>
          <a:srcRect l="2172" t="33900" r="17397" b="3665"/>
          <a:stretch>
            <a:fillRect/>
          </a:stretch>
        </p:blipFill>
        <p:spPr>
          <a:xfrm>
            <a:off x="1844689" y="1169736"/>
            <a:ext cx="5457431" cy="2252170"/>
          </a:xfrm>
          <a:prstGeom prst="rect">
            <a:avLst/>
          </a:prstGeom>
        </p:spPr>
      </p:pic>
      <p:cxnSp>
        <p:nvCxnSpPr>
          <p:cNvPr id="7" name="Straight Arrow Connector 6">
            <a:extLst>
              <a:ext uri="{FF2B5EF4-FFF2-40B4-BE49-F238E27FC236}">
                <a16:creationId xmlns:a16="http://schemas.microsoft.com/office/drawing/2014/main" id="{B37573B4-6AC5-A822-6F6B-876166A304EC}"/>
              </a:ext>
            </a:extLst>
          </p:cNvPr>
          <p:cNvCxnSpPr/>
          <p:nvPr/>
        </p:nvCxnSpPr>
        <p:spPr>
          <a:xfrm flipV="1">
            <a:off x="1686086" y="1170684"/>
            <a:ext cx="16969" cy="2367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3394E87-61D1-6DFB-7308-D4DCA08F30A8}"/>
              </a:ext>
            </a:extLst>
          </p:cNvPr>
          <p:cNvCxnSpPr/>
          <p:nvPr/>
        </p:nvCxnSpPr>
        <p:spPr>
          <a:xfrm>
            <a:off x="1657799" y="3523850"/>
            <a:ext cx="5829193" cy="33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3FBEFE7-672C-A125-6C44-F76A0308CCB8}"/>
              </a:ext>
            </a:extLst>
          </p:cNvPr>
          <p:cNvSpPr txBox="1"/>
          <p:nvPr/>
        </p:nvSpPr>
        <p:spPr>
          <a:xfrm>
            <a:off x="722376" y="3675887"/>
            <a:ext cx="3749039" cy="109728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Cấu trúc topology (SNDLib / Topology Zoo) → chuẩn hóa thành vùng có tọa độ</a:t>
            </a:r>
          </a:p>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Damage zone → source → alert</a:t>
            </a:r>
          </a:p>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Tọa độ vị trí</a:t>
            </a:r>
          </a:p>
        </p:txBody>
      </p:sp>
      <p:sp>
        <p:nvSpPr>
          <p:cNvPr id="10" name="TextBox 9">
            <a:extLst>
              <a:ext uri="{FF2B5EF4-FFF2-40B4-BE49-F238E27FC236}">
                <a16:creationId xmlns:a16="http://schemas.microsoft.com/office/drawing/2014/main" id="{3EE09798-987C-CB66-6C46-6DC9F7C45CC4}"/>
              </a:ext>
            </a:extLst>
          </p:cNvPr>
          <p:cNvSpPr txBox="1"/>
          <p:nvPr/>
        </p:nvSpPr>
        <p:spPr>
          <a:xfrm>
            <a:off x="4672584" y="3675887"/>
            <a:ext cx="3749039" cy="109728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G(V, E); center c, backhaul capacity C_e (= 0 nếu mất cạnh)</a:t>
            </a:r>
          </a:p>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Release r_a, deadline d_a, size L_a</a:t>
            </a:r>
          </a:p>
        </p:txBody>
      </p:sp>
    </p:spTree>
    <p:extLst>
      <p:ext uri="{BB962C8B-B14F-4D97-AF65-F5344CB8AC3E}">
        <p14:creationId xmlns:p14="http://schemas.microsoft.com/office/powerpoint/2010/main" val="11491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37A70-E1BE-B016-567F-75BCC5C1288B}"/>
              </a:ext>
            </a:extLst>
          </p:cNvPr>
          <p:cNvSpPr>
            <a:spLocks noGrp="1"/>
          </p:cNvSpPr>
          <p:nvPr>
            <p:ph type="title"/>
          </p:nvPr>
        </p:nvSpPr>
        <p:spPr>
          <a:xfrm>
            <a:off x="722376" y="448056"/>
            <a:ext cx="7708392" cy="576072"/>
          </a:xfrm>
        </p:spPr>
        <p:txBody>
          <a:bodyPr/>
          <a:lstStyle/>
          <a:p>
            <a:pPr algn="l"/>
            <a:r>
              <a:rPr lang="en-US"/>
              <a:t>Path</a:t>
            </a:r>
          </a:p>
        </p:txBody>
      </p:sp>
      <p:pic>
        <p:nvPicPr>
          <p:cNvPr id="6" name="Picture 5" descr="ours.png">
            <a:extLst>
              <a:ext uri="{FF2B5EF4-FFF2-40B4-BE49-F238E27FC236}">
                <a16:creationId xmlns:a16="http://schemas.microsoft.com/office/drawing/2014/main" id="{B7D96B6C-34E6-D16F-973A-172641E045A1}"/>
              </a:ext>
            </a:extLst>
          </p:cNvPr>
          <p:cNvPicPr>
            <a:picLocks noChangeAspect="1"/>
          </p:cNvPicPr>
          <p:nvPr/>
        </p:nvPicPr>
        <p:blipFill>
          <a:blip r:embed="rId2"/>
          <a:srcRect r="17345" b="166"/>
          <a:stretch>
            <a:fillRect/>
          </a:stretch>
        </p:blipFill>
        <p:spPr>
          <a:xfrm>
            <a:off x="3886200" y="1280160"/>
            <a:ext cx="4754880" cy="3052007"/>
          </a:xfrm>
          <a:prstGeom prst="rect">
            <a:avLst/>
          </a:prstGeom>
        </p:spPr>
      </p:pic>
      <p:sp>
        <p:nvSpPr>
          <p:cNvPr id="7" name="TextBox 6">
            <a:extLst>
              <a:ext uri="{FF2B5EF4-FFF2-40B4-BE49-F238E27FC236}">
                <a16:creationId xmlns:a16="http://schemas.microsoft.com/office/drawing/2014/main" id="{7A166789-383F-CAE5-3F66-32AA4A1C8196}"/>
              </a:ext>
            </a:extLst>
          </p:cNvPr>
          <p:cNvSpPr txBox="1"/>
          <p:nvPr/>
        </p:nvSpPr>
        <p:spPr>
          <a:xfrm>
            <a:off x="722376" y="1280160"/>
            <a:ext cx="3017520" cy="320040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164592" indent="-164592">
              <a:spcAft>
                <a:spcPts val="1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Có 2 loại: qua UAV hoặc không</a:t>
            </a:r>
          </a:p>
          <a:p>
            <a:pPr algn="l" marL="347472" indent="-164592">
              <a:spcAft>
                <a:spcPts val="800"/>
              </a:spcAft>
              <a:buClr>
                <a:srgbClr val="8208D5"/>
              </a:buClr>
              <a:buSzPct val="100000"/>
              <a:buFont typeface="Arial"/>
              <a:buChar char="–"/>
            </a:pPr>
            <a:r>
              <a:rPr sz="1200" b="0" i="0">
                <a:solidFill>
                  <a:srgbClr val="1D1D1D"/>
                </a:solidFill>
                <a:latin typeface="Be Vietnam Pro"/>
                <a:ea typeface="Be Vietnam Pro"/>
                <a:cs typeface="Be Vietnam Pro"/>
                <a:sym typeface="Be Vietnam Pro"/>
              </a:rPr>
              <a:t>Cả hai đều kết thúc ở center</a:t>
            </a:r>
          </a:p>
          <a:p>
            <a:pPr algn="l" marL="164592" indent="-164592">
              <a:spcAft>
                <a:spcPts val="1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Chỉ một số source gần relay có thể chọn path không UAV</a:t>
            </a:r>
          </a:p>
          <a:p>
            <a:pPr algn="l" marL="347472" indent="-164592">
              <a:spcAft>
                <a:spcPts val="800"/>
              </a:spcAft>
              <a:buClr>
                <a:srgbClr val="8208D5"/>
              </a:buClr>
              <a:buSzPct val="100000"/>
              <a:buFont typeface="Arial"/>
              <a:buChar char="–"/>
            </a:pPr>
            <a:r>
              <a:rPr sz="1200" b="0" i="0">
                <a:solidFill>
                  <a:srgbClr val="1D1D1D"/>
                </a:solidFill>
                <a:latin typeface="Be Vietnam Pro"/>
                <a:ea typeface="Be Vietnam Pro"/>
                <a:cs typeface="Be Vietnam Pro"/>
                <a:sym typeface="Be Vietnam Pro"/>
              </a:rPr>
              <a:t>Ràng buộc khoảng cách</a:t>
            </a:r>
          </a:p>
          <a:p>
            <a:pPr algn="l" marL="164592" indent="-164592">
              <a:spcAft>
                <a:spcPts val="8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Tất cả vào mạng bằng kết nối không dây</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Ước tính cost của path: thời gian khi chỉ có alert → source</a:t>
            </a:r>
          </a:p>
        </p:txBody>
      </p:sp>
    </p:spTree>
    <p:extLst>
      <p:ext uri="{BB962C8B-B14F-4D97-AF65-F5344CB8AC3E}">
        <p14:creationId xmlns:p14="http://schemas.microsoft.com/office/powerpoint/2010/main" val="2780662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0E019-872B-92A1-353E-FE6A9CB3989C}"/>
              </a:ext>
            </a:extLst>
          </p:cNvPr>
          <p:cNvSpPr>
            <a:spLocks noGrp="1"/>
          </p:cNvSpPr>
          <p:nvPr>
            <p:ph type="title"/>
          </p:nvPr>
        </p:nvSpPr>
        <p:spPr>
          <a:xfrm>
            <a:off x="722376" y="448056"/>
            <a:ext cx="7708392" cy="576072"/>
          </a:xfrm>
        </p:spPr>
        <p:txBody>
          <a:bodyPr/>
          <a:lstStyle/>
          <a:p>
            <a:pPr algn="l"/>
            <a:r>
              <a:rPr lang="en-US"/>
              <a:t>UAV model</a:t>
            </a:r>
          </a:p>
        </p:txBody>
      </p:sp>
      <p:sp>
        <p:nvSpPr>
          <p:cNvPr id="6" name="TextBox 5">
            <a:extLst>
              <a:ext uri="{FF2B5EF4-FFF2-40B4-BE49-F238E27FC236}">
                <a16:creationId xmlns:a16="http://schemas.microsoft.com/office/drawing/2014/main" id="{17C88F66-CEF9-6FBB-41D6-6D5BD8CD9BB5}"/>
              </a:ext>
            </a:extLst>
          </p:cNvPr>
          <p:cNvSpPr txBox="1"/>
          <p:nvPr/>
        </p:nvSpPr>
        <p:spPr>
          <a:xfrm>
            <a:off x="492130" y="975774"/>
            <a:ext cx="466674" cy="322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85E844E5-958A-FAFD-87DC-ACBB589B9BE6}"/>
              </a:ext>
            </a:extLst>
          </p:cNvPr>
          <p:cNvSpPr txBox="1"/>
          <p:nvPr/>
        </p:nvSpPr>
        <p:spPr>
          <a:xfrm>
            <a:off x="678799" y="924864"/>
            <a:ext cx="254549" cy="254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2A39D9FC-32FC-370F-7D1D-C910BA75C61D}"/>
              </a:ext>
            </a:extLst>
          </p:cNvPr>
          <p:cNvSpPr txBox="1"/>
          <p:nvPr/>
        </p:nvSpPr>
        <p:spPr>
          <a:xfrm>
            <a:off x="804234" y="1176613"/>
            <a:ext cx="488451" cy="307777"/>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sz="1200">
                <a:solidFill>
                  <a:srgbClr val="1D1D1D"/>
                </a:solidFill>
                <a:latin typeface="Be Vietnam Pro"/>
                <a:ea typeface="Be Vietnam Pro"/>
                <a:cs typeface="Be Vietnam Pro"/>
                <a:sym typeface="Be Vietnam Pro"/>
              </a:rPr>
              <a:t>q[0]</a:t>
            </a:r>
          </a:p>
        </p:txBody>
      </p:sp>
      <p:sp>
        <p:nvSpPr>
          <p:cNvPr id="13" name="TextBox 12">
            <a:extLst>
              <a:ext uri="{FF2B5EF4-FFF2-40B4-BE49-F238E27FC236}">
                <a16:creationId xmlns:a16="http://schemas.microsoft.com/office/drawing/2014/main" id="{3F23F952-FF5B-DDC2-8C2F-62D44696D195}"/>
              </a:ext>
            </a:extLst>
          </p:cNvPr>
          <p:cNvSpPr txBox="1"/>
          <p:nvPr/>
        </p:nvSpPr>
        <p:spPr>
          <a:xfrm>
            <a:off x="1725246" y="1181336"/>
            <a:ext cx="488451" cy="307777"/>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sz="1200">
                <a:solidFill>
                  <a:srgbClr val="1D1D1D"/>
                </a:solidFill>
                <a:latin typeface="Be Vietnam Pro"/>
                <a:ea typeface="Be Vietnam Pro"/>
                <a:cs typeface="Be Vietnam Pro"/>
                <a:sym typeface="Be Vietnam Pro"/>
              </a:rPr>
              <a:t>q[1]</a:t>
            </a:r>
          </a:p>
        </p:txBody>
      </p:sp>
      <p:sp>
        <p:nvSpPr>
          <p:cNvPr id="14" name="TextBox 13">
            <a:extLst>
              <a:ext uri="{FF2B5EF4-FFF2-40B4-BE49-F238E27FC236}">
                <a16:creationId xmlns:a16="http://schemas.microsoft.com/office/drawing/2014/main" id="{9F0D02E8-507F-A838-6F0E-EEC932016298}"/>
              </a:ext>
            </a:extLst>
          </p:cNvPr>
          <p:cNvSpPr txBox="1"/>
          <p:nvPr/>
        </p:nvSpPr>
        <p:spPr>
          <a:xfrm>
            <a:off x="2698213" y="1181336"/>
            <a:ext cx="488451" cy="307777"/>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sz="1200">
                <a:solidFill>
                  <a:srgbClr val="1D1D1D"/>
                </a:solidFill>
                <a:latin typeface="Be Vietnam Pro"/>
                <a:ea typeface="Be Vietnam Pro"/>
                <a:cs typeface="Be Vietnam Pro"/>
                <a:sym typeface="Be Vietnam Pro"/>
              </a:rPr>
              <a:t>q[2]</a:t>
            </a:r>
          </a:p>
        </p:txBody>
      </p:sp>
      <p:sp>
        <p:nvSpPr>
          <p:cNvPr id="15" name="TextBox 14">
            <a:extLst>
              <a:ext uri="{FF2B5EF4-FFF2-40B4-BE49-F238E27FC236}">
                <a16:creationId xmlns:a16="http://schemas.microsoft.com/office/drawing/2014/main" id="{5E41C6F0-4269-D3BA-53BE-B7456883A7DC}"/>
              </a:ext>
            </a:extLst>
          </p:cNvPr>
          <p:cNvSpPr txBox="1"/>
          <p:nvPr/>
        </p:nvSpPr>
        <p:spPr>
          <a:xfrm>
            <a:off x="6042197" y="1176613"/>
            <a:ext cx="606529" cy="307777"/>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sz="1200">
                <a:solidFill>
                  <a:srgbClr val="1D1D1D"/>
                </a:solidFill>
                <a:latin typeface="Be Vietnam Pro"/>
                <a:ea typeface="Be Vietnam Pro"/>
                <a:cs typeface="Be Vietnam Pro"/>
                <a:sym typeface="Be Vietnam Pro"/>
              </a:rPr>
              <a:t>q[N]</a:t>
            </a:r>
          </a:p>
        </p:txBody>
      </p:sp>
      <p:cxnSp>
        <p:nvCxnSpPr>
          <p:cNvPr id="16" name="Straight Arrow Connector 15">
            <a:extLst>
              <a:ext uri="{FF2B5EF4-FFF2-40B4-BE49-F238E27FC236}">
                <a16:creationId xmlns:a16="http://schemas.microsoft.com/office/drawing/2014/main" id="{0BC00FE3-B63B-1C60-AD87-4FCD75CD5764}"/>
              </a:ext>
            </a:extLst>
          </p:cNvPr>
          <p:cNvCxnSpPr/>
          <p:nvPr/>
        </p:nvCxnSpPr>
        <p:spPr>
          <a:xfrm>
            <a:off x="1213355" y="1340629"/>
            <a:ext cx="568494" cy="8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395D9D6-E2EA-1916-EAEF-DAE114FCF124}"/>
              </a:ext>
            </a:extLst>
          </p:cNvPr>
          <p:cNvCxnSpPr/>
          <p:nvPr/>
        </p:nvCxnSpPr>
        <p:spPr>
          <a:xfrm>
            <a:off x="2104279" y="1332144"/>
            <a:ext cx="661829" cy="8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709637F-DF37-4FEA-A075-BF75FA77DED4}"/>
              </a:ext>
            </a:extLst>
          </p:cNvPr>
          <p:cNvSpPr txBox="1"/>
          <p:nvPr/>
        </p:nvSpPr>
        <p:spPr>
          <a:xfrm>
            <a:off x="4267243" y="1165078"/>
            <a:ext cx="1145474" cy="307777"/>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sz="1200">
                <a:solidFill>
                  <a:srgbClr val="1D1D1D"/>
                </a:solidFill>
                <a:latin typeface="Be Vietnam Pro"/>
                <a:ea typeface="Be Vietnam Pro"/>
                <a:cs typeface="Be Vietnam Pro"/>
                <a:sym typeface="Be Vietnam Pro"/>
              </a:rPr>
              <a:t>...</a:t>
            </a:r>
          </a:p>
        </p:txBody>
      </p:sp>
      <p:cxnSp>
        <p:nvCxnSpPr>
          <p:cNvPr id="19" name="Straight Arrow Connector 18">
            <a:extLst>
              <a:ext uri="{FF2B5EF4-FFF2-40B4-BE49-F238E27FC236}">
                <a16:creationId xmlns:a16="http://schemas.microsoft.com/office/drawing/2014/main" id="{BE291023-9502-EE50-E735-937D3BA966CA}"/>
              </a:ext>
            </a:extLst>
          </p:cNvPr>
          <p:cNvCxnSpPr/>
          <p:nvPr/>
        </p:nvCxnSpPr>
        <p:spPr>
          <a:xfrm>
            <a:off x="3113994" y="1315174"/>
            <a:ext cx="1043654" cy="8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5662F2D-D46D-AF76-8AE2-344989B123DB}"/>
              </a:ext>
            </a:extLst>
          </p:cNvPr>
          <p:cNvCxnSpPr/>
          <p:nvPr/>
        </p:nvCxnSpPr>
        <p:spPr>
          <a:xfrm flipV="1">
            <a:off x="4709173" y="1328382"/>
            <a:ext cx="1324620" cy="4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Picture 20" descr="A black text on a white background&#10;&#10;AI-generated content may be incorrect.">
            <a:extLst>
              <a:ext uri="{FF2B5EF4-FFF2-40B4-BE49-F238E27FC236}">
                <a16:creationId xmlns:a16="http://schemas.microsoft.com/office/drawing/2014/main" id="{2D29E3CB-7852-9FE1-8E5C-69AEA89A3156}"/>
              </a:ext>
            </a:extLst>
          </p:cNvPr>
          <p:cNvPicPr>
            <a:picLocks noChangeAspect="1"/>
          </p:cNvPicPr>
          <p:nvPr/>
        </p:nvPicPr>
        <p:blipFill>
          <a:blip r:embed="rId2"/>
          <a:srcRect l="12603" b="-806"/>
          <a:stretch>
            <a:fillRect/>
          </a:stretch>
        </p:blipFill>
        <p:spPr>
          <a:xfrm>
            <a:off x="813816" y="1938528"/>
            <a:ext cx="7315200" cy="544036"/>
          </a:xfrm>
          <a:prstGeom prst="rect">
            <a:avLst/>
          </a:prstGeom>
        </p:spPr>
      </p:pic>
      <p:pic>
        <p:nvPicPr>
          <p:cNvPr id="22" name="Picture 21">
            <a:extLst>
              <a:ext uri="{FF2B5EF4-FFF2-40B4-BE49-F238E27FC236}">
                <a16:creationId xmlns:a16="http://schemas.microsoft.com/office/drawing/2014/main" id="{295152BA-932A-1672-9C5A-C02BAD2759FA}"/>
              </a:ext>
            </a:extLst>
          </p:cNvPr>
          <p:cNvPicPr>
            <a:picLocks noChangeAspect="1"/>
          </p:cNvPicPr>
          <p:nvPr/>
        </p:nvPicPr>
        <p:blipFill>
          <a:blip r:embed="rId3"/>
          <a:stretch>
            <a:fillRect/>
          </a:stretch>
        </p:blipFill>
        <p:spPr>
          <a:xfrm>
            <a:off x="3108960" y="2926080"/>
            <a:ext cx="2441448" cy="301752"/>
          </a:xfrm>
          <a:prstGeom prst="rect">
            <a:avLst/>
          </a:prstGeom>
        </p:spPr>
      </p:pic>
      <p:sp>
        <p:nvSpPr>
          <p:cNvPr id="23" name="TextBox 22"/>
          <p:cNvSpPr txBox="1"/>
          <p:nvPr/>
        </p:nvSpPr>
        <p:spPr>
          <a:xfrm>
            <a:off x="722376" y="1600200"/>
            <a:ext cx="7708392" cy="320040"/>
          </a:xfrm>
          <a:prstGeom prst="rect">
            <a:avLst/>
          </a:prstGeom>
          <a:noFill/>
        </p:spPr>
        <p:txBody>
          <a:bodyPr wrap="square" anchor="t">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Rời rạc hóa quỹ đạo theo từng timeslot, tuân theo ràng buộc tốc độ</a:t>
            </a:r>
          </a:p>
        </p:txBody>
      </p:sp>
      <p:sp>
        <p:nvSpPr>
          <p:cNvPr id="24" name="TextBox 23"/>
          <p:cNvSpPr txBox="1"/>
          <p:nvPr/>
        </p:nvSpPr>
        <p:spPr>
          <a:xfrm>
            <a:off x="722376" y="2606040"/>
            <a:ext cx="7708392" cy="320040"/>
          </a:xfrm>
          <a:prstGeom prst="rect">
            <a:avLst/>
          </a:prstGeom>
          <a:noFill/>
        </p:spPr>
        <p:txBody>
          <a:bodyPr wrap="square" anchor="t">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Để đơn giản: quy ước vị trí của UAV trong 1 slot là trung điểm quỹ đạo</a:t>
            </a:r>
          </a:p>
        </p:txBody>
      </p:sp>
      <p:sp>
        <p:nvSpPr>
          <p:cNvPr id="25" name="TextBox 24"/>
          <p:cNvSpPr txBox="1"/>
          <p:nvPr/>
        </p:nvSpPr>
        <p:spPr>
          <a:xfrm>
            <a:off x="722376" y="3337560"/>
            <a:ext cx="7708392" cy="1371600"/>
          </a:xfrm>
          <a:prstGeom prst="rect">
            <a:avLst/>
          </a:prstGeom>
          <a:noFill/>
        </p:spPr>
        <p:txBody>
          <a:bodyPr wrap="square" anchor="t">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Cố định độ cao H</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Kế thừa Huang et al.: tối đa 2 downlink đồng thời</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Half-duplex: nửa đầu timeslot chỉ access, nửa sau downlink → loại bỏ nhiễu tự phát khi UAV vừa thu vừa phát</a:t>
            </a:r>
          </a:p>
        </p:txBody>
      </p:sp>
    </p:spTree>
    <p:extLst>
      <p:ext uri="{BB962C8B-B14F-4D97-AF65-F5344CB8AC3E}">
        <p14:creationId xmlns:p14="http://schemas.microsoft.com/office/powerpoint/2010/main" val="2585373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DE21-099D-03DC-802D-AF86823B3B98}"/>
              </a:ext>
            </a:extLst>
          </p:cNvPr>
          <p:cNvSpPr>
            <a:spLocks noGrp="1"/>
          </p:cNvSpPr>
          <p:nvPr>
            <p:ph type="title"/>
          </p:nvPr>
        </p:nvSpPr>
        <p:spPr>
          <a:xfrm>
            <a:off x="722376" y="448056"/>
            <a:ext cx="7708392" cy="576072"/>
          </a:xfrm>
        </p:spPr>
        <p:txBody>
          <a:bodyPr/>
          <a:lstStyle/>
          <a:p>
            <a:pPr algn="l"/>
            <a:r>
              <a:rPr lang="en-US"/>
              <a:t>Xác </a:t>
            </a:r>
            <a:r>
              <a:rPr lang="en-US" err="1"/>
              <a:t>suất</a:t>
            </a:r>
            <a:r>
              <a:rPr lang="en-US"/>
              <a:t> </a:t>
            </a:r>
            <a:r>
              <a:rPr lang="en-US" err="1"/>
              <a:t>kết</a:t>
            </a:r>
            <a:r>
              <a:rPr lang="en-US"/>
              <a:t> </a:t>
            </a:r>
            <a:r>
              <a:rPr lang="en-US" err="1"/>
              <a:t>nối</a:t>
            </a:r>
            <a:r>
              <a:rPr lang="en-US"/>
              <a:t> </a:t>
            </a:r>
            <a:r>
              <a:rPr lang="en-US" err="1"/>
              <a:t>và</a:t>
            </a:r>
            <a:r>
              <a:rPr lang="en-US"/>
              <a:t> Simulation</a:t>
            </a:r>
          </a:p>
        </p:txBody>
      </p:sp>
      <p:pic>
        <p:nvPicPr>
          <p:cNvPr id="3" name="Picture 2" descr="A diagram of a network&#10;&#10;AI-generated content may be incorrect.">
            <a:extLst>
              <a:ext uri="{FF2B5EF4-FFF2-40B4-BE49-F238E27FC236}">
                <a16:creationId xmlns:a16="http://schemas.microsoft.com/office/drawing/2014/main" id="{2BDC0259-087A-FA64-561E-C41E3F238468}"/>
              </a:ext>
            </a:extLst>
          </p:cNvPr>
          <p:cNvPicPr>
            <a:picLocks noChangeAspect="1"/>
          </p:cNvPicPr>
          <p:nvPr/>
        </p:nvPicPr>
        <p:blipFill>
          <a:blip r:embed="rId2"/>
          <a:stretch>
            <a:fillRect/>
          </a:stretch>
        </p:blipFill>
        <p:spPr>
          <a:xfrm>
            <a:off x="5349240" y="1371600"/>
            <a:ext cx="3291840" cy="2374934"/>
          </a:xfrm>
          <a:prstGeom prst="rect">
            <a:avLst/>
          </a:prstGeom>
        </p:spPr>
      </p:pic>
      <p:pic>
        <p:nvPicPr>
          <p:cNvPr id="6" name="Picture 5" descr="A black text with a white background&#10;&#10;AI-generated content may be incorrect.">
            <a:extLst>
              <a:ext uri="{FF2B5EF4-FFF2-40B4-BE49-F238E27FC236}">
                <a16:creationId xmlns:a16="http://schemas.microsoft.com/office/drawing/2014/main" id="{6D28D974-CC98-AB5E-2D20-C7A2F51B23FF}"/>
              </a:ext>
            </a:extLst>
          </p:cNvPr>
          <p:cNvPicPr>
            <a:picLocks noChangeAspect="1"/>
          </p:cNvPicPr>
          <p:nvPr/>
        </p:nvPicPr>
        <p:blipFill>
          <a:blip r:embed="rId3"/>
          <a:stretch>
            <a:fillRect/>
          </a:stretch>
        </p:blipFill>
        <p:spPr>
          <a:xfrm>
            <a:off x="2163867" y="1981026"/>
            <a:ext cx="2863719" cy="531353"/>
          </a:xfrm>
          <a:prstGeom prst="rect">
            <a:avLst/>
          </a:prstGeom>
        </p:spPr>
      </p:pic>
      <p:pic>
        <p:nvPicPr>
          <p:cNvPr id="7" name="Picture 6" descr="A black text on a white background&#10;&#10;AI-generated content may be incorrect.">
            <a:extLst>
              <a:ext uri="{FF2B5EF4-FFF2-40B4-BE49-F238E27FC236}">
                <a16:creationId xmlns:a16="http://schemas.microsoft.com/office/drawing/2014/main" id="{486BE4B6-97EC-DCED-A566-01B117C33ED0}"/>
              </a:ext>
            </a:extLst>
          </p:cNvPr>
          <p:cNvPicPr>
            <a:picLocks noChangeAspect="1"/>
          </p:cNvPicPr>
          <p:nvPr/>
        </p:nvPicPr>
        <p:blipFill>
          <a:blip r:embed="rId4"/>
          <a:stretch>
            <a:fillRect/>
          </a:stretch>
        </p:blipFill>
        <p:spPr>
          <a:xfrm>
            <a:off x="2139426" y="1381148"/>
            <a:ext cx="3030682" cy="602280"/>
          </a:xfrm>
          <a:prstGeom prst="rect">
            <a:avLst/>
          </a:prstGeom>
        </p:spPr>
      </p:pic>
      <p:pic>
        <p:nvPicPr>
          <p:cNvPr id="8" name="Picture 7" descr="A black text with a white background&#10;&#10;AI-generated content may be incorrect.">
            <a:extLst>
              <a:ext uri="{FF2B5EF4-FFF2-40B4-BE49-F238E27FC236}">
                <a16:creationId xmlns:a16="http://schemas.microsoft.com/office/drawing/2014/main" id="{6AC4FAA8-3E3C-B1A6-186B-DCA971F47F34}"/>
              </a:ext>
            </a:extLst>
          </p:cNvPr>
          <p:cNvPicPr>
            <a:picLocks noChangeAspect="1"/>
          </p:cNvPicPr>
          <p:nvPr/>
        </p:nvPicPr>
        <p:blipFill>
          <a:blip r:embed="rId5"/>
          <a:stretch>
            <a:fillRect/>
          </a:stretch>
        </p:blipFill>
        <p:spPr>
          <a:xfrm>
            <a:off x="691783" y="2511318"/>
            <a:ext cx="1524000" cy="542925"/>
          </a:xfrm>
          <a:prstGeom prst="rect">
            <a:avLst/>
          </a:prstGeom>
        </p:spPr>
      </p:pic>
      <p:pic>
        <p:nvPicPr>
          <p:cNvPr id="9" name="Picture 8" descr="A close up of a sign&#10;&#10;AI-generated content may be incorrect.">
            <a:extLst>
              <a:ext uri="{FF2B5EF4-FFF2-40B4-BE49-F238E27FC236}">
                <a16:creationId xmlns:a16="http://schemas.microsoft.com/office/drawing/2014/main" id="{FCBDF0EC-DB49-4BA8-85F1-E131B0BD3914}"/>
              </a:ext>
            </a:extLst>
          </p:cNvPr>
          <p:cNvPicPr>
            <a:picLocks noChangeAspect="1"/>
          </p:cNvPicPr>
          <p:nvPr/>
        </p:nvPicPr>
        <p:blipFill>
          <a:blip r:embed="rId6"/>
          <a:stretch>
            <a:fillRect/>
          </a:stretch>
        </p:blipFill>
        <p:spPr>
          <a:xfrm>
            <a:off x="3416090" y="2539774"/>
            <a:ext cx="1752600" cy="514350"/>
          </a:xfrm>
          <a:prstGeom prst="rect">
            <a:avLst/>
          </a:prstGeom>
        </p:spPr>
      </p:pic>
      <p:pic>
        <p:nvPicPr>
          <p:cNvPr id="10" name="Picture 9" descr="A math equation with numbers&#10;&#10;AI-generated content may be incorrect.">
            <a:extLst>
              <a:ext uri="{FF2B5EF4-FFF2-40B4-BE49-F238E27FC236}">
                <a16:creationId xmlns:a16="http://schemas.microsoft.com/office/drawing/2014/main" id="{D5DB3F86-80E5-1B3E-3B63-9CE201A4F3ED}"/>
              </a:ext>
            </a:extLst>
          </p:cNvPr>
          <p:cNvPicPr>
            <a:picLocks noChangeAspect="1"/>
          </p:cNvPicPr>
          <p:nvPr/>
        </p:nvPicPr>
        <p:blipFill>
          <a:blip r:embed="rId7"/>
          <a:stretch>
            <a:fillRect/>
          </a:stretch>
        </p:blipFill>
        <p:spPr>
          <a:xfrm>
            <a:off x="2056062" y="3247064"/>
            <a:ext cx="3088777" cy="502543"/>
          </a:xfrm>
          <a:prstGeom prst="rect">
            <a:avLst/>
          </a:prstGeom>
        </p:spPr>
      </p:pic>
      <p:cxnSp>
        <p:nvCxnSpPr>
          <p:cNvPr id="12" name="Straight Arrow Connector 11">
            <a:extLst>
              <a:ext uri="{FF2B5EF4-FFF2-40B4-BE49-F238E27FC236}">
                <a16:creationId xmlns:a16="http://schemas.microsoft.com/office/drawing/2014/main" id="{940FD208-E7FF-3765-00A2-7FA231147F56}"/>
              </a:ext>
            </a:extLst>
          </p:cNvPr>
          <p:cNvCxnSpPr/>
          <p:nvPr/>
        </p:nvCxnSpPr>
        <p:spPr>
          <a:xfrm>
            <a:off x="2219278" y="2756196"/>
            <a:ext cx="594828" cy="485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6EBAD0C-E6D8-A45A-BDD9-FE7DD9B04313}"/>
              </a:ext>
            </a:extLst>
          </p:cNvPr>
          <p:cNvCxnSpPr/>
          <p:nvPr/>
        </p:nvCxnSpPr>
        <p:spPr>
          <a:xfrm flipH="1">
            <a:off x="2793375" y="2736425"/>
            <a:ext cx="633573" cy="510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F76DE4FA-B203-0903-C2FC-7A9AC97A189A}"/>
              </a:ext>
            </a:extLst>
          </p:cNvPr>
          <p:cNvPicPr>
            <a:picLocks noChangeAspect="1"/>
          </p:cNvPicPr>
          <p:nvPr/>
        </p:nvPicPr>
        <p:blipFill>
          <a:blip r:embed="rId8"/>
          <a:stretch>
            <a:fillRect/>
          </a:stretch>
        </p:blipFill>
        <p:spPr>
          <a:xfrm>
            <a:off x="2350313" y="2847369"/>
            <a:ext cx="955807" cy="291182"/>
          </a:xfrm>
          <a:prstGeom prst="rect">
            <a:avLst/>
          </a:prstGeom>
        </p:spPr>
      </p:pic>
      <p:sp>
        <p:nvSpPr>
          <p:cNvPr id="15" name="TextBox 14"/>
          <p:cNvSpPr txBox="1"/>
          <p:nvPr/>
        </p:nvSpPr>
        <p:spPr>
          <a:xfrm>
            <a:off x="722376" y="1005840"/>
            <a:ext cx="7708392" cy="320040"/>
          </a:xfrm>
          <a:prstGeom prst="rect">
            <a:avLst/>
          </a:prstGeom>
          <a:noFill/>
        </p:spPr>
        <p:txBody>
          <a:bodyPr wrap="square" anchor="t">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Kết nối dựa trên mô hình Probabilistic Line of Sight (PrLoS)</a:t>
            </a:r>
          </a:p>
        </p:txBody>
      </p:sp>
      <p:sp>
        <p:nvSpPr>
          <p:cNvPr id="16" name="TextBox 15"/>
          <p:cNvSpPr txBox="1"/>
          <p:nvPr/>
        </p:nvSpPr>
        <p:spPr>
          <a:xfrm>
            <a:off x="722376" y="1417320"/>
            <a:ext cx="1188720" cy="548640"/>
          </a:xfrm>
          <a:prstGeom prst="rect">
            <a:avLst/>
          </a:prstGeom>
          <a:noFill/>
        </p:spPr>
        <p:txBody>
          <a:bodyPr wrap="square" anchor="t">
            <a:noAutofit/>
          </a:bodyPr>
          <a:lstStyle/>
          <a:p>
            <a:pPr algn="l" marL="0" indent="0">
              <a:spcAft>
                <a:spcPts val="400"/>
              </a:spcAft>
              <a:buNone/>
            </a:pPr>
            <a:r>
              <a:rPr sz="1100" b="1" i="0">
                <a:solidFill>
                  <a:srgbClr val="0C0A9E"/>
                </a:solidFill>
                <a:latin typeface="IBM Plex Mono"/>
                <a:ea typeface="IBM Plex Mono"/>
                <a:cs typeface="IBM Plex Mono"/>
                <a:sym typeface="IBM Plex Mono"/>
              </a:rPr>
              <a:t>Channel type</a:t>
            </a:r>
          </a:p>
        </p:txBody>
      </p:sp>
      <p:sp>
        <p:nvSpPr>
          <p:cNvPr id="17" name="TextBox 16"/>
          <p:cNvSpPr txBox="1"/>
          <p:nvPr/>
        </p:nvSpPr>
        <p:spPr>
          <a:xfrm>
            <a:off x="722376" y="3291840"/>
            <a:ext cx="1188720" cy="365760"/>
          </a:xfrm>
          <a:prstGeom prst="rect">
            <a:avLst/>
          </a:prstGeom>
          <a:noFill/>
        </p:spPr>
        <p:txBody>
          <a:bodyPr wrap="square" anchor="t">
            <a:noAutofit/>
          </a:bodyPr>
          <a:lstStyle/>
          <a:p>
            <a:pPr algn="l" marL="0" indent="0">
              <a:spcAft>
                <a:spcPts val="400"/>
              </a:spcAft>
              <a:buNone/>
            </a:pPr>
            <a:r>
              <a:rPr sz="1100" b="1" i="0">
                <a:solidFill>
                  <a:srgbClr val="0C0A9E"/>
                </a:solidFill>
                <a:latin typeface="IBM Plex Mono"/>
                <a:ea typeface="IBM Plex Mono"/>
                <a:cs typeface="IBM Plex Mono"/>
                <a:sym typeface="IBM Plex Mono"/>
              </a:rPr>
              <a:t>Channel rate</a:t>
            </a:r>
          </a:p>
        </p:txBody>
      </p:sp>
      <p:sp>
        <p:nvSpPr>
          <p:cNvPr id="18" name="TextBox 17"/>
          <p:cNvSpPr txBox="1"/>
          <p:nvPr/>
        </p:nvSpPr>
        <p:spPr>
          <a:xfrm>
            <a:off x="722376" y="3931920"/>
            <a:ext cx="7863840" cy="822960"/>
          </a:xfrm>
          <a:prstGeom prst="rect">
            <a:avLst/>
          </a:prstGeom>
          <a:noFill/>
        </p:spPr>
        <p:txBody>
          <a:bodyPr wrap="square" anchor="t">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Source → relay node: giả sử cố định, ràng buộc rate tối thiểu</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Kết nối là ngẫu nhiên → khi đánh giá 1 lời giải phải simulation nhiều lần (connection realization; hiện tại: 5 lần)</a:t>
            </a:r>
          </a:p>
        </p:txBody>
      </p:sp>
    </p:spTree>
    <p:extLst>
      <p:ext uri="{BB962C8B-B14F-4D97-AF65-F5344CB8AC3E}">
        <p14:creationId xmlns:p14="http://schemas.microsoft.com/office/powerpoint/2010/main" val="1076918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C54A-76AC-7294-66F2-6F6FA300733C}"/>
              </a:ext>
            </a:extLst>
          </p:cNvPr>
          <p:cNvSpPr>
            <a:spLocks noGrp="1"/>
          </p:cNvSpPr>
          <p:nvPr>
            <p:ph type="title"/>
          </p:nvPr>
        </p:nvSpPr>
        <p:spPr>
          <a:xfrm>
            <a:off x="722376" y="448056"/>
            <a:ext cx="7708392" cy="576072"/>
          </a:xfrm>
        </p:spPr>
        <p:txBody>
          <a:bodyPr/>
          <a:lstStyle/>
          <a:p>
            <a:pPr algn="l"/>
            <a:r>
              <a:rPr lang="en-US"/>
              <a:t>Bài toán tối ưu - Input và Tham số</a:t>
            </a:r>
          </a:p>
        </p:txBody>
      </p:sp>
      <p:pic>
        <p:nvPicPr>
          <p:cNvPr id="5" name="Picture 4" descr="A black and white text on a white background&#10;&#10;AI-generated content may be incorrect.">
            <a:extLst>
              <a:ext uri="{FF2B5EF4-FFF2-40B4-BE49-F238E27FC236}">
                <a16:creationId xmlns:a16="http://schemas.microsoft.com/office/drawing/2014/main" id="{00FFBC38-092E-6F6D-C25F-D13655CC0CD9}"/>
              </a:ext>
            </a:extLst>
          </p:cNvPr>
          <p:cNvPicPr>
            <a:picLocks noChangeAspect="1"/>
          </p:cNvPicPr>
          <p:nvPr/>
        </p:nvPicPr>
        <p:blipFill>
          <a:blip r:embed="rId2"/>
          <a:stretch>
            <a:fillRect/>
          </a:stretch>
        </p:blipFill>
        <p:spPr>
          <a:xfrm>
            <a:off x="1708842" y="1426744"/>
            <a:ext cx="7203164" cy="3036923"/>
          </a:xfrm>
          <a:prstGeom prst="rect">
            <a:avLst/>
          </a:prstGeom>
        </p:spPr>
      </p:pic>
    </p:spTree>
    <p:extLst>
      <p:ext uri="{BB962C8B-B14F-4D97-AF65-F5344CB8AC3E}">
        <p14:creationId xmlns:p14="http://schemas.microsoft.com/office/powerpoint/2010/main" val="170901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6" name="Rounded Rectangle 1530">
            <a:extLst>
              <a:ext uri="{FF2B5EF4-FFF2-40B4-BE49-F238E27FC236}">
                <a16:creationId xmlns:a16="http://schemas.microsoft.com/office/drawing/2014/main" id="{8F0E0BA4-EAAE-46C7-C2B6-95DFB33B8914}"/>
              </a:ext>
            </a:extLst>
          </p:cNvPr>
          <p:cNvSpPr/>
          <p:nvPr/>
        </p:nvSpPr>
        <p:spPr>
          <a:xfrm>
            <a:off x="722376" y="3200400"/>
            <a:ext cx="7708392" cy="1554480"/>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0" name="Google Shape;1530;p39"/>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algn="l"/>
            <a:r>
              <a:rPr lang="vi-VN"/>
              <a:t>Bài toán tối ưu</a:t>
            </a:r>
          </a:p>
        </p:txBody>
      </p:sp>
      <p:sp>
        <p:nvSpPr>
          <p:cNvPr id="1531" name="Rounded Rectangle 1530"/>
          <p:cNvSpPr/>
          <p:nvPr/>
        </p:nvSpPr>
        <p:spPr>
          <a:xfrm>
            <a:off x="722376" y="1188720"/>
            <a:ext cx="3749039" cy="1874519"/>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2" name="TextBox 1531"/>
          <p:cNvSpPr txBox="1"/>
          <p:nvPr/>
        </p:nvSpPr>
        <p:spPr>
          <a:xfrm>
            <a:off x="886968" y="1298448"/>
            <a:ext cx="3474720" cy="274320"/>
          </a:xfrm>
          <a:prstGeom prst="rect">
            <a:avLst/>
          </a:prstGeom>
          <a:noFill/>
        </p:spPr>
        <p:txBody>
          <a:bodyPr wrap="square" lIns="36576" tIns="18288" rIns="36576" bIns="18288" anchor="t">
            <a:spAutoFit/>
          </a:bodyPr>
          <a:lstStyle/>
          <a:p>
            <a:pPr algn="l">
              <a:spcAft>
                <a:spcPts val="400"/>
              </a:spcAft>
            </a:pPr>
            <a:r>
              <a:rPr sz="1200" b="1">
                <a:solidFill>
                  <a:srgbClr val="0C0A9E"/>
                </a:solidFill>
                <a:latin typeface="IBM Plex Mono"/>
              </a:rPr>
              <a:t>Biến quyết định</a:t>
            </a:r>
          </a:p>
        </p:txBody>
      </p:sp>
      <p:sp>
        <p:nvSpPr>
          <p:cNvPr id="1533" name="TextBox 1532"/>
          <p:cNvSpPr txBox="1"/>
          <p:nvPr/>
        </p:nvSpPr>
        <p:spPr>
          <a:xfrm>
            <a:off x="886968" y="1600200"/>
            <a:ext cx="3474720" cy="921791"/>
          </a:xfrm>
          <a:prstGeom prst="rect">
            <a:avLst/>
          </a:prstGeom>
          <a:noFill/>
        </p:spPr>
        <p:txBody>
          <a:bodyPr wrap="square" lIns="36576" tIns="18288" rIns="36576" bIns="18288" anchor="t">
            <a:spAutoFit/>
          </a:bodyPr>
          <a:lstStyle/>
          <a:p>
            <a:pPr marL="171450" indent="-171450" algn="l">
              <a:spcAft>
                <a:spcPts val="300"/>
              </a:spcAft>
              <a:buClr>
                <a:srgbClr val="EB9109"/>
              </a:buClr>
              <a:buFont typeface="Arial"/>
              <a:buChar char="•"/>
            </a:pPr>
            <a:r>
              <a:rPr sz="1000" b="1">
                <a:solidFill>
                  <a:srgbClr val="1D1D1D"/>
                </a:solidFill>
                <a:latin typeface="Be Vietnam Pro"/>
              </a:rPr>
              <a:t>q</a:t>
            </a:r>
            <a:r>
              <a:rPr sz="1000" b="0">
                <a:solidFill>
                  <a:srgbClr val="1D1D1D"/>
                </a:solidFill>
                <a:latin typeface="Be Vietnam Pro"/>
              </a:rPr>
              <a:t>: UAV trajectory, q[0] = </a:t>
            </a:r>
            <a:r>
              <a:rPr sz="1000" b="0" err="1">
                <a:solidFill>
                  <a:srgbClr val="1D1D1D"/>
                </a:solidFill>
                <a:latin typeface="Be Vietnam Pro"/>
              </a:rPr>
              <a:t>q_s</a:t>
            </a:r>
            <a:r>
              <a:rPr sz="1000" b="0">
                <a:solidFill>
                  <a:srgbClr val="1D1D1D"/>
                </a:solidFill>
                <a:latin typeface="Be Vietnam Pro"/>
              </a:rPr>
              <a:t>, q[N] = </a:t>
            </a:r>
            <a:r>
              <a:rPr sz="1000" b="0" err="1">
                <a:solidFill>
                  <a:srgbClr val="1D1D1D"/>
                </a:solidFill>
                <a:latin typeface="Be Vietnam Pro"/>
              </a:rPr>
              <a:t>q_t</a:t>
            </a:r>
            <a:endParaRPr lang="en-US" sz="1000" b="0" err="1">
              <a:solidFill>
                <a:srgbClr val="1D1D1D"/>
              </a:solidFill>
              <a:latin typeface="Be Vietnam Pro"/>
            </a:endParaRPr>
          </a:p>
          <a:p>
            <a:pPr marL="171450" indent="-171450" algn="l">
              <a:spcAft>
                <a:spcPts val="300"/>
              </a:spcAft>
              <a:buClr>
                <a:srgbClr val="EB9109"/>
              </a:buClr>
              <a:buFont typeface="Arial"/>
              <a:buChar char="•"/>
            </a:pPr>
            <a:r>
              <a:rPr sz="1000" b="1">
                <a:solidFill>
                  <a:srgbClr val="1D1D1D"/>
                </a:solidFill>
                <a:latin typeface="Be Vietnam Pro"/>
              </a:rPr>
              <a:t>x_{</a:t>
            </a:r>
            <a:r>
              <a:rPr sz="1000" b="1" err="1">
                <a:solidFill>
                  <a:srgbClr val="1D1D1D"/>
                </a:solidFill>
                <a:latin typeface="Be Vietnam Pro"/>
              </a:rPr>
              <a:t>a</a:t>
            </a:r>
            <a:r>
              <a:rPr lang="en-US" sz="1000" b="1" err="1">
                <a:solidFill>
                  <a:srgbClr val="1D1D1D"/>
                </a:solidFill>
                <a:latin typeface="Be Vietnam Pro"/>
              </a:rPr>
              <a:t>,p</a:t>
            </a:r>
            <a:r>
              <a:rPr lang="en-US" sz="1000" b="1">
                <a:solidFill>
                  <a:srgbClr val="1D1D1D"/>
                </a:solidFill>
                <a:latin typeface="Be Vietnam Pro"/>
              </a:rPr>
              <a:t>(a)}</a:t>
            </a:r>
            <a:r>
              <a:rPr sz="1000" b="1">
                <a:solidFill>
                  <a:srgbClr val="1D1D1D"/>
                </a:solidFill>
                <a:latin typeface="Be Vietnam Pro"/>
              </a:rPr>
              <a:t> ∈ {0,1}</a:t>
            </a:r>
            <a:r>
              <a:rPr sz="1000" b="0">
                <a:solidFill>
                  <a:srgbClr val="1D1D1D"/>
                </a:solidFill>
                <a:latin typeface="Be Vietnam Pro"/>
              </a:rPr>
              <a:t>: chọn ground path hoặc UAV path cho alert a</a:t>
            </a:r>
          </a:p>
          <a:p>
            <a:pPr marL="171450" indent="-171450" algn="l">
              <a:spcAft>
                <a:spcPts val="300"/>
              </a:spcAft>
              <a:buClr>
                <a:srgbClr val="EB9109"/>
              </a:buClr>
              <a:buFont typeface="Arial"/>
              <a:buChar char="•"/>
            </a:pPr>
            <a:r>
              <a:rPr sz="1000" b="1">
                <a:solidFill>
                  <a:srgbClr val="1D1D1D"/>
                </a:solidFill>
                <a:latin typeface="Be Vietnam Pro"/>
              </a:rPr>
              <a:t>b_{</a:t>
            </a:r>
            <a:r>
              <a:rPr sz="1000" b="1" err="1">
                <a:solidFill>
                  <a:srgbClr val="1D1D1D"/>
                </a:solidFill>
                <a:latin typeface="Be Vietnam Pro"/>
              </a:rPr>
              <a:t>e,n</a:t>
            </a:r>
            <a:r>
              <a:rPr sz="1000" b="1">
                <a:solidFill>
                  <a:srgbClr val="1D1D1D"/>
                </a:solidFill>
                <a:latin typeface="Be Vietnam Pro"/>
              </a:rPr>
              <a:t>} ≥ 0</a:t>
            </a:r>
            <a:r>
              <a:rPr sz="1000" b="0">
                <a:solidFill>
                  <a:srgbClr val="1D1D1D"/>
                </a:solidFill>
                <a:latin typeface="Be Vietnam Pro"/>
              </a:rPr>
              <a:t>: bandwidth </a:t>
            </a:r>
            <a:r>
              <a:rPr sz="1000" b="0" err="1">
                <a:solidFill>
                  <a:srgbClr val="1D1D1D"/>
                </a:solidFill>
                <a:latin typeface="Be Vietnam Pro"/>
              </a:rPr>
              <a:t>của</a:t>
            </a:r>
            <a:r>
              <a:rPr sz="1000" b="0">
                <a:solidFill>
                  <a:srgbClr val="1D1D1D"/>
                </a:solidFill>
                <a:latin typeface="Be Vietnam Pro"/>
              </a:rPr>
              <a:t> radio link e ở slot n</a:t>
            </a:r>
          </a:p>
          <a:p>
            <a:pPr marL="171450" indent="-171450">
              <a:spcAft>
                <a:spcPts val="300"/>
              </a:spcAft>
              <a:buClr>
                <a:srgbClr val="EB9109"/>
              </a:buClr>
              <a:buFont typeface="Arial"/>
              <a:buChar char="•"/>
            </a:pPr>
            <a:r>
              <a:rPr lang="en-US" sz="1000" b="1">
                <a:solidFill>
                  <a:srgbClr val="1D1D1D"/>
                </a:solidFill>
                <a:latin typeface="Be Vietnam Pro"/>
              </a:rPr>
              <a:t>p(a)</a:t>
            </a:r>
            <a:r>
              <a:rPr lang="en-US" sz="1000">
                <a:solidFill>
                  <a:srgbClr val="1D1D1D"/>
                </a:solidFill>
                <a:latin typeface="Be Vietnam Pro"/>
              </a:rPr>
              <a:t>: path </a:t>
            </a:r>
            <a:r>
              <a:rPr lang="en-US" sz="1000" err="1">
                <a:solidFill>
                  <a:srgbClr val="1D1D1D"/>
                </a:solidFill>
                <a:latin typeface="Be Vietnam Pro"/>
              </a:rPr>
              <a:t>của</a:t>
            </a:r>
            <a:r>
              <a:rPr lang="en-US" sz="1000">
                <a:solidFill>
                  <a:srgbClr val="1D1D1D"/>
                </a:solidFill>
                <a:latin typeface="Be Vietnam Pro"/>
              </a:rPr>
              <a:t> alert a</a:t>
            </a:r>
          </a:p>
        </p:txBody>
      </p:sp>
      <p:sp>
        <p:nvSpPr>
          <p:cNvPr id="1534" name="TextBox 1533"/>
          <p:cNvSpPr txBox="1"/>
          <p:nvPr/>
        </p:nvSpPr>
        <p:spPr>
          <a:xfrm>
            <a:off x="886968" y="3291840"/>
            <a:ext cx="3474720" cy="274320"/>
          </a:xfrm>
          <a:prstGeom prst="rect">
            <a:avLst/>
          </a:prstGeom>
          <a:noFill/>
        </p:spPr>
        <p:txBody>
          <a:bodyPr wrap="square" lIns="36576" tIns="18288" rIns="36576" bIns="18288" anchor="t">
            <a:spAutoFit/>
          </a:bodyPr>
          <a:lstStyle/>
          <a:p>
            <a:pPr algn="l">
              <a:spcAft>
                <a:spcPts val="400"/>
              </a:spcAft>
            </a:pPr>
            <a:r>
              <a:rPr sz="1200" b="1">
                <a:solidFill>
                  <a:srgbClr val="0C0A9E"/>
                </a:solidFill>
                <a:latin typeface="IBM Plex Mono"/>
              </a:rPr>
              <a:t>Objective</a:t>
            </a:r>
          </a:p>
        </p:txBody>
      </p:sp>
      <p:pic>
        <p:nvPicPr>
          <p:cNvPr id="1535" name="Picture 1534" descr="eq.png"/>
          <p:cNvPicPr>
            <a:picLocks noChangeAspect="1"/>
          </p:cNvPicPr>
          <p:nvPr/>
        </p:nvPicPr>
        <p:blipFill>
          <a:blip r:embed="rId3"/>
          <a:stretch>
            <a:fillRect/>
          </a:stretch>
        </p:blipFill>
        <p:spPr>
          <a:xfrm>
            <a:off x="950976" y="3630168"/>
            <a:ext cx="3291840" cy="1060704"/>
          </a:xfrm>
          <a:prstGeom prst="rect">
            <a:avLst/>
          </a:prstGeom>
        </p:spPr>
      </p:pic>
      <p:sp>
        <p:nvSpPr>
          <p:cNvPr id="1536" name="Rounded Rectangle 1535"/>
          <p:cNvSpPr/>
          <p:nvPr/>
        </p:nvSpPr>
        <p:spPr>
          <a:xfrm>
            <a:off x="4672584" y="1188720"/>
            <a:ext cx="3758184" cy="1874519"/>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 name="TextBox 1536"/>
          <p:cNvSpPr txBox="1"/>
          <p:nvPr/>
        </p:nvSpPr>
        <p:spPr>
          <a:xfrm>
            <a:off x="4837176" y="1298448"/>
            <a:ext cx="3474720" cy="274320"/>
          </a:xfrm>
          <a:prstGeom prst="rect">
            <a:avLst/>
          </a:prstGeom>
          <a:noFill/>
        </p:spPr>
        <p:txBody>
          <a:bodyPr wrap="square" lIns="36576" tIns="18288" rIns="36576" bIns="18288" anchor="t">
            <a:spAutoFit/>
          </a:bodyPr>
          <a:lstStyle/>
          <a:p>
            <a:pPr algn="l">
              <a:spcAft>
                <a:spcPts val="400"/>
              </a:spcAft>
            </a:pPr>
            <a:r>
              <a:rPr sz="1200" b="1">
                <a:solidFill>
                  <a:srgbClr val="0C0A9E"/>
                </a:solidFill>
                <a:latin typeface="IBM Plex Mono"/>
              </a:rPr>
              <a:t>Ràng buộc mỗi slot</a:t>
            </a:r>
          </a:p>
        </p:txBody>
      </p:sp>
      <p:sp>
        <p:nvSpPr>
          <p:cNvPr id="1538" name="TextBox 1537"/>
          <p:cNvSpPr txBox="1"/>
          <p:nvPr/>
        </p:nvSpPr>
        <p:spPr>
          <a:xfrm>
            <a:off x="4837176" y="1572768"/>
            <a:ext cx="3474720" cy="1463040"/>
          </a:xfrm>
          <a:prstGeom prst="rect">
            <a:avLst/>
          </a:prstGeom>
          <a:noFill/>
        </p:spPr>
        <p:txBody>
          <a:bodyPr wrap="square" lIns="36576" tIns="18288" rIns="36576" bIns="18288" anchor="t">
            <a:spAutoFit/>
          </a:bodyPr>
          <a:lstStyle/>
          <a:p>
            <a:pPr marL="171450" indent="-171450" algn="l">
              <a:spcAft>
                <a:spcPts val="500"/>
              </a:spcAft>
              <a:buClr>
                <a:srgbClr val="EB9109"/>
              </a:buClr>
              <a:buFont typeface="Arial"/>
              <a:buChar char="•"/>
            </a:pPr>
            <a:r>
              <a:rPr sz="950" b="1">
                <a:solidFill>
                  <a:srgbClr val="1D1D1D"/>
                </a:solidFill>
                <a:latin typeface="Be Vietnam Pro"/>
              </a:rPr>
              <a:t>Spectrum: </a:t>
            </a:r>
            <a:r>
              <a:rPr sz="950" b="0">
                <a:solidFill>
                  <a:srgbClr val="1D1D1D"/>
                </a:solidFill>
                <a:latin typeface="Be Vietnam Pro"/>
              </a:rPr>
              <a:t>tổng bandwidth mỗi nửa slot ≤ B_tot, tối đa 2 downlink</a:t>
            </a:r>
          </a:p>
          <a:p>
            <a:pPr marL="171450" indent="-171450" algn="l">
              <a:spcAft>
                <a:spcPts val="500"/>
              </a:spcAft>
              <a:buClr>
                <a:srgbClr val="EB9109"/>
              </a:buClr>
              <a:buFont typeface="Arial"/>
              <a:buChar char="•"/>
            </a:pPr>
            <a:r>
              <a:rPr sz="950" b="1">
                <a:solidFill>
                  <a:srgbClr val="1D1D1D"/>
                </a:solidFill>
                <a:latin typeface="Be Vietnam Pro"/>
              </a:rPr>
              <a:t>Capacity: </a:t>
            </a:r>
            <a:r>
              <a:rPr sz="950" b="0">
                <a:solidFill>
                  <a:srgbClr val="1D1D1D"/>
                </a:solidFill>
                <a:latin typeface="Be Vietnam Pro"/>
              </a:rPr>
              <a:t>mỗi link truyền tối đa rate × thời gian slot</a:t>
            </a:r>
          </a:p>
          <a:p>
            <a:pPr marL="171450" indent="-171450" algn="l">
              <a:spcAft>
                <a:spcPts val="500"/>
              </a:spcAft>
              <a:buClr>
                <a:srgbClr val="EB9109"/>
              </a:buClr>
              <a:buFont typeface="Arial"/>
              <a:buChar char="•"/>
            </a:pPr>
            <a:r>
              <a:rPr sz="950" b="1">
                <a:solidFill>
                  <a:srgbClr val="1D1D1D"/>
                </a:solidFill>
                <a:latin typeface="Be Vietnam Pro"/>
              </a:rPr>
              <a:t>Causality: </a:t>
            </a:r>
            <a:r>
              <a:rPr sz="950" b="0">
                <a:solidFill>
                  <a:srgbClr val="1D1D1D"/>
                </a:solidFill>
                <a:latin typeface="Be Vietnam Pro"/>
              </a:rPr>
              <a:t>nhận ở slot n thì từ slot n+1 mới gửi tiếp</a:t>
            </a:r>
          </a:p>
          <a:p>
            <a:pPr marL="171450" indent="-171450" algn="l">
              <a:spcAft>
                <a:spcPts val="500"/>
              </a:spcAft>
              <a:buClr>
                <a:srgbClr val="EB9109"/>
              </a:buClr>
              <a:buFont typeface="Arial"/>
              <a:buChar char="•"/>
            </a:pPr>
            <a:r>
              <a:rPr sz="950" b="1">
                <a:solidFill>
                  <a:srgbClr val="1D1D1D"/>
                </a:solidFill>
                <a:latin typeface="Be Vietnam Pro"/>
              </a:rPr>
              <a:t>Deadline: </a:t>
            </a:r>
            <a:r>
              <a:rPr sz="950" b="0">
                <a:solidFill>
                  <a:srgbClr val="1D1D1D"/>
                </a:solidFill>
                <a:latin typeface="Be Vietnam Pro"/>
              </a:rPr>
              <a:t>quá hạn thì phần còn lại của alert bị bỏ</a:t>
            </a:r>
          </a:p>
          <a:p>
            <a:pPr marL="171450" indent="-171450" algn="l">
              <a:spcAft>
                <a:spcPts val="500"/>
              </a:spcAft>
              <a:buClr>
                <a:srgbClr val="EB9109"/>
              </a:buClr>
              <a:buFont typeface="Arial"/>
              <a:buChar char="•"/>
            </a:pPr>
            <a:r>
              <a:rPr sz="950" b="1">
                <a:solidFill>
                  <a:srgbClr val="1D1D1D"/>
                </a:solidFill>
                <a:latin typeface="Be Vietnam Pro"/>
              </a:rPr>
              <a:t>Lập lịch (EDF): </a:t>
            </a:r>
            <a:r>
              <a:rPr sz="950" b="0">
                <a:solidFill>
                  <a:srgbClr val="1D1D1D"/>
                </a:solidFill>
                <a:latin typeface="Be Vietnam Pro"/>
              </a:rPr>
              <a:t>deadline sớm hơn được gửi trước</a:t>
            </a:r>
          </a:p>
        </p:txBody>
      </p:sp>
      <p:sp>
        <p:nvSpPr>
          <p:cNvPr id="2" name="TextBox 1">
            <a:extLst>
              <a:ext uri="{FF2B5EF4-FFF2-40B4-BE49-F238E27FC236}">
                <a16:creationId xmlns:a16="http://schemas.microsoft.com/office/drawing/2014/main" id="{4468714F-586C-6BF3-7F18-68A6849E8378}"/>
              </a:ext>
            </a:extLst>
          </p:cNvPr>
          <p:cNvSpPr txBox="1"/>
          <p:nvPr/>
        </p:nvSpPr>
        <p:spPr>
          <a:xfrm>
            <a:off x="4672584" y="3611880"/>
            <a:ext cx="3611880" cy="914400"/>
          </a:xfrm>
          <a:prstGeom prst="rect">
            <a:avLst/>
          </a:prstGeom>
          <a:noFill/>
        </p:spPr>
        <p:txBody>
          <a:bodyPr wrap="square" lIns="36576" tIns="18288" rIns="36576" bIns="18288" anchor="t">
            <a:noAutofit/>
          </a:bodyPr>
          <a:lstStyle/>
          <a:p>
            <a:pPr algn="l" marL="164592" indent="-164592">
              <a:spcAft>
                <a:spcPts val="300"/>
              </a:spcAft>
              <a:buClr>
                <a:srgbClr val="EB9109"/>
              </a:buClr>
              <a:buSzPct val="100000"/>
              <a:buFont typeface="Arial"/>
              <a:buChar char="•"/>
            </a:pPr>
            <a:r>
              <a:rPr sz="1000" b="1" i="0">
                <a:solidFill>
                  <a:srgbClr val="1D1D1D"/>
                </a:solidFill>
                <a:latin typeface="Be Vietnam Pro"/>
                <a:ea typeface="Be Vietnam Pro"/>
                <a:cs typeface="Be Vietnam Pro"/>
                <a:sym typeface="Be Vietnam Pro"/>
              </a:rPr>
              <a:t>P̂_timely: </a:t>
            </a:r>
            <a:r>
              <a:rPr sz="1000" b="0" i="0">
                <a:solidFill>
                  <a:srgbClr val="1D1D1D"/>
                </a:solidFill>
                <a:latin typeface="Be Vietnam Pro"/>
                <a:ea typeface="Be Vietnam Pro"/>
                <a:cs typeface="Be Vietnam Pro"/>
                <a:sym typeface="Be Vietnam Pro"/>
              </a:rPr>
              <a:t>tỉ lệ alert đến đích đúng hạn</a:t>
            </a:r>
          </a:p>
          <a:p>
            <a:pPr algn="l" marL="164592" indent="-164592">
              <a:spcAft>
                <a:spcPts val="300"/>
              </a:spcAft>
              <a:buClr>
                <a:srgbClr val="EB9109"/>
              </a:buClr>
              <a:buSzPct val="100000"/>
              <a:buFont typeface="Arial"/>
              <a:buChar char="•"/>
            </a:pPr>
            <a:r>
              <a:rPr sz="1000" b="1" i="0">
                <a:solidFill>
                  <a:srgbClr val="1D1D1D"/>
                </a:solidFill>
                <a:latin typeface="Be Vietnam Pro"/>
                <a:ea typeface="Be Vietnam Pro"/>
                <a:cs typeface="Be Vietnam Pro"/>
                <a:sym typeface="Be Vietnam Pro"/>
              </a:rPr>
              <a:t>Conn: </a:t>
            </a:r>
            <a:r>
              <a:rPr sz="1000" b="0" i="0">
                <a:solidFill>
                  <a:srgbClr val="1D1D1D"/>
                </a:solidFill>
                <a:latin typeface="Be Vietnam Pro"/>
                <a:ea typeface="Be Vietnam Pro"/>
                <a:cs typeface="Be Vietnam Pro"/>
                <a:sym typeface="Be Vietnam Pro"/>
              </a:rPr>
              <a:t>tỉ lệ source được kết nối (alert đã phát)</a:t>
            </a:r>
          </a:p>
          <a:p>
            <a:pPr algn="l" marL="164592" indent="-164592">
              <a:spcAft>
                <a:spcPts val="300"/>
              </a:spcAft>
              <a:buClr>
                <a:srgbClr val="EB9109"/>
              </a:buClr>
              <a:buSzPct val="100000"/>
              <a:buFont typeface="Arial"/>
              <a:buChar char="•"/>
            </a:pPr>
            <a:r>
              <a:rPr sz="1000" b="1" i="0">
                <a:solidFill>
                  <a:srgbClr val="1D1D1D"/>
                </a:solidFill>
                <a:latin typeface="Be Vietnam Pro"/>
                <a:ea typeface="Be Vietnam Pro"/>
                <a:cs typeface="Be Vietnam Pro"/>
                <a:sym typeface="Be Vietnam Pro"/>
              </a:rPr>
              <a:t>−Σ shortfall: </a:t>
            </a:r>
            <a:r>
              <a:rPr sz="1000" b="0" i="0">
                <a:solidFill>
                  <a:srgbClr val="1D1D1D"/>
                </a:solidFill>
                <a:latin typeface="Be Vietnam Pro"/>
                <a:ea typeface="Be Vietnam Pro"/>
                <a:cs typeface="Be Vietnam Pro"/>
                <a:sym typeface="Be Vietnam Pro"/>
              </a:rPr>
              <a:t>tỉ lệ phần gói tin đã truyền thành công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3"/>
        <p:cNvGrpSpPr/>
        <p:nvPr/>
      </p:nvGrpSpPr>
      <p:grpSpPr>
        <a:xfrm>
          <a:off x="0" y="0"/>
          <a:ext cx="0" cy="0"/>
          <a:chOff x="0" y="0"/>
          <a:chExt cx="0" cy="0"/>
        </a:xfrm>
      </p:grpSpPr>
      <p:sp>
        <p:nvSpPr>
          <p:cNvPr id="1634" name="Google Shape;1634;p41"/>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Phân tích bài toán</a:t>
            </a:r>
          </a:p>
        </p:txBody>
      </p:sp>
      <p:sp>
        <p:nvSpPr>
          <p:cNvPr id="1635" name="Google Shape;1635;p41"/>
          <p:cNvSpPr txBox="1">
            <a:spLocks noGrp="1"/>
          </p:cNvSpPr>
          <p:nvPr>
            <p:ph type="subTitle" idx="1"/>
          </p:nvPr>
        </p:nvSpPr>
        <p:spPr>
          <a:xfrm>
            <a:off x="4999903" y="2372500"/>
            <a:ext cx="2340300" cy="182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Rate R(b,s) là hàm lõm theo bandwidth nên chặn trên được bằng 10 tiếp tuyến. Nới biến chọn path từ {0,1} thành [0,1] được một LP. Nghiệm LP là cận trên cho mọi lời giải trên cùng quỹ đạo.</a:t>
            </a:r>
          </a:p>
        </p:txBody>
      </p:sp>
      <p:sp>
        <p:nvSpPr>
          <p:cNvPr id="1636" name="Google Shape;1636;p41"/>
          <p:cNvSpPr txBox="1">
            <a:spLocks noGrp="1"/>
          </p:cNvSpPr>
          <p:nvPr>
            <p:ph type="subTitle" idx="2"/>
          </p:nvPr>
        </p:nvSpPr>
        <p:spPr>
          <a:xfrm>
            <a:off x="1803800" y="2372500"/>
            <a:ext cx="2340300" cy="182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Quy về bài toán PARTITION. Kể cả khi quỹ đạo đã cố định, chỉ có 2 relay và mỗi alert chỉ có 2 path để chọn, bài toán vẫn NP-hard. Cái khó là mỗi alert phải chọn đúng một path.</a:t>
            </a:r>
          </a:p>
        </p:txBody>
      </p:sp>
      <p:sp>
        <p:nvSpPr>
          <p:cNvPr id="1637" name="Google Shape;1637;p41"/>
          <p:cNvSpPr txBox="1">
            <a:spLocks noGrp="1"/>
          </p:cNvSpPr>
          <p:nvPr>
            <p:ph type="subTitle" idx="3"/>
          </p:nvPr>
        </p:nvSpPr>
        <p:spPr>
          <a:xfrm>
            <a:off x="5001768" y="2048256"/>
            <a:ext cx="3657600" cy="402336"/>
          </a:xfrm>
          <a:prstGeom prst="rect">
            <a:avLst/>
          </a:prstGeom>
        </p:spPr>
        <p:txBody>
          <a:bodyPr spcFirstLastPara="1" wrap="square" lIns="91425" tIns="91425" rIns="91425" bIns="91425" anchor="b" anchorCtr="0">
            <a:noAutofit/>
          </a:bodyPr>
          <a:lstStyle/>
          <a:p>
            <a:pPr marL="0" indent="0"/>
            <a:r>
              <a:rPr lang="vi-VN" sz="1800"/>
              <a:t>LP upper bound</a:t>
            </a:r>
          </a:p>
        </p:txBody>
      </p:sp>
      <p:sp>
        <p:nvSpPr>
          <p:cNvPr id="1638" name="Google Shape;1638;p41"/>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800"/>
              <a:t>NP-hard</a:t>
            </a:r>
          </a:p>
        </p:txBody>
      </p:sp>
      <p:grpSp>
        <p:nvGrpSpPr>
          <p:cNvPr id="1639" name="Google Shape;1639;p41"/>
          <p:cNvGrpSpPr/>
          <p:nvPr/>
        </p:nvGrpSpPr>
        <p:grpSpPr>
          <a:xfrm>
            <a:off x="5097753" y="1560284"/>
            <a:ext cx="336779" cy="341145"/>
            <a:chOff x="3906683" y="713190"/>
            <a:chExt cx="470494" cy="476593"/>
          </a:xfrm>
        </p:grpSpPr>
        <p:sp>
          <p:nvSpPr>
            <p:cNvPr id="1640" name="Google Shape;1640;p41"/>
            <p:cNvSpPr/>
            <p:nvPr/>
          </p:nvSpPr>
          <p:spPr>
            <a:xfrm>
              <a:off x="4044016" y="1026044"/>
              <a:ext cx="150100" cy="13676"/>
            </a:xfrm>
            <a:custGeom>
              <a:avLst/>
              <a:gdLst/>
              <a:ahLst/>
              <a:cxnLst/>
              <a:rect l="l" t="t" r="r" b="b"/>
              <a:pathLst>
                <a:path w="3962" h="361" extrusionOk="0">
                  <a:moveTo>
                    <a:pt x="199" y="0"/>
                  </a:moveTo>
                  <a:cubicBezTo>
                    <a:pt x="104" y="0"/>
                    <a:pt x="18" y="71"/>
                    <a:pt x="10" y="165"/>
                  </a:cubicBezTo>
                  <a:cubicBezTo>
                    <a:pt x="1" y="272"/>
                    <a:pt x="85" y="361"/>
                    <a:pt x="192" y="361"/>
                  </a:cubicBezTo>
                  <a:lnTo>
                    <a:pt x="3764" y="361"/>
                  </a:lnTo>
                  <a:cubicBezTo>
                    <a:pt x="3859" y="361"/>
                    <a:pt x="3944" y="292"/>
                    <a:pt x="3953" y="197"/>
                  </a:cubicBezTo>
                  <a:cubicBezTo>
                    <a:pt x="3961" y="89"/>
                    <a:pt x="3877" y="0"/>
                    <a:pt x="37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1"/>
            <p:cNvSpPr/>
            <p:nvPr/>
          </p:nvSpPr>
          <p:spPr>
            <a:xfrm>
              <a:off x="3971391" y="1026044"/>
              <a:ext cx="52774" cy="13676"/>
            </a:xfrm>
            <a:custGeom>
              <a:avLst/>
              <a:gdLst/>
              <a:ahLst/>
              <a:cxnLst/>
              <a:rect l="l" t="t" r="r" b="b"/>
              <a:pathLst>
                <a:path w="1393" h="361" extrusionOk="0">
                  <a:moveTo>
                    <a:pt x="198" y="0"/>
                  </a:moveTo>
                  <a:cubicBezTo>
                    <a:pt x="103" y="0"/>
                    <a:pt x="17" y="71"/>
                    <a:pt x="10" y="165"/>
                  </a:cubicBezTo>
                  <a:cubicBezTo>
                    <a:pt x="0" y="272"/>
                    <a:pt x="84" y="361"/>
                    <a:pt x="189" y="361"/>
                  </a:cubicBezTo>
                  <a:lnTo>
                    <a:pt x="1194" y="361"/>
                  </a:lnTo>
                  <a:cubicBezTo>
                    <a:pt x="1290" y="361"/>
                    <a:pt x="1375" y="292"/>
                    <a:pt x="1383" y="197"/>
                  </a:cubicBezTo>
                  <a:cubicBezTo>
                    <a:pt x="1392" y="89"/>
                    <a:pt x="1308"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1"/>
            <p:cNvSpPr/>
            <p:nvPr/>
          </p:nvSpPr>
          <p:spPr>
            <a:xfrm>
              <a:off x="3970785" y="1052147"/>
              <a:ext cx="225075" cy="13676"/>
            </a:xfrm>
            <a:custGeom>
              <a:avLst/>
              <a:gdLst/>
              <a:ahLst/>
              <a:cxnLst/>
              <a:rect l="l" t="t" r="r" b="b"/>
              <a:pathLst>
                <a:path w="5941" h="361" extrusionOk="0">
                  <a:moveTo>
                    <a:pt x="201" y="1"/>
                  </a:moveTo>
                  <a:cubicBezTo>
                    <a:pt x="105" y="1"/>
                    <a:pt x="20" y="70"/>
                    <a:pt x="11" y="165"/>
                  </a:cubicBezTo>
                  <a:cubicBezTo>
                    <a:pt x="1" y="272"/>
                    <a:pt x="88" y="361"/>
                    <a:pt x="194" y="361"/>
                  </a:cubicBezTo>
                  <a:lnTo>
                    <a:pt x="5741" y="361"/>
                  </a:lnTo>
                  <a:cubicBezTo>
                    <a:pt x="5837" y="361"/>
                    <a:pt x="5922" y="291"/>
                    <a:pt x="5932" y="196"/>
                  </a:cubicBezTo>
                  <a:cubicBezTo>
                    <a:pt x="5940" y="90"/>
                    <a:pt x="5855" y="1"/>
                    <a:pt x="57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1"/>
            <p:cNvSpPr/>
            <p:nvPr/>
          </p:nvSpPr>
          <p:spPr>
            <a:xfrm>
              <a:off x="4132213" y="1076961"/>
              <a:ext cx="62927" cy="13676"/>
            </a:xfrm>
            <a:custGeom>
              <a:avLst/>
              <a:gdLst/>
              <a:ahLst/>
              <a:cxnLst/>
              <a:rect l="l" t="t" r="r" b="b"/>
              <a:pathLst>
                <a:path w="1661" h="361" extrusionOk="0">
                  <a:moveTo>
                    <a:pt x="197" y="0"/>
                  </a:moveTo>
                  <a:cubicBezTo>
                    <a:pt x="102" y="0"/>
                    <a:pt x="17" y="69"/>
                    <a:pt x="9" y="164"/>
                  </a:cubicBezTo>
                  <a:cubicBezTo>
                    <a:pt x="0" y="271"/>
                    <a:pt x="84" y="360"/>
                    <a:pt x="189" y="360"/>
                  </a:cubicBezTo>
                  <a:lnTo>
                    <a:pt x="1462" y="360"/>
                  </a:lnTo>
                  <a:cubicBezTo>
                    <a:pt x="1558" y="360"/>
                    <a:pt x="1642" y="290"/>
                    <a:pt x="1651" y="195"/>
                  </a:cubicBezTo>
                  <a:cubicBezTo>
                    <a:pt x="1660" y="89"/>
                    <a:pt x="1576" y="0"/>
                    <a:pt x="14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1"/>
            <p:cNvSpPr/>
            <p:nvPr/>
          </p:nvSpPr>
          <p:spPr>
            <a:xfrm>
              <a:off x="3972376" y="1076923"/>
              <a:ext cx="139530" cy="13714"/>
            </a:xfrm>
            <a:custGeom>
              <a:avLst/>
              <a:gdLst/>
              <a:ahLst/>
              <a:cxnLst/>
              <a:rect l="l" t="t" r="r" b="b"/>
              <a:pathLst>
                <a:path w="3683" h="362" extrusionOk="0">
                  <a:moveTo>
                    <a:pt x="198" y="0"/>
                  </a:moveTo>
                  <a:cubicBezTo>
                    <a:pt x="103" y="0"/>
                    <a:pt x="17" y="69"/>
                    <a:pt x="10" y="163"/>
                  </a:cubicBezTo>
                  <a:cubicBezTo>
                    <a:pt x="0" y="272"/>
                    <a:pt x="84" y="361"/>
                    <a:pt x="189" y="361"/>
                  </a:cubicBezTo>
                  <a:lnTo>
                    <a:pt x="3486" y="361"/>
                  </a:lnTo>
                  <a:cubicBezTo>
                    <a:pt x="3581" y="361"/>
                    <a:pt x="3666" y="291"/>
                    <a:pt x="3675" y="196"/>
                  </a:cubicBezTo>
                  <a:cubicBezTo>
                    <a:pt x="3683" y="89"/>
                    <a:pt x="3599" y="0"/>
                    <a:pt x="34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1"/>
            <p:cNvSpPr/>
            <p:nvPr/>
          </p:nvSpPr>
          <p:spPr>
            <a:xfrm>
              <a:off x="3971239" y="891969"/>
              <a:ext cx="124187" cy="95622"/>
            </a:xfrm>
            <a:custGeom>
              <a:avLst/>
              <a:gdLst/>
              <a:ahLst/>
              <a:cxnLst/>
              <a:rect l="l" t="t" r="r" b="b"/>
              <a:pathLst>
                <a:path w="3278" h="2524" extrusionOk="0">
                  <a:moveTo>
                    <a:pt x="2917" y="363"/>
                  </a:moveTo>
                  <a:lnTo>
                    <a:pt x="2917" y="2131"/>
                  </a:lnTo>
                  <a:lnTo>
                    <a:pt x="361" y="2131"/>
                  </a:lnTo>
                  <a:lnTo>
                    <a:pt x="361" y="363"/>
                  </a:lnTo>
                  <a:close/>
                  <a:moveTo>
                    <a:pt x="185" y="0"/>
                  </a:moveTo>
                  <a:cubicBezTo>
                    <a:pt x="83" y="0"/>
                    <a:pt x="0" y="83"/>
                    <a:pt x="0" y="186"/>
                  </a:cubicBezTo>
                  <a:lnTo>
                    <a:pt x="0" y="2339"/>
                  </a:lnTo>
                  <a:cubicBezTo>
                    <a:pt x="0" y="2442"/>
                    <a:pt x="83" y="2523"/>
                    <a:pt x="185" y="2523"/>
                  </a:cubicBezTo>
                  <a:lnTo>
                    <a:pt x="3093" y="2523"/>
                  </a:lnTo>
                  <a:cubicBezTo>
                    <a:pt x="3195" y="2523"/>
                    <a:pt x="3277" y="2442"/>
                    <a:pt x="3277" y="2339"/>
                  </a:cubicBezTo>
                  <a:lnTo>
                    <a:pt x="3277" y="186"/>
                  </a:lnTo>
                  <a:cubicBezTo>
                    <a:pt x="3277" y="83"/>
                    <a:pt x="3195" y="0"/>
                    <a:pt x="30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1"/>
            <p:cNvSpPr/>
            <p:nvPr/>
          </p:nvSpPr>
          <p:spPr>
            <a:xfrm>
              <a:off x="3971239" y="788960"/>
              <a:ext cx="273189" cy="63382"/>
            </a:xfrm>
            <a:custGeom>
              <a:avLst/>
              <a:gdLst/>
              <a:ahLst/>
              <a:cxnLst/>
              <a:rect l="l" t="t" r="r" b="b"/>
              <a:pathLst>
                <a:path w="7211" h="1673" extrusionOk="0">
                  <a:moveTo>
                    <a:pt x="185" y="0"/>
                  </a:moveTo>
                  <a:cubicBezTo>
                    <a:pt x="83" y="0"/>
                    <a:pt x="0" y="83"/>
                    <a:pt x="0" y="186"/>
                  </a:cubicBezTo>
                  <a:lnTo>
                    <a:pt x="0" y="1491"/>
                  </a:lnTo>
                  <a:cubicBezTo>
                    <a:pt x="0" y="1591"/>
                    <a:pt x="82" y="1672"/>
                    <a:pt x="182" y="1672"/>
                  </a:cubicBezTo>
                  <a:lnTo>
                    <a:pt x="1997" y="1672"/>
                  </a:lnTo>
                  <a:cubicBezTo>
                    <a:pt x="2093" y="1672"/>
                    <a:pt x="2178" y="1603"/>
                    <a:pt x="2185" y="1509"/>
                  </a:cubicBezTo>
                  <a:cubicBezTo>
                    <a:pt x="2194" y="1402"/>
                    <a:pt x="2111" y="1313"/>
                    <a:pt x="2006" y="1313"/>
                  </a:cubicBezTo>
                  <a:lnTo>
                    <a:pt x="360" y="1313"/>
                  </a:lnTo>
                  <a:lnTo>
                    <a:pt x="360" y="362"/>
                  </a:lnTo>
                  <a:lnTo>
                    <a:pt x="6849" y="362"/>
                  </a:lnTo>
                  <a:lnTo>
                    <a:pt x="6849" y="1313"/>
                  </a:lnTo>
                  <a:lnTo>
                    <a:pt x="3003" y="1313"/>
                  </a:lnTo>
                  <a:cubicBezTo>
                    <a:pt x="2907" y="1313"/>
                    <a:pt x="2822" y="1382"/>
                    <a:pt x="2814" y="1476"/>
                  </a:cubicBezTo>
                  <a:cubicBezTo>
                    <a:pt x="2805" y="1583"/>
                    <a:pt x="2889" y="1672"/>
                    <a:pt x="2993" y="1672"/>
                  </a:cubicBezTo>
                  <a:lnTo>
                    <a:pt x="7026" y="1672"/>
                  </a:lnTo>
                  <a:cubicBezTo>
                    <a:pt x="7127" y="1672"/>
                    <a:pt x="7210" y="1590"/>
                    <a:pt x="7210" y="1488"/>
                  </a:cubicBezTo>
                  <a:lnTo>
                    <a:pt x="7210" y="185"/>
                  </a:lnTo>
                  <a:cubicBezTo>
                    <a:pt x="7209" y="82"/>
                    <a:pt x="7126" y="0"/>
                    <a:pt x="70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1"/>
            <p:cNvSpPr/>
            <p:nvPr/>
          </p:nvSpPr>
          <p:spPr>
            <a:xfrm>
              <a:off x="4238101" y="930498"/>
              <a:ext cx="116762" cy="42204"/>
            </a:xfrm>
            <a:custGeom>
              <a:avLst/>
              <a:gdLst/>
              <a:ahLst/>
              <a:cxnLst/>
              <a:rect l="l" t="t" r="r" b="b"/>
              <a:pathLst>
                <a:path w="3082" h="1114" extrusionOk="0">
                  <a:moveTo>
                    <a:pt x="2721" y="360"/>
                  </a:moveTo>
                  <a:lnTo>
                    <a:pt x="2721" y="720"/>
                  </a:lnTo>
                  <a:lnTo>
                    <a:pt x="361" y="720"/>
                  </a:lnTo>
                  <a:lnTo>
                    <a:pt x="361" y="360"/>
                  </a:lnTo>
                  <a:close/>
                  <a:moveTo>
                    <a:pt x="186" y="0"/>
                  </a:moveTo>
                  <a:cubicBezTo>
                    <a:pt x="83" y="0"/>
                    <a:pt x="1" y="82"/>
                    <a:pt x="1" y="185"/>
                  </a:cubicBezTo>
                  <a:lnTo>
                    <a:pt x="1" y="929"/>
                  </a:lnTo>
                  <a:cubicBezTo>
                    <a:pt x="1" y="1032"/>
                    <a:pt x="83" y="1114"/>
                    <a:pt x="186" y="1114"/>
                  </a:cubicBezTo>
                  <a:lnTo>
                    <a:pt x="2898" y="1114"/>
                  </a:lnTo>
                  <a:cubicBezTo>
                    <a:pt x="2999" y="1114"/>
                    <a:pt x="3082" y="1032"/>
                    <a:pt x="3082" y="929"/>
                  </a:cubicBezTo>
                  <a:lnTo>
                    <a:pt x="3082" y="185"/>
                  </a:lnTo>
                  <a:cubicBezTo>
                    <a:pt x="3081" y="82"/>
                    <a:pt x="2999" y="0"/>
                    <a:pt x="28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1"/>
            <p:cNvSpPr/>
            <p:nvPr/>
          </p:nvSpPr>
          <p:spPr>
            <a:xfrm>
              <a:off x="3906683" y="713190"/>
              <a:ext cx="470494" cy="476593"/>
            </a:xfrm>
            <a:custGeom>
              <a:avLst/>
              <a:gdLst/>
              <a:ahLst/>
              <a:cxnLst/>
              <a:rect l="l" t="t" r="r" b="b"/>
              <a:pathLst>
                <a:path w="12419" h="12580" extrusionOk="0">
                  <a:moveTo>
                    <a:pt x="10075" y="361"/>
                  </a:moveTo>
                  <a:cubicBezTo>
                    <a:pt x="10175" y="361"/>
                    <a:pt x="10256" y="443"/>
                    <a:pt x="10256" y="544"/>
                  </a:cubicBezTo>
                  <a:lnTo>
                    <a:pt x="10256" y="1312"/>
                  </a:lnTo>
                  <a:lnTo>
                    <a:pt x="361" y="1312"/>
                  </a:lnTo>
                  <a:lnTo>
                    <a:pt x="361" y="544"/>
                  </a:lnTo>
                  <a:cubicBezTo>
                    <a:pt x="361" y="444"/>
                    <a:pt x="442" y="361"/>
                    <a:pt x="544" y="361"/>
                  </a:cubicBezTo>
                  <a:close/>
                  <a:moveTo>
                    <a:pt x="10256" y="1705"/>
                  </a:moveTo>
                  <a:lnTo>
                    <a:pt x="10256" y="3999"/>
                  </a:lnTo>
                  <a:lnTo>
                    <a:pt x="361" y="3999"/>
                  </a:lnTo>
                  <a:lnTo>
                    <a:pt x="361" y="1705"/>
                  </a:lnTo>
                  <a:close/>
                  <a:moveTo>
                    <a:pt x="8553" y="5081"/>
                  </a:moveTo>
                  <a:lnTo>
                    <a:pt x="8553" y="5229"/>
                  </a:lnTo>
                  <a:cubicBezTo>
                    <a:pt x="8323" y="5312"/>
                    <a:pt x="8159" y="5538"/>
                    <a:pt x="8159" y="5804"/>
                  </a:cubicBezTo>
                  <a:lnTo>
                    <a:pt x="8159" y="6850"/>
                  </a:lnTo>
                  <a:lnTo>
                    <a:pt x="5996" y="6850"/>
                  </a:lnTo>
                  <a:lnTo>
                    <a:pt x="5996" y="5081"/>
                  </a:lnTo>
                  <a:close/>
                  <a:moveTo>
                    <a:pt x="10256" y="4359"/>
                  </a:moveTo>
                  <a:lnTo>
                    <a:pt x="10256" y="5211"/>
                  </a:lnTo>
                  <a:lnTo>
                    <a:pt x="8913" y="5211"/>
                  </a:lnTo>
                  <a:lnTo>
                    <a:pt x="8913" y="4904"/>
                  </a:lnTo>
                  <a:cubicBezTo>
                    <a:pt x="8913" y="4801"/>
                    <a:pt x="8830" y="4718"/>
                    <a:pt x="8728" y="4718"/>
                  </a:cubicBezTo>
                  <a:lnTo>
                    <a:pt x="5820" y="4718"/>
                  </a:lnTo>
                  <a:cubicBezTo>
                    <a:pt x="5719" y="4718"/>
                    <a:pt x="5636" y="4801"/>
                    <a:pt x="5636" y="4904"/>
                  </a:cubicBezTo>
                  <a:lnTo>
                    <a:pt x="5636" y="7058"/>
                  </a:lnTo>
                  <a:cubicBezTo>
                    <a:pt x="5636" y="7161"/>
                    <a:pt x="5719" y="7242"/>
                    <a:pt x="5820" y="7242"/>
                  </a:cubicBezTo>
                  <a:lnTo>
                    <a:pt x="8125" y="7242"/>
                  </a:lnTo>
                  <a:lnTo>
                    <a:pt x="8125" y="7603"/>
                  </a:lnTo>
                  <a:lnTo>
                    <a:pt x="361" y="7603"/>
                  </a:lnTo>
                  <a:lnTo>
                    <a:pt x="361" y="4359"/>
                  </a:lnTo>
                  <a:close/>
                  <a:moveTo>
                    <a:pt x="11816" y="5572"/>
                  </a:moveTo>
                  <a:cubicBezTo>
                    <a:pt x="11951" y="5572"/>
                    <a:pt x="12060" y="5681"/>
                    <a:pt x="12060" y="5816"/>
                  </a:cubicBezTo>
                  <a:lnTo>
                    <a:pt x="12060" y="6981"/>
                  </a:lnTo>
                  <a:lnTo>
                    <a:pt x="10017" y="6981"/>
                  </a:lnTo>
                  <a:cubicBezTo>
                    <a:pt x="9921" y="6981"/>
                    <a:pt x="9836" y="7051"/>
                    <a:pt x="9828" y="7145"/>
                  </a:cubicBezTo>
                  <a:cubicBezTo>
                    <a:pt x="9819" y="7252"/>
                    <a:pt x="9903" y="7341"/>
                    <a:pt x="10007" y="7341"/>
                  </a:cubicBezTo>
                  <a:lnTo>
                    <a:pt x="12059" y="7341"/>
                  </a:lnTo>
                  <a:lnTo>
                    <a:pt x="12059" y="9242"/>
                  </a:lnTo>
                  <a:lnTo>
                    <a:pt x="8520" y="9242"/>
                  </a:lnTo>
                  <a:lnTo>
                    <a:pt x="8520" y="7341"/>
                  </a:lnTo>
                  <a:lnTo>
                    <a:pt x="9135" y="7341"/>
                  </a:lnTo>
                  <a:cubicBezTo>
                    <a:pt x="9231" y="7341"/>
                    <a:pt x="9316" y="7272"/>
                    <a:pt x="9324" y="7178"/>
                  </a:cubicBezTo>
                  <a:cubicBezTo>
                    <a:pt x="9333" y="7070"/>
                    <a:pt x="9249" y="6981"/>
                    <a:pt x="9144" y="6981"/>
                  </a:cubicBezTo>
                  <a:lnTo>
                    <a:pt x="8520" y="6981"/>
                  </a:lnTo>
                  <a:lnTo>
                    <a:pt x="8520" y="5816"/>
                  </a:lnTo>
                  <a:cubicBezTo>
                    <a:pt x="8520" y="5681"/>
                    <a:pt x="8629" y="5572"/>
                    <a:pt x="8763" y="5572"/>
                  </a:cubicBezTo>
                  <a:close/>
                  <a:moveTo>
                    <a:pt x="8126" y="7963"/>
                  </a:moveTo>
                  <a:lnTo>
                    <a:pt x="8126" y="10257"/>
                  </a:lnTo>
                  <a:lnTo>
                    <a:pt x="544" y="10257"/>
                  </a:lnTo>
                  <a:cubicBezTo>
                    <a:pt x="442" y="10257"/>
                    <a:pt x="361" y="10175"/>
                    <a:pt x="361" y="10074"/>
                  </a:cubicBezTo>
                  <a:lnTo>
                    <a:pt x="361" y="7963"/>
                  </a:lnTo>
                  <a:close/>
                  <a:moveTo>
                    <a:pt x="12059" y="9635"/>
                  </a:moveTo>
                  <a:lnTo>
                    <a:pt x="12059" y="11043"/>
                  </a:lnTo>
                  <a:lnTo>
                    <a:pt x="8520" y="11043"/>
                  </a:lnTo>
                  <a:lnTo>
                    <a:pt x="8520" y="9635"/>
                  </a:lnTo>
                  <a:close/>
                  <a:moveTo>
                    <a:pt x="12057" y="11436"/>
                  </a:moveTo>
                  <a:lnTo>
                    <a:pt x="12057" y="11980"/>
                  </a:lnTo>
                  <a:cubicBezTo>
                    <a:pt x="12059" y="12115"/>
                    <a:pt x="11950" y="12223"/>
                    <a:pt x="11815" y="12223"/>
                  </a:cubicBezTo>
                  <a:lnTo>
                    <a:pt x="8762" y="12223"/>
                  </a:lnTo>
                  <a:cubicBezTo>
                    <a:pt x="8627" y="12223"/>
                    <a:pt x="8519" y="12115"/>
                    <a:pt x="8519" y="11980"/>
                  </a:cubicBezTo>
                  <a:lnTo>
                    <a:pt x="8519" y="11436"/>
                  </a:lnTo>
                  <a:close/>
                  <a:moveTo>
                    <a:pt x="551" y="0"/>
                  </a:moveTo>
                  <a:cubicBezTo>
                    <a:pt x="247" y="0"/>
                    <a:pt x="0" y="247"/>
                    <a:pt x="0" y="550"/>
                  </a:cubicBezTo>
                  <a:lnTo>
                    <a:pt x="0" y="10065"/>
                  </a:lnTo>
                  <a:cubicBezTo>
                    <a:pt x="0" y="10369"/>
                    <a:pt x="247" y="10615"/>
                    <a:pt x="551" y="10615"/>
                  </a:cubicBezTo>
                  <a:lnTo>
                    <a:pt x="8157" y="10615"/>
                  </a:lnTo>
                  <a:lnTo>
                    <a:pt x="8157" y="11969"/>
                  </a:lnTo>
                  <a:cubicBezTo>
                    <a:pt x="8157" y="12306"/>
                    <a:pt x="8431" y="12580"/>
                    <a:pt x="8768" y="12580"/>
                  </a:cubicBezTo>
                  <a:lnTo>
                    <a:pt x="11805" y="12580"/>
                  </a:lnTo>
                  <a:cubicBezTo>
                    <a:pt x="12142" y="12580"/>
                    <a:pt x="12416" y="12306"/>
                    <a:pt x="12416" y="11969"/>
                  </a:cubicBezTo>
                  <a:lnTo>
                    <a:pt x="12416" y="5819"/>
                  </a:lnTo>
                  <a:cubicBezTo>
                    <a:pt x="12418" y="5486"/>
                    <a:pt x="12145" y="5211"/>
                    <a:pt x="11809" y="5211"/>
                  </a:cubicBezTo>
                  <a:lnTo>
                    <a:pt x="10616" y="5211"/>
                  </a:lnTo>
                  <a:lnTo>
                    <a:pt x="10616" y="552"/>
                  </a:lnTo>
                  <a:cubicBezTo>
                    <a:pt x="10616" y="248"/>
                    <a:pt x="10370" y="0"/>
                    <a:pt x="1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1"/>
            <p:cNvSpPr/>
            <p:nvPr/>
          </p:nvSpPr>
          <p:spPr>
            <a:xfrm>
              <a:off x="4288526" y="1086849"/>
              <a:ext cx="65579" cy="13714"/>
            </a:xfrm>
            <a:custGeom>
              <a:avLst/>
              <a:gdLst/>
              <a:ahLst/>
              <a:cxnLst/>
              <a:rect l="l" t="t" r="r" b="b"/>
              <a:pathLst>
                <a:path w="1731" h="362" extrusionOk="0">
                  <a:moveTo>
                    <a:pt x="198" y="1"/>
                  </a:moveTo>
                  <a:cubicBezTo>
                    <a:pt x="102" y="1"/>
                    <a:pt x="18" y="70"/>
                    <a:pt x="9" y="165"/>
                  </a:cubicBezTo>
                  <a:cubicBezTo>
                    <a:pt x="1" y="272"/>
                    <a:pt x="85" y="361"/>
                    <a:pt x="189" y="361"/>
                  </a:cubicBezTo>
                  <a:lnTo>
                    <a:pt x="1533" y="361"/>
                  </a:lnTo>
                  <a:cubicBezTo>
                    <a:pt x="1629" y="361"/>
                    <a:pt x="1714" y="291"/>
                    <a:pt x="1722" y="197"/>
                  </a:cubicBezTo>
                  <a:cubicBezTo>
                    <a:pt x="1731" y="90"/>
                    <a:pt x="1647" y="1"/>
                    <a:pt x="1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1"/>
            <p:cNvSpPr/>
            <p:nvPr/>
          </p:nvSpPr>
          <p:spPr>
            <a:xfrm>
              <a:off x="4237647" y="1086849"/>
              <a:ext cx="32846" cy="13714"/>
            </a:xfrm>
            <a:custGeom>
              <a:avLst/>
              <a:gdLst/>
              <a:ahLst/>
              <a:cxnLst/>
              <a:rect l="l" t="t" r="r" b="b"/>
              <a:pathLst>
                <a:path w="867" h="362" extrusionOk="0">
                  <a:moveTo>
                    <a:pt x="198" y="1"/>
                  </a:moveTo>
                  <a:cubicBezTo>
                    <a:pt x="102" y="1"/>
                    <a:pt x="17" y="70"/>
                    <a:pt x="9" y="165"/>
                  </a:cubicBezTo>
                  <a:cubicBezTo>
                    <a:pt x="0" y="272"/>
                    <a:pt x="84" y="361"/>
                    <a:pt x="189" y="361"/>
                  </a:cubicBezTo>
                  <a:lnTo>
                    <a:pt x="669" y="361"/>
                  </a:lnTo>
                  <a:cubicBezTo>
                    <a:pt x="765" y="361"/>
                    <a:pt x="849" y="291"/>
                    <a:pt x="858" y="197"/>
                  </a:cubicBezTo>
                  <a:cubicBezTo>
                    <a:pt x="866" y="90"/>
                    <a:pt x="782" y="1"/>
                    <a:pt x="6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1"/>
            <p:cNvSpPr/>
            <p:nvPr/>
          </p:nvSpPr>
          <p:spPr>
            <a:xfrm>
              <a:off x="4238594" y="1109239"/>
              <a:ext cx="114981" cy="13639"/>
            </a:xfrm>
            <a:custGeom>
              <a:avLst/>
              <a:gdLst/>
              <a:ahLst/>
              <a:cxnLst/>
              <a:rect l="l" t="t" r="r" b="b"/>
              <a:pathLst>
                <a:path w="3035" h="360" extrusionOk="0">
                  <a:moveTo>
                    <a:pt x="198" y="1"/>
                  </a:moveTo>
                  <a:cubicBezTo>
                    <a:pt x="102" y="1"/>
                    <a:pt x="17" y="70"/>
                    <a:pt x="10" y="164"/>
                  </a:cubicBezTo>
                  <a:cubicBezTo>
                    <a:pt x="0" y="270"/>
                    <a:pt x="84" y="360"/>
                    <a:pt x="189" y="360"/>
                  </a:cubicBezTo>
                  <a:lnTo>
                    <a:pt x="2837" y="360"/>
                  </a:lnTo>
                  <a:cubicBezTo>
                    <a:pt x="2933" y="360"/>
                    <a:pt x="3018" y="291"/>
                    <a:pt x="3026" y="197"/>
                  </a:cubicBezTo>
                  <a:cubicBezTo>
                    <a:pt x="3034" y="90"/>
                    <a:pt x="2951" y="1"/>
                    <a:pt x="2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1"/>
            <p:cNvSpPr/>
            <p:nvPr/>
          </p:nvSpPr>
          <p:spPr>
            <a:xfrm>
              <a:off x="4238139" y="1002442"/>
              <a:ext cx="54668" cy="49743"/>
            </a:xfrm>
            <a:custGeom>
              <a:avLst/>
              <a:gdLst/>
              <a:ahLst/>
              <a:cxnLst/>
              <a:rect l="l" t="t" r="r" b="b"/>
              <a:pathLst>
                <a:path w="1443" h="1313" extrusionOk="0">
                  <a:moveTo>
                    <a:pt x="1081" y="395"/>
                  </a:moveTo>
                  <a:lnTo>
                    <a:pt x="1081" y="951"/>
                  </a:lnTo>
                  <a:lnTo>
                    <a:pt x="360" y="951"/>
                  </a:lnTo>
                  <a:lnTo>
                    <a:pt x="360" y="395"/>
                  </a:lnTo>
                  <a:close/>
                  <a:moveTo>
                    <a:pt x="184" y="0"/>
                  </a:moveTo>
                  <a:cubicBezTo>
                    <a:pt x="81" y="0"/>
                    <a:pt x="1" y="84"/>
                    <a:pt x="1" y="188"/>
                  </a:cubicBezTo>
                  <a:lnTo>
                    <a:pt x="1" y="1128"/>
                  </a:lnTo>
                  <a:cubicBezTo>
                    <a:pt x="1" y="1230"/>
                    <a:pt x="82" y="1313"/>
                    <a:pt x="185" y="1313"/>
                  </a:cubicBezTo>
                  <a:lnTo>
                    <a:pt x="1258" y="1313"/>
                  </a:lnTo>
                  <a:cubicBezTo>
                    <a:pt x="1360" y="1313"/>
                    <a:pt x="1443" y="1230"/>
                    <a:pt x="1443" y="1128"/>
                  </a:cubicBezTo>
                  <a:lnTo>
                    <a:pt x="1443" y="186"/>
                  </a:lnTo>
                  <a:cubicBezTo>
                    <a:pt x="1443" y="83"/>
                    <a:pt x="1360" y="0"/>
                    <a:pt x="12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1"/>
            <p:cNvSpPr/>
            <p:nvPr/>
          </p:nvSpPr>
          <p:spPr>
            <a:xfrm>
              <a:off x="4300157" y="1002404"/>
              <a:ext cx="54706" cy="49743"/>
            </a:xfrm>
            <a:custGeom>
              <a:avLst/>
              <a:gdLst/>
              <a:ahLst/>
              <a:cxnLst/>
              <a:rect l="l" t="t" r="r" b="b"/>
              <a:pathLst>
                <a:path w="1444" h="1313" extrusionOk="0">
                  <a:moveTo>
                    <a:pt x="1084" y="396"/>
                  </a:moveTo>
                  <a:lnTo>
                    <a:pt x="1084" y="952"/>
                  </a:lnTo>
                  <a:lnTo>
                    <a:pt x="362" y="952"/>
                  </a:lnTo>
                  <a:lnTo>
                    <a:pt x="362" y="396"/>
                  </a:lnTo>
                  <a:close/>
                  <a:moveTo>
                    <a:pt x="186" y="0"/>
                  </a:moveTo>
                  <a:cubicBezTo>
                    <a:pt x="83" y="0"/>
                    <a:pt x="1" y="83"/>
                    <a:pt x="1" y="184"/>
                  </a:cubicBezTo>
                  <a:lnTo>
                    <a:pt x="1" y="1125"/>
                  </a:lnTo>
                  <a:cubicBezTo>
                    <a:pt x="1" y="1230"/>
                    <a:pt x="83" y="1312"/>
                    <a:pt x="184" y="1312"/>
                  </a:cubicBezTo>
                  <a:lnTo>
                    <a:pt x="1260" y="1312"/>
                  </a:lnTo>
                  <a:cubicBezTo>
                    <a:pt x="1361" y="1312"/>
                    <a:pt x="1444" y="1230"/>
                    <a:pt x="1444" y="1127"/>
                  </a:cubicBezTo>
                  <a:lnTo>
                    <a:pt x="1444" y="184"/>
                  </a:lnTo>
                  <a:cubicBezTo>
                    <a:pt x="1444" y="83"/>
                    <a:pt x="1361" y="0"/>
                    <a:pt x="12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4" name="Google Shape;1654;p41"/>
          <p:cNvGrpSpPr/>
          <p:nvPr/>
        </p:nvGrpSpPr>
        <p:grpSpPr>
          <a:xfrm>
            <a:off x="1901656" y="1560365"/>
            <a:ext cx="284360" cy="341145"/>
            <a:chOff x="3198385" y="713303"/>
            <a:chExt cx="397262" cy="476593"/>
          </a:xfrm>
        </p:grpSpPr>
        <p:sp>
          <p:nvSpPr>
            <p:cNvPr id="1655" name="Google Shape;1655;p41"/>
            <p:cNvSpPr/>
            <p:nvPr/>
          </p:nvSpPr>
          <p:spPr>
            <a:xfrm>
              <a:off x="3198385" y="713303"/>
              <a:ext cx="397262" cy="476593"/>
            </a:xfrm>
            <a:custGeom>
              <a:avLst/>
              <a:gdLst/>
              <a:ahLst/>
              <a:cxnLst/>
              <a:rect l="l" t="t" r="r" b="b"/>
              <a:pathLst>
                <a:path w="10486" h="12580" extrusionOk="0">
                  <a:moveTo>
                    <a:pt x="7669" y="666"/>
                  </a:moveTo>
                  <a:lnTo>
                    <a:pt x="9145" y="2358"/>
                  </a:lnTo>
                  <a:lnTo>
                    <a:pt x="7669" y="2358"/>
                  </a:lnTo>
                  <a:lnTo>
                    <a:pt x="7669" y="666"/>
                  </a:lnTo>
                  <a:close/>
                  <a:moveTo>
                    <a:pt x="10126" y="7469"/>
                  </a:moveTo>
                  <a:lnTo>
                    <a:pt x="10126" y="9730"/>
                  </a:lnTo>
                  <a:lnTo>
                    <a:pt x="7711" y="9730"/>
                  </a:lnTo>
                  <a:cubicBezTo>
                    <a:pt x="7616" y="9730"/>
                    <a:pt x="7531" y="9799"/>
                    <a:pt x="7523" y="9893"/>
                  </a:cubicBezTo>
                  <a:cubicBezTo>
                    <a:pt x="7515" y="10001"/>
                    <a:pt x="7598" y="10090"/>
                    <a:pt x="7703" y="10090"/>
                  </a:cubicBezTo>
                  <a:lnTo>
                    <a:pt x="9372" y="10090"/>
                  </a:lnTo>
                  <a:lnTo>
                    <a:pt x="9372" y="12220"/>
                  </a:lnTo>
                  <a:lnTo>
                    <a:pt x="1115" y="12220"/>
                  </a:lnTo>
                  <a:lnTo>
                    <a:pt x="1115" y="10090"/>
                  </a:lnTo>
                  <a:lnTo>
                    <a:pt x="6853" y="10090"/>
                  </a:lnTo>
                  <a:cubicBezTo>
                    <a:pt x="6949" y="10090"/>
                    <a:pt x="7034" y="10020"/>
                    <a:pt x="7043" y="9926"/>
                  </a:cubicBezTo>
                  <a:cubicBezTo>
                    <a:pt x="7052" y="9819"/>
                    <a:pt x="6967" y="9730"/>
                    <a:pt x="6860" y="9730"/>
                  </a:cubicBezTo>
                  <a:lnTo>
                    <a:pt x="362" y="9730"/>
                  </a:lnTo>
                  <a:lnTo>
                    <a:pt x="362" y="7469"/>
                  </a:lnTo>
                  <a:close/>
                  <a:moveTo>
                    <a:pt x="935" y="0"/>
                  </a:moveTo>
                  <a:cubicBezTo>
                    <a:pt x="835" y="0"/>
                    <a:pt x="754" y="81"/>
                    <a:pt x="754" y="182"/>
                  </a:cubicBezTo>
                  <a:lnTo>
                    <a:pt x="754" y="1012"/>
                  </a:lnTo>
                  <a:cubicBezTo>
                    <a:pt x="754" y="1107"/>
                    <a:pt x="823" y="1193"/>
                    <a:pt x="917" y="1201"/>
                  </a:cubicBezTo>
                  <a:cubicBezTo>
                    <a:pt x="923" y="1202"/>
                    <a:pt x="928" y="1202"/>
                    <a:pt x="934" y="1202"/>
                  </a:cubicBezTo>
                  <a:cubicBezTo>
                    <a:pt x="1033" y="1202"/>
                    <a:pt x="1113" y="1121"/>
                    <a:pt x="1113" y="1018"/>
                  </a:cubicBezTo>
                  <a:lnTo>
                    <a:pt x="1113" y="361"/>
                  </a:lnTo>
                  <a:lnTo>
                    <a:pt x="7306" y="361"/>
                  </a:lnTo>
                  <a:lnTo>
                    <a:pt x="7306" y="2536"/>
                  </a:lnTo>
                  <a:cubicBezTo>
                    <a:pt x="7306" y="2638"/>
                    <a:pt x="7389" y="2720"/>
                    <a:pt x="7491" y="2720"/>
                  </a:cubicBezTo>
                  <a:lnTo>
                    <a:pt x="9370" y="2720"/>
                  </a:lnTo>
                  <a:lnTo>
                    <a:pt x="9370" y="7112"/>
                  </a:lnTo>
                  <a:lnTo>
                    <a:pt x="1113" y="7112"/>
                  </a:lnTo>
                  <a:lnTo>
                    <a:pt x="1113" y="1869"/>
                  </a:lnTo>
                  <a:cubicBezTo>
                    <a:pt x="1113" y="1772"/>
                    <a:pt x="1044" y="1687"/>
                    <a:pt x="950" y="1678"/>
                  </a:cubicBezTo>
                  <a:cubicBezTo>
                    <a:pt x="945" y="1678"/>
                    <a:pt x="940" y="1677"/>
                    <a:pt x="935" y="1677"/>
                  </a:cubicBezTo>
                  <a:cubicBezTo>
                    <a:pt x="835" y="1677"/>
                    <a:pt x="754" y="1759"/>
                    <a:pt x="754" y="1861"/>
                  </a:cubicBezTo>
                  <a:lnTo>
                    <a:pt x="754" y="7112"/>
                  </a:lnTo>
                  <a:lnTo>
                    <a:pt x="184" y="7112"/>
                  </a:lnTo>
                  <a:cubicBezTo>
                    <a:pt x="82" y="7112"/>
                    <a:pt x="1" y="7194"/>
                    <a:pt x="1" y="7296"/>
                  </a:cubicBezTo>
                  <a:lnTo>
                    <a:pt x="1" y="9909"/>
                  </a:lnTo>
                  <a:cubicBezTo>
                    <a:pt x="1" y="10012"/>
                    <a:pt x="84" y="10093"/>
                    <a:pt x="184" y="10093"/>
                  </a:cubicBezTo>
                  <a:lnTo>
                    <a:pt x="754" y="10093"/>
                  </a:lnTo>
                  <a:lnTo>
                    <a:pt x="754" y="12397"/>
                  </a:lnTo>
                  <a:cubicBezTo>
                    <a:pt x="754" y="12499"/>
                    <a:pt x="836" y="12580"/>
                    <a:pt x="937" y="12580"/>
                  </a:cubicBezTo>
                  <a:lnTo>
                    <a:pt x="9549" y="12580"/>
                  </a:lnTo>
                  <a:cubicBezTo>
                    <a:pt x="9651" y="12580"/>
                    <a:pt x="9732" y="12497"/>
                    <a:pt x="9732" y="12397"/>
                  </a:cubicBezTo>
                  <a:lnTo>
                    <a:pt x="9732" y="10090"/>
                  </a:lnTo>
                  <a:lnTo>
                    <a:pt x="10302" y="10090"/>
                  </a:lnTo>
                  <a:cubicBezTo>
                    <a:pt x="10403" y="10090"/>
                    <a:pt x="10486" y="10008"/>
                    <a:pt x="10486" y="9905"/>
                  </a:cubicBezTo>
                  <a:lnTo>
                    <a:pt x="10486" y="7292"/>
                  </a:lnTo>
                  <a:cubicBezTo>
                    <a:pt x="10486" y="7191"/>
                    <a:pt x="10405" y="7109"/>
                    <a:pt x="10304" y="7109"/>
                  </a:cubicBezTo>
                  <a:lnTo>
                    <a:pt x="9732" y="7109"/>
                  </a:lnTo>
                  <a:lnTo>
                    <a:pt x="9732" y="2546"/>
                  </a:lnTo>
                  <a:cubicBezTo>
                    <a:pt x="9732" y="2502"/>
                    <a:pt x="9716" y="2458"/>
                    <a:pt x="9686" y="2426"/>
                  </a:cubicBezTo>
                  <a:lnTo>
                    <a:pt x="7621" y="63"/>
                  </a:lnTo>
                  <a:cubicBezTo>
                    <a:pt x="7586" y="22"/>
                    <a:pt x="7537" y="0"/>
                    <a:pt x="74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1"/>
            <p:cNvSpPr/>
            <p:nvPr/>
          </p:nvSpPr>
          <p:spPr>
            <a:xfrm>
              <a:off x="3252674" y="1008882"/>
              <a:ext cx="56562" cy="60995"/>
            </a:xfrm>
            <a:custGeom>
              <a:avLst/>
              <a:gdLst/>
              <a:ahLst/>
              <a:cxnLst/>
              <a:rect l="l" t="t" r="r" b="b"/>
              <a:pathLst>
                <a:path w="1493" h="1610" extrusionOk="0">
                  <a:moveTo>
                    <a:pt x="747" y="0"/>
                  </a:moveTo>
                  <a:cubicBezTo>
                    <a:pt x="646" y="0"/>
                    <a:pt x="566" y="81"/>
                    <a:pt x="566" y="180"/>
                  </a:cubicBezTo>
                  <a:lnTo>
                    <a:pt x="566" y="491"/>
                  </a:lnTo>
                  <a:lnTo>
                    <a:pt x="297" y="336"/>
                  </a:lnTo>
                  <a:cubicBezTo>
                    <a:pt x="268" y="320"/>
                    <a:pt x="237" y="312"/>
                    <a:pt x="207" y="312"/>
                  </a:cubicBezTo>
                  <a:cubicBezTo>
                    <a:pt x="144" y="312"/>
                    <a:pt x="84" y="344"/>
                    <a:pt x="51" y="401"/>
                  </a:cubicBezTo>
                  <a:cubicBezTo>
                    <a:pt x="1" y="488"/>
                    <a:pt x="31" y="598"/>
                    <a:pt x="116" y="647"/>
                  </a:cubicBezTo>
                  <a:lnTo>
                    <a:pt x="387" y="803"/>
                  </a:lnTo>
                  <a:lnTo>
                    <a:pt x="116" y="959"/>
                  </a:lnTo>
                  <a:cubicBezTo>
                    <a:pt x="30" y="1011"/>
                    <a:pt x="2" y="1121"/>
                    <a:pt x="51" y="1206"/>
                  </a:cubicBezTo>
                  <a:cubicBezTo>
                    <a:pt x="83" y="1264"/>
                    <a:pt x="145" y="1297"/>
                    <a:pt x="207" y="1297"/>
                  </a:cubicBezTo>
                  <a:cubicBezTo>
                    <a:pt x="237" y="1297"/>
                    <a:pt x="269" y="1289"/>
                    <a:pt x="297" y="1273"/>
                  </a:cubicBezTo>
                  <a:lnTo>
                    <a:pt x="567" y="1117"/>
                  </a:lnTo>
                  <a:lnTo>
                    <a:pt x="567" y="1420"/>
                  </a:lnTo>
                  <a:cubicBezTo>
                    <a:pt x="567" y="1515"/>
                    <a:pt x="636" y="1600"/>
                    <a:pt x="731" y="1609"/>
                  </a:cubicBezTo>
                  <a:cubicBezTo>
                    <a:pt x="736" y="1609"/>
                    <a:pt x="742" y="1609"/>
                    <a:pt x="747" y="1609"/>
                  </a:cubicBezTo>
                  <a:cubicBezTo>
                    <a:pt x="846" y="1609"/>
                    <a:pt x="927" y="1529"/>
                    <a:pt x="927" y="1430"/>
                  </a:cubicBezTo>
                  <a:lnTo>
                    <a:pt x="927" y="1117"/>
                  </a:lnTo>
                  <a:lnTo>
                    <a:pt x="1197" y="1273"/>
                  </a:lnTo>
                  <a:cubicBezTo>
                    <a:pt x="1225" y="1290"/>
                    <a:pt x="1255" y="1297"/>
                    <a:pt x="1287" y="1297"/>
                  </a:cubicBezTo>
                  <a:cubicBezTo>
                    <a:pt x="1350" y="1297"/>
                    <a:pt x="1409" y="1264"/>
                    <a:pt x="1443" y="1206"/>
                  </a:cubicBezTo>
                  <a:cubicBezTo>
                    <a:pt x="1492" y="1120"/>
                    <a:pt x="1464" y="1011"/>
                    <a:pt x="1377" y="960"/>
                  </a:cubicBezTo>
                  <a:lnTo>
                    <a:pt x="1108" y="804"/>
                  </a:lnTo>
                  <a:lnTo>
                    <a:pt x="1370" y="652"/>
                  </a:lnTo>
                  <a:cubicBezTo>
                    <a:pt x="1451" y="605"/>
                    <a:pt x="1491" y="502"/>
                    <a:pt x="1450" y="416"/>
                  </a:cubicBezTo>
                  <a:cubicBezTo>
                    <a:pt x="1419" y="349"/>
                    <a:pt x="1354" y="312"/>
                    <a:pt x="1287" y="312"/>
                  </a:cubicBezTo>
                  <a:cubicBezTo>
                    <a:pt x="1257" y="312"/>
                    <a:pt x="1225" y="320"/>
                    <a:pt x="1197" y="336"/>
                  </a:cubicBezTo>
                  <a:lnTo>
                    <a:pt x="927" y="491"/>
                  </a:lnTo>
                  <a:lnTo>
                    <a:pt x="927" y="189"/>
                  </a:lnTo>
                  <a:cubicBezTo>
                    <a:pt x="927" y="93"/>
                    <a:pt x="857" y="8"/>
                    <a:pt x="763" y="1"/>
                  </a:cubicBezTo>
                  <a:cubicBezTo>
                    <a:pt x="758" y="0"/>
                    <a:pt x="752" y="0"/>
                    <a:pt x="7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1"/>
            <p:cNvSpPr/>
            <p:nvPr/>
          </p:nvSpPr>
          <p:spPr>
            <a:xfrm>
              <a:off x="3329467" y="1008920"/>
              <a:ext cx="56676" cy="60957"/>
            </a:xfrm>
            <a:custGeom>
              <a:avLst/>
              <a:gdLst/>
              <a:ahLst/>
              <a:cxnLst/>
              <a:rect l="l" t="t" r="r" b="b"/>
              <a:pathLst>
                <a:path w="1496" h="1609" extrusionOk="0">
                  <a:moveTo>
                    <a:pt x="750" y="0"/>
                  </a:moveTo>
                  <a:cubicBezTo>
                    <a:pt x="650" y="0"/>
                    <a:pt x="570" y="81"/>
                    <a:pt x="570" y="180"/>
                  </a:cubicBezTo>
                  <a:lnTo>
                    <a:pt x="570" y="492"/>
                  </a:lnTo>
                  <a:lnTo>
                    <a:pt x="308" y="340"/>
                  </a:lnTo>
                  <a:cubicBezTo>
                    <a:pt x="277" y="323"/>
                    <a:pt x="243" y="314"/>
                    <a:pt x="209" y="314"/>
                  </a:cubicBezTo>
                  <a:cubicBezTo>
                    <a:pt x="152" y="314"/>
                    <a:pt x="97" y="339"/>
                    <a:pt x="62" y="387"/>
                  </a:cubicBezTo>
                  <a:cubicBezTo>
                    <a:pt x="0" y="474"/>
                    <a:pt x="29" y="594"/>
                    <a:pt x="120" y="646"/>
                  </a:cubicBezTo>
                  <a:lnTo>
                    <a:pt x="390" y="802"/>
                  </a:lnTo>
                  <a:lnTo>
                    <a:pt x="120" y="958"/>
                  </a:lnTo>
                  <a:cubicBezTo>
                    <a:pt x="35" y="1010"/>
                    <a:pt x="5" y="1120"/>
                    <a:pt x="55" y="1205"/>
                  </a:cubicBezTo>
                  <a:cubicBezTo>
                    <a:pt x="87" y="1263"/>
                    <a:pt x="149" y="1296"/>
                    <a:pt x="211" y="1296"/>
                  </a:cubicBezTo>
                  <a:cubicBezTo>
                    <a:pt x="240" y="1296"/>
                    <a:pt x="272" y="1288"/>
                    <a:pt x="301" y="1272"/>
                  </a:cubicBezTo>
                  <a:lnTo>
                    <a:pt x="570" y="1116"/>
                  </a:lnTo>
                  <a:lnTo>
                    <a:pt x="570" y="1419"/>
                  </a:lnTo>
                  <a:cubicBezTo>
                    <a:pt x="570" y="1514"/>
                    <a:pt x="640" y="1599"/>
                    <a:pt x="735" y="1608"/>
                  </a:cubicBezTo>
                  <a:cubicBezTo>
                    <a:pt x="740" y="1608"/>
                    <a:pt x="745" y="1608"/>
                    <a:pt x="751" y="1608"/>
                  </a:cubicBezTo>
                  <a:cubicBezTo>
                    <a:pt x="850" y="1608"/>
                    <a:pt x="930" y="1528"/>
                    <a:pt x="930" y="1429"/>
                  </a:cubicBezTo>
                  <a:lnTo>
                    <a:pt x="930" y="1116"/>
                  </a:lnTo>
                  <a:lnTo>
                    <a:pt x="1201" y="1272"/>
                  </a:lnTo>
                  <a:cubicBezTo>
                    <a:pt x="1229" y="1289"/>
                    <a:pt x="1259" y="1296"/>
                    <a:pt x="1291" y="1296"/>
                  </a:cubicBezTo>
                  <a:cubicBezTo>
                    <a:pt x="1353" y="1296"/>
                    <a:pt x="1413" y="1263"/>
                    <a:pt x="1447" y="1205"/>
                  </a:cubicBezTo>
                  <a:cubicBezTo>
                    <a:pt x="1496" y="1119"/>
                    <a:pt x="1466" y="1010"/>
                    <a:pt x="1381" y="959"/>
                  </a:cubicBezTo>
                  <a:lnTo>
                    <a:pt x="1109" y="803"/>
                  </a:lnTo>
                  <a:lnTo>
                    <a:pt x="1381" y="648"/>
                  </a:lnTo>
                  <a:cubicBezTo>
                    <a:pt x="1468" y="598"/>
                    <a:pt x="1496" y="488"/>
                    <a:pt x="1447" y="402"/>
                  </a:cubicBezTo>
                  <a:cubicBezTo>
                    <a:pt x="1413" y="344"/>
                    <a:pt x="1353" y="312"/>
                    <a:pt x="1291" y="312"/>
                  </a:cubicBezTo>
                  <a:cubicBezTo>
                    <a:pt x="1260" y="312"/>
                    <a:pt x="1229" y="320"/>
                    <a:pt x="1201" y="336"/>
                  </a:cubicBezTo>
                  <a:lnTo>
                    <a:pt x="930" y="492"/>
                  </a:lnTo>
                  <a:lnTo>
                    <a:pt x="930" y="190"/>
                  </a:lnTo>
                  <a:cubicBezTo>
                    <a:pt x="930" y="94"/>
                    <a:pt x="861" y="8"/>
                    <a:pt x="767" y="1"/>
                  </a:cubicBezTo>
                  <a:cubicBezTo>
                    <a:pt x="761" y="0"/>
                    <a:pt x="756" y="0"/>
                    <a:pt x="7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1"/>
            <p:cNvSpPr/>
            <p:nvPr/>
          </p:nvSpPr>
          <p:spPr>
            <a:xfrm>
              <a:off x="3407814" y="1008920"/>
              <a:ext cx="56562" cy="60957"/>
            </a:xfrm>
            <a:custGeom>
              <a:avLst/>
              <a:gdLst/>
              <a:ahLst/>
              <a:cxnLst/>
              <a:rect l="l" t="t" r="r" b="b"/>
              <a:pathLst>
                <a:path w="1493" h="1609" extrusionOk="0">
                  <a:moveTo>
                    <a:pt x="747" y="0"/>
                  </a:moveTo>
                  <a:cubicBezTo>
                    <a:pt x="646" y="0"/>
                    <a:pt x="566" y="81"/>
                    <a:pt x="566" y="180"/>
                  </a:cubicBezTo>
                  <a:lnTo>
                    <a:pt x="566" y="492"/>
                  </a:lnTo>
                  <a:lnTo>
                    <a:pt x="297" y="336"/>
                  </a:lnTo>
                  <a:cubicBezTo>
                    <a:pt x="269" y="320"/>
                    <a:pt x="238" y="312"/>
                    <a:pt x="207" y="312"/>
                  </a:cubicBezTo>
                  <a:cubicBezTo>
                    <a:pt x="145" y="312"/>
                    <a:pt x="84" y="344"/>
                    <a:pt x="51" y="402"/>
                  </a:cubicBezTo>
                  <a:cubicBezTo>
                    <a:pt x="1" y="488"/>
                    <a:pt x="31" y="598"/>
                    <a:pt x="116" y="648"/>
                  </a:cubicBezTo>
                  <a:lnTo>
                    <a:pt x="387" y="803"/>
                  </a:lnTo>
                  <a:lnTo>
                    <a:pt x="116" y="959"/>
                  </a:lnTo>
                  <a:cubicBezTo>
                    <a:pt x="31" y="1010"/>
                    <a:pt x="2" y="1120"/>
                    <a:pt x="51" y="1205"/>
                  </a:cubicBezTo>
                  <a:cubicBezTo>
                    <a:pt x="86" y="1263"/>
                    <a:pt x="145" y="1296"/>
                    <a:pt x="207" y="1296"/>
                  </a:cubicBezTo>
                  <a:cubicBezTo>
                    <a:pt x="238" y="1296"/>
                    <a:pt x="269" y="1288"/>
                    <a:pt x="297" y="1272"/>
                  </a:cubicBezTo>
                  <a:lnTo>
                    <a:pt x="567" y="1116"/>
                  </a:lnTo>
                  <a:lnTo>
                    <a:pt x="567" y="1419"/>
                  </a:lnTo>
                  <a:cubicBezTo>
                    <a:pt x="567" y="1514"/>
                    <a:pt x="637" y="1599"/>
                    <a:pt x="731" y="1608"/>
                  </a:cubicBezTo>
                  <a:cubicBezTo>
                    <a:pt x="736" y="1608"/>
                    <a:pt x="742" y="1608"/>
                    <a:pt x="747" y="1608"/>
                  </a:cubicBezTo>
                  <a:cubicBezTo>
                    <a:pt x="847" y="1608"/>
                    <a:pt x="927" y="1528"/>
                    <a:pt x="927" y="1429"/>
                  </a:cubicBezTo>
                  <a:lnTo>
                    <a:pt x="927" y="1116"/>
                  </a:lnTo>
                  <a:lnTo>
                    <a:pt x="1197" y="1272"/>
                  </a:lnTo>
                  <a:cubicBezTo>
                    <a:pt x="1225" y="1289"/>
                    <a:pt x="1256" y="1296"/>
                    <a:pt x="1287" y="1296"/>
                  </a:cubicBezTo>
                  <a:cubicBezTo>
                    <a:pt x="1350" y="1296"/>
                    <a:pt x="1411" y="1263"/>
                    <a:pt x="1443" y="1205"/>
                  </a:cubicBezTo>
                  <a:cubicBezTo>
                    <a:pt x="1492" y="1119"/>
                    <a:pt x="1463" y="1010"/>
                    <a:pt x="1377" y="959"/>
                  </a:cubicBezTo>
                  <a:lnTo>
                    <a:pt x="1108" y="803"/>
                  </a:lnTo>
                  <a:lnTo>
                    <a:pt x="1377" y="648"/>
                  </a:lnTo>
                  <a:cubicBezTo>
                    <a:pt x="1464" y="598"/>
                    <a:pt x="1492" y="488"/>
                    <a:pt x="1443" y="402"/>
                  </a:cubicBezTo>
                  <a:cubicBezTo>
                    <a:pt x="1409" y="344"/>
                    <a:pt x="1349" y="312"/>
                    <a:pt x="1287" y="312"/>
                  </a:cubicBezTo>
                  <a:cubicBezTo>
                    <a:pt x="1256" y="312"/>
                    <a:pt x="1225" y="320"/>
                    <a:pt x="1197" y="336"/>
                  </a:cubicBezTo>
                  <a:lnTo>
                    <a:pt x="927" y="492"/>
                  </a:lnTo>
                  <a:lnTo>
                    <a:pt x="927" y="190"/>
                  </a:lnTo>
                  <a:cubicBezTo>
                    <a:pt x="927" y="94"/>
                    <a:pt x="858" y="8"/>
                    <a:pt x="763" y="1"/>
                  </a:cubicBezTo>
                  <a:cubicBezTo>
                    <a:pt x="758" y="0"/>
                    <a:pt x="752" y="0"/>
                    <a:pt x="7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1"/>
            <p:cNvSpPr/>
            <p:nvPr/>
          </p:nvSpPr>
          <p:spPr>
            <a:xfrm>
              <a:off x="3484796" y="1008920"/>
              <a:ext cx="56562" cy="60957"/>
            </a:xfrm>
            <a:custGeom>
              <a:avLst/>
              <a:gdLst/>
              <a:ahLst/>
              <a:cxnLst/>
              <a:rect l="l" t="t" r="r" b="b"/>
              <a:pathLst>
                <a:path w="1493" h="1609" extrusionOk="0">
                  <a:moveTo>
                    <a:pt x="747" y="0"/>
                  </a:moveTo>
                  <a:cubicBezTo>
                    <a:pt x="646" y="0"/>
                    <a:pt x="566" y="81"/>
                    <a:pt x="566" y="180"/>
                  </a:cubicBezTo>
                  <a:lnTo>
                    <a:pt x="566" y="492"/>
                  </a:lnTo>
                  <a:lnTo>
                    <a:pt x="297" y="336"/>
                  </a:lnTo>
                  <a:cubicBezTo>
                    <a:pt x="269" y="320"/>
                    <a:pt x="237" y="312"/>
                    <a:pt x="207" y="312"/>
                  </a:cubicBezTo>
                  <a:cubicBezTo>
                    <a:pt x="144" y="312"/>
                    <a:pt x="84" y="344"/>
                    <a:pt x="51" y="402"/>
                  </a:cubicBezTo>
                  <a:cubicBezTo>
                    <a:pt x="1" y="488"/>
                    <a:pt x="30" y="598"/>
                    <a:pt x="116" y="648"/>
                  </a:cubicBezTo>
                  <a:lnTo>
                    <a:pt x="386" y="803"/>
                  </a:lnTo>
                  <a:lnTo>
                    <a:pt x="116" y="959"/>
                  </a:lnTo>
                  <a:cubicBezTo>
                    <a:pt x="30" y="1010"/>
                    <a:pt x="2" y="1120"/>
                    <a:pt x="51" y="1205"/>
                  </a:cubicBezTo>
                  <a:cubicBezTo>
                    <a:pt x="83" y="1263"/>
                    <a:pt x="145" y="1296"/>
                    <a:pt x="207" y="1296"/>
                  </a:cubicBezTo>
                  <a:cubicBezTo>
                    <a:pt x="237" y="1296"/>
                    <a:pt x="269" y="1288"/>
                    <a:pt x="297" y="1272"/>
                  </a:cubicBezTo>
                  <a:lnTo>
                    <a:pt x="567" y="1116"/>
                  </a:lnTo>
                  <a:lnTo>
                    <a:pt x="567" y="1419"/>
                  </a:lnTo>
                  <a:cubicBezTo>
                    <a:pt x="567" y="1514"/>
                    <a:pt x="636" y="1599"/>
                    <a:pt x="731" y="1608"/>
                  </a:cubicBezTo>
                  <a:cubicBezTo>
                    <a:pt x="736" y="1608"/>
                    <a:pt x="742" y="1608"/>
                    <a:pt x="747" y="1608"/>
                  </a:cubicBezTo>
                  <a:cubicBezTo>
                    <a:pt x="846" y="1608"/>
                    <a:pt x="927" y="1528"/>
                    <a:pt x="927" y="1429"/>
                  </a:cubicBezTo>
                  <a:lnTo>
                    <a:pt x="927" y="1116"/>
                  </a:lnTo>
                  <a:lnTo>
                    <a:pt x="1197" y="1272"/>
                  </a:lnTo>
                  <a:cubicBezTo>
                    <a:pt x="1225" y="1289"/>
                    <a:pt x="1255" y="1296"/>
                    <a:pt x="1287" y="1296"/>
                  </a:cubicBezTo>
                  <a:cubicBezTo>
                    <a:pt x="1350" y="1296"/>
                    <a:pt x="1409" y="1263"/>
                    <a:pt x="1443" y="1205"/>
                  </a:cubicBezTo>
                  <a:cubicBezTo>
                    <a:pt x="1492" y="1119"/>
                    <a:pt x="1462" y="1010"/>
                    <a:pt x="1377" y="959"/>
                  </a:cubicBezTo>
                  <a:lnTo>
                    <a:pt x="1107" y="803"/>
                  </a:lnTo>
                  <a:lnTo>
                    <a:pt x="1377" y="648"/>
                  </a:lnTo>
                  <a:cubicBezTo>
                    <a:pt x="1464" y="598"/>
                    <a:pt x="1492" y="488"/>
                    <a:pt x="1443" y="402"/>
                  </a:cubicBezTo>
                  <a:cubicBezTo>
                    <a:pt x="1409" y="344"/>
                    <a:pt x="1349" y="312"/>
                    <a:pt x="1287" y="312"/>
                  </a:cubicBezTo>
                  <a:cubicBezTo>
                    <a:pt x="1256" y="312"/>
                    <a:pt x="1225" y="320"/>
                    <a:pt x="1197" y="336"/>
                  </a:cubicBezTo>
                  <a:lnTo>
                    <a:pt x="927" y="492"/>
                  </a:lnTo>
                  <a:lnTo>
                    <a:pt x="927" y="190"/>
                  </a:lnTo>
                  <a:cubicBezTo>
                    <a:pt x="927" y="94"/>
                    <a:pt x="857" y="8"/>
                    <a:pt x="763" y="1"/>
                  </a:cubicBezTo>
                  <a:cubicBezTo>
                    <a:pt x="758" y="0"/>
                    <a:pt x="752" y="0"/>
                    <a:pt x="7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1"/>
            <p:cNvSpPr/>
            <p:nvPr/>
          </p:nvSpPr>
          <p:spPr>
            <a:xfrm>
              <a:off x="3342424" y="807220"/>
              <a:ext cx="109260" cy="154343"/>
            </a:xfrm>
            <a:custGeom>
              <a:avLst/>
              <a:gdLst/>
              <a:ahLst/>
              <a:cxnLst/>
              <a:rect l="l" t="t" r="r" b="b"/>
              <a:pathLst>
                <a:path w="2884" h="4074" extrusionOk="0">
                  <a:moveTo>
                    <a:pt x="1457" y="380"/>
                  </a:moveTo>
                  <a:cubicBezTo>
                    <a:pt x="1776" y="380"/>
                    <a:pt x="2032" y="645"/>
                    <a:pt x="2032" y="972"/>
                  </a:cubicBezTo>
                  <a:lnTo>
                    <a:pt x="2032" y="1517"/>
                  </a:lnTo>
                  <a:lnTo>
                    <a:pt x="885" y="1517"/>
                  </a:lnTo>
                  <a:lnTo>
                    <a:pt x="885" y="954"/>
                  </a:lnTo>
                  <a:cubicBezTo>
                    <a:pt x="885" y="654"/>
                    <a:pt x="1116" y="405"/>
                    <a:pt x="1411" y="381"/>
                  </a:cubicBezTo>
                  <a:cubicBezTo>
                    <a:pt x="1426" y="380"/>
                    <a:pt x="1442" y="380"/>
                    <a:pt x="1457" y="380"/>
                  </a:cubicBezTo>
                  <a:close/>
                  <a:moveTo>
                    <a:pt x="2342" y="1878"/>
                  </a:moveTo>
                  <a:cubicBezTo>
                    <a:pt x="2441" y="1878"/>
                    <a:pt x="2524" y="1959"/>
                    <a:pt x="2524" y="2058"/>
                  </a:cubicBezTo>
                  <a:lnTo>
                    <a:pt x="2524" y="3532"/>
                  </a:lnTo>
                  <a:cubicBezTo>
                    <a:pt x="2524" y="3631"/>
                    <a:pt x="2442" y="3712"/>
                    <a:pt x="2343" y="3712"/>
                  </a:cubicBezTo>
                  <a:lnTo>
                    <a:pt x="576" y="3712"/>
                  </a:lnTo>
                  <a:cubicBezTo>
                    <a:pt x="476" y="3712"/>
                    <a:pt x="395" y="3631"/>
                    <a:pt x="395" y="3532"/>
                  </a:cubicBezTo>
                  <a:lnTo>
                    <a:pt x="395" y="2058"/>
                  </a:lnTo>
                  <a:cubicBezTo>
                    <a:pt x="395" y="1959"/>
                    <a:pt x="476" y="1878"/>
                    <a:pt x="576" y="1878"/>
                  </a:cubicBezTo>
                  <a:close/>
                  <a:moveTo>
                    <a:pt x="1442" y="0"/>
                  </a:moveTo>
                  <a:cubicBezTo>
                    <a:pt x="918" y="0"/>
                    <a:pt x="492" y="428"/>
                    <a:pt x="492" y="951"/>
                  </a:cubicBezTo>
                  <a:lnTo>
                    <a:pt x="492" y="1513"/>
                  </a:lnTo>
                  <a:cubicBezTo>
                    <a:pt x="216" y="1545"/>
                    <a:pt x="1" y="1778"/>
                    <a:pt x="1" y="2057"/>
                  </a:cubicBezTo>
                  <a:lnTo>
                    <a:pt x="1" y="3525"/>
                  </a:lnTo>
                  <a:cubicBezTo>
                    <a:pt x="1" y="3828"/>
                    <a:pt x="247" y="4073"/>
                    <a:pt x="549" y="4073"/>
                  </a:cubicBezTo>
                  <a:lnTo>
                    <a:pt x="2334" y="4073"/>
                  </a:lnTo>
                  <a:cubicBezTo>
                    <a:pt x="2638" y="4073"/>
                    <a:pt x="2883" y="3827"/>
                    <a:pt x="2883" y="3525"/>
                  </a:cubicBezTo>
                  <a:lnTo>
                    <a:pt x="2883" y="2057"/>
                  </a:lnTo>
                  <a:cubicBezTo>
                    <a:pt x="2883" y="1778"/>
                    <a:pt x="2668" y="1545"/>
                    <a:pt x="2392" y="1513"/>
                  </a:cubicBezTo>
                  <a:lnTo>
                    <a:pt x="2392" y="950"/>
                  </a:lnTo>
                  <a:cubicBezTo>
                    <a:pt x="2393" y="427"/>
                    <a:pt x="1966" y="0"/>
                    <a:pt x="1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1"/>
            <p:cNvSpPr/>
            <p:nvPr/>
          </p:nvSpPr>
          <p:spPr>
            <a:xfrm>
              <a:off x="3387735" y="903637"/>
              <a:ext cx="18715" cy="18677"/>
            </a:xfrm>
            <a:custGeom>
              <a:avLst/>
              <a:gdLst/>
              <a:ahLst/>
              <a:cxnLst/>
              <a:rect l="l" t="t" r="r" b="b"/>
              <a:pathLst>
                <a:path w="494" h="493" extrusionOk="0">
                  <a:moveTo>
                    <a:pt x="247" y="0"/>
                  </a:moveTo>
                  <a:cubicBezTo>
                    <a:pt x="111" y="0"/>
                    <a:pt x="1" y="110"/>
                    <a:pt x="1" y="246"/>
                  </a:cubicBezTo>
                  <a:cubicBezTo>
                    <a:pt x="1" y="383"/>
                    <a:pt x="111" y="493"/>
                    <a:pt x="247" y="493"/>
                  </a:cubicBezTo>
                  <a:cubicBezTo>
                    <a:pt x="383" y="493"/>
                    <a:pt x="493" y="383"/>
                    <a:pt x="493" y="246"/>
                  </a:cubicBezTo>
                  <a:cubicBezTo>
                    <a:pt x="493" y="110"/>
                    <a:pt x="383" y="0"/>
                    <a:pt x="2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33">
          <a:extLst>
            <a:ext uri="{FF2B5EF4-FFF2-40B4-BE49-F238E27FC236}">
              <a16:creationId xmlns:a16="http://schemas.microsoft.com/office/drawing/2014/main" id="{163B6087-4879-0862-6F8C-4CD5570E6FF2}"/>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0E04F280-999B-9230-C7A7-7F6B0F6D8262}"/>
              </a:ext>
            </a:extLst>
          </p:cNvPr>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algn="l"/>
            <a:r>
              <a:rPr lang="vi-VN"/>
              <a:t>LP Bound cho path</a:t>
            </a:r>
          </a:p>
        </p:txBody>
      </p:sp>
      <p:sp>
        <p:nvSpPr>
          <p:cNvPr id="1635" name="Google Shape;1635;p41">
            <a:extLst>
              <a:ext uri="{FF2B5EF4-FFF2-40B4-BE49-F238E27FC236}">
                <a16:creationId xmlns:a16="http://schemas.microsoft.com/office/drawing/2014/main" id="{F41456FE-3972-62C9-57B6-CDF5C91E04D5}"/>
              </a:ext>
            </a:extLst>
          </p:cNvPr>
          <p:cNvSpPr txBox="1">
            <a:spLocks noGrp="1"/>
          </p:cNvSpPr>
          <p:nvPr>
            <p:ph type="subTitle" idx="1"/>
          </p:nvPr>
        </p:nvSpPr>
        <p:spPr>
          <a:xfrm>
            <a:off x="6263640" y="2240280"/>
            <a:ext cx="2331720" cy="1828800"/>
          </a:xfrm>
          <a:prstGeom prst="rect">
            <a:avLst/>
          </a:prstGeom>
        </p:spPr>
        <p:txBody>
          <a:bodyPr spcFirstLastPara="1" wrap="square" lIns="91425" tIns="91425" rIns="91425" bIns="91425" anchor="t" anchorCtr="0">
            <a:noAutofit/>
          </a:bodyPr>
          <a:lstStyle/>
          <a:p>
            <a:pPr algn="l" marL="0" indent="0">
              <a:spcAft>
                <a:spcPts val="400"/>
              </a:spcAft>
              <a:buNone/>
            </a:pPr>
            <a:r>
              <a:rPr sz="1100" b="1" i="0">
                <a:solidFill>
                  <a:srgbClr val="1D1D1D"/>
                </a:solidFill>
                <a:latin typeface="Be Vietnam Pro"/>
                <a:ea typeface="Be Vietnam Pro"/>
                <a:cs typeface="Be Vietnam Pro"/>
                <a:sym typeface="Be Vietnam Pro"/>
              </a:rPr>
              <a:t>Ý tưởng:</a:t>
            </a:r>
          </a:p>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Cố định trước path cho các alert: 1 path UAV và 1 path ground</a:t>
            </a:r>
          </a:p>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Bỏ qua ràng buộc nhân quả thông tin</a:t>
            </a:r>
          </a:p>
        </p:txBody>
      </p:sp>
      <p:sp>
        <p:nvSpPr>
          <p:cNvPr id="1637" name="Google Shape;1637;p41">
            <a:extLst>
              <a:ext uri="{FF2B5EF4-FFF2-40B4-BE49-F238E27FC236}">
                <a16:creationId xmlns:a16="http://schemas.microsoft.com/office/drawing/2014/main" id="{3026CBED-0B94-473A-4E10-41498909AC26}"/>
              </a:ext>
            </a:extLst>
          </p:cNvPr>
          <p:cNvSpPr txBox="1">
            <a:spLocks noGrp="1"/>
          </p:cNvSpPr>
          <p:nvPr>
            <p:ph type="subTitle" idx="3"/>
          </p:nvPr>
        </p:nvSpPr>
        <p:spPr>
          <a:xfrm>
            <a:off x="6263640" y="1783080"/>
            <a:ext cx="2560320" cy="40233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LP upper bound</a:t>
            </a:r>
          </a:p>
        </p:txBody>
      </p:sp>
      <p:grpSp>
        <p:nvGrpSpPr>
          <p:cNvPr id="1639" name="Google Shape;1639;p41">
            <a:extLst>
              <a:ext uri="{FF2B5EF4-FFF2-40B4-BE49-F238E27FC236}">
                <a16:creationId xmlns:a16="http://schemas.microsoft.com/office/drawing/2014/main" id="{5265513F-2FD7-AD6D-A9B8-34866971FACD}"/>
              </a:ext>
            </a:extLst>
          </p:cNvPr>
          <p:cNvGrpSpPr/>
          <p:nvPr/>
        </p:nvGrpSpPr>
        <p:grpSpPr>
          <a:xfrm>
            <a:off x="6336792" y="1371600"/>
            <a:ext cx="338328" cy="338328"/>
            <a:chOff x="3906683" y="713190"/>
            <a:chExt cx="470494" cy="476593"/>
          </a:xfrm>
        </p:grpSpPr>
        <p:sp>
          <p:nvSpPr>
            <p:cNvPr id="1640" name="Google Shape;1640;p41">
              <a:extLst>
                <a:ext uri="{FF2B5EF4-FFF2-40B4-BE49-F238E27FC236}">
                  <a16:creationId xmlns:a16="http://schemas.microsoft.com/office/drawing/2014/main" id="{9508D190-8623-47F7-BE1B-0581FC264F39}"/>
                </a:ext>
              </a:extLst>
            </p:cNvPr>
            <p:cNvSpPr/>
            <p:nvPr/>
          </p:nvSpPr>
          <p:spPr>
            <a:xfrm>
              <a:off x="4044016" y="1026044"/>
              <a:ext cx="150100" cy="13676"/>
            </a:xfrm>
            <a:custGeom>
              <a:avLst/>
              <a:gdLst/>
              <a:ahLst/>
              <a:cxnLst/>
              <a:rect l="l" t="t" r="r" b="b"/>
              <a:pathLst>
                <a:path w="3962" h="361" extrusionOk="0">
                  <a:moveTo>
                    <a:pt x="199" y="0"/>
                  </a:moveTo>
                  <a:cubicBezTo>
                    <a:pt x="104" y="0"/>
                    <a:pt x="18" y="71"/>
                    <a:pt x="10" y="165"/>
                  </a:cubicBezTo>
                  <a:cubicBezTo>
                    <a:pt x="1" y="272"/>
                    <a:pt x="85" y="361"/>
                    <a:pt x="192" y="361"/>
                  </a:cubicBezTo>
                  <a:lnTo>
                    <a:pt x="3764" y="361"/>
                  </a:lnTo>
                  <a:cubicBezTo>
                    <a:pt x="3859" y="361"/>
                    <a:pt x="3944" y="292"/>
                    <a:pt x="3953" y="197"/>
                  </a:cubicBezTo>
                  <a:cubicBezTo>
                    <a:pt x="3961" y="89"/>
                    <a:pt x="3877" y="0"/>
                    <a:pt x="37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1">
              <a:extLst>
                <a:ext uri="{FF2B5EF4-FFF2-40B4-BE49-F238E27FC236}">
                  <a16:creationId xmlns:a16="http://schemas.microsoft.com/office/drawing/2014/main" id="{9BF3F872-92B6-A1F9-58BD-E0E99FE216B4}"/>
                </a:ext>
              </a:extLst>
            </p:cNvPr>
            <p:cNvSpPr/>
            <p:nvPr/>
          </p:nvSpPr>
          <p:spPr>
            <a:xfrm>
              <a:off x="3971391" y="1026044"/>
              <a:ext cx="52774" cy="13676"/>
            </a:xfrm>
            <a:custGeom>
              <a:avLst/>
              <a:gdLst/>
              <a:ahLst/>
              <a:cxnLst/>
              <a:rect l="l" t="t" r="r" b="b"/>
              <a:pathLst>
                <a:path w="1393" h="361" extrusionOk="0">
                  <a:moveTo>
                    <a:pt x="198" y="0"/>
                  </a:moveTo>
                  <a:cubicBezTo>
                    <a:pt x="103" y="0"/>
                    <a:pt x="17" y="71"/>
                    <a:pt x="10" y="165"/>
                  </a:cubicBezTo>
                  <a:cubicBezTo>
                    <a:pt x="0" y="272"/>
                    <a:pt x="84" y="361"/>
                    <a:pt x="189" y="361"/>
                  </a:cubicBezTo>
                  <a:lnTo>
                    <a:pt x="1194" y="361"/>
                  </a:lnTo>
                  <a:cubicBezTo>
                    <a:pt x="1290" y="361"/>
                    <a:pt x="1375" y="292"/>
                    <a:pt x="1383" y="197"/>
                  </a:cubicBezTo>
                  <a:cubicBezTo>
                    <a:pt x="1392" y="89"/>
                    <a:pt x="1308"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1">
              <a:extLst>
                <a:ext uri="{FF2B5EF4-FFF2-40B4-BE49-F238E27FC236}">
                  <a16:creationId xmlns:a16="http://schemas.microsoft.com/office/drawing/2014/main" id="{79503C1D-BB02-2449-E148-0B7E2B4C03CE}"/>
                </a:ext>
              </a:extLst>
            </p:cNvPr>
            <p:cNvSpPr/>
            <p:nvPr/>
          </p:nvSpPr>
          <p:spPr>
            <a:xfrm>
              <a:off x="3970785" y="1052147"/>
              <a:ext cx="225075" cy="13676"/>
            </a:xfrm>
            <a:custGeom>
              <a:avLst/>
              <a:gdLst/>
              <a:ahLst/>
              <a:cxnLst/>
              <a:rect l="l" t="t" r="r" b="b"/>
              <a:pathLst>
                <a:path w="5941" h="361" extrusionOk="0">
                  <a:moveTo>
                    <a:pt x="201" y="1"/>
                  </a:moveTo>
                  <a:cubicBezTo>
                    <a:pt x="105" y="1"/>
                    <a:pt x="20" y="70"/>
                    <a:pt x="11" y="165"/>
                  </a:cubicBezTo>
                  <a:cubicBezTo>
                    <a:pt x="1" y="272"/>
                    <a:pt x="88" y="361"/>
                    <a:pt x="194" y="361"/>
                  </a:cubicBezTo>
                  <a:lnTo>
                    <a:pt x="5741" y="361"/>
                  </a:lnTo>
                  <a:cubicBezTo>
                    <a:pt x="5837" y="361"/>
                    <a:pt x="5922" y="291"/>
                    <a:pt x="5932" y="196"/>
                  </a:cubicBezTo>
                  <a:cubicBezTo>
                    <a:pt x="5940" y="90"/>
                    <a:pt x="5855" y="1"/>
                    <a:pt x="57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1">
              <a:extLst>
                <a:ext uri="{FF2B5EF4-FFF2-40B4-BE49-F238E27FC236}">
                  <a16:creationId xmlns:a16="http://schemas.microsoft.com/office/drawing/2014/main" id="{BE1EC04B-1C3C-B4EA-ABE4-9E2B2634D010}"/>
                </a:ext>
              </a:extLst>
            </p:cNvPr>
            <p:cNvSpPr/>
            <p:nvPr/>
          </p:nvSpPr>
          <p:spPr>
            <a:xfrm>
              <a:off x="4132213" y="1076961"/>
              <a:ext cx="62927" cy="13676"/>
            </a:xfrm>
            <a:custGeom>
              <a:avLst/>
              <a:gdLst/>
              <a:ahLst/>
              <a:cxnLst/>
              <a:rect l="l" t="t" r="r" b="b"/>
              <a:pathLst>
                <a:path w="1661" h="361" extrusionOk="0">
                  <a:moveTo>
                    <a:pt x="197" y="0"/>
                  </a:moveTo>
                  <a:cubicBezTo>
                    <a:pt x="102" y="0"/>
                    <a:pt x="17" y="69"/>
                    <a:pt x="9" y="164"/>
                  </a:cubicBezTo>
                  <a:cubicBezTo>
                    <a:pt x="0" y="271"/>
                    <a:pt x="84" y="360"/>
                    <a:pt x="189" y="360"/>
                  </a:cubicBezTo>
                  <a:lnTo>
                    <a:pt x="1462" y="360"/>
                  </a:lnTo>
                  <a:cubicBezTo>
                    <a:pt x="1558" y="360"/>
                    <a:pt x="1642" y="290"/>
                    <a:pt x="1651" y="195"/>
                  </a:cubicBezTo>
                  <a:cubicBezTo>
                    <a:pt x="1660" y="89"/>
                    <a:pt x="1576" y="0"/>
                    <a:pt x="14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1">
              <a:extLst>
                <a:ext uri="{FF2B5EF4-FFF2-40B4-BE49-F238E27FC236}">
                  <a16:creationId xmlns:a16="http://schemas.microsoft.com/office/drawing/2014/main" id="{896393A3-5C43-8A79-F7F2-DB3D2C5C0D25}"/>
                </a:ext>
              </a:extLst>
            </p:cNvPr>
            <p:cNvSpPr/>
            <p:nvPr/>
          </p:nvSpPr>
          <p:spPr>
            <a:xfrm>
              <a:off x="3972376" y="1076923"/>
              <a:ext cx="139530" cy="13714"/>
            </a:xfrm>
            <a:custGeom>
              <a:avLst/>
              <a:gdLst/>
              <a:ahLst/>
              <a:cxnLst/>
              <a:rect l="l" t="t" r="r" b="b"/>
              <a:pathLst>
                <a:path w="3683" h="362" extrusionOk="0">
                  <a:moveTo>
                    <a:pt x="198" y="0"/>
                  </a:moveTo>
                  <a:cubicBezTo>
                    <a:pt x="103" y="0"/>
                    <a:pt x="17" y="69"/>
                    <a:pt x="10" y="163"/>
                  </a:cubicBezTo>
                  <a:cubicBezTo>
                    <a:pt x="0" y="272"/>
                    <a:pt x="84" y="361"/>
                    <a:pt x="189" y="361"/>
                  </a:cubicBezTo>
                  <a:lnTo>
                    <a:pt x="3486" y="361"/>
                  </a:lnTo>
                  <a:cubicBezTo>
                    <a:pt x="3581" y="361"/>
                    <a:pt x="3666" y="291"/>
                    <a:pt x="3675" y="196"/>
                  </a:cubicBezTo>
                  <a:cubicBezTo>
                    <a:pt x="3683" y="89"/>
                    <a:pt x="3599" y="0"/>
                    <a:pt x="34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1">
              <a:extLst>
                <a:ext uri="{FF2B5EF4-FFF2-40B4-BE49-F238E27FC236}">
                  <a16:creationId xmlns:a16="http://schemas.microsoft.com/office/drawing/2014/main" id="{383D64DA-CB4B-39BC-8F46-C7736DE2CFD0}"/>
                </a:ext>
              </a:extLst>
            </p:cNvPr>
            <p:cNvSpPr/>
            <p:nvPr/>
          </p:nvSpPr>
          <p:spPr>
            <a:xfrm>
              <a:off x="3971239" y="891969"/>
              <a:ext cx="124187" cy="95622"/>
            </a:xfrm>
            <a:custGeom>
              <a:avLst/>
              <a:gdLst/>
              <a:ahLst/>
              <a:cxnLst/>
              <a:rect l="l" t="t" r="r" b="b"/>
              <a:pathLst>
                <a:path w="3278" h="2524" extrusionOk="0">
                  <a:moveTo>
                    <a:pt x="2917" y="363"/>
                  </a:moveTo>
                  <a:lnTo>
                    <a:pt x="2917" y="2131"/>
                  </a:lnTo>
                  <a:lnTo>
                    <a:pt x="361" y="2131"/>
                  </a:lnTo>
                  <a:lnTo>
                    <a:pt x="361" y="363"/>
                  </a:lnTo>
                  <a:close/>
                  <a:moveTo>
                    <a:pt x="185" y="0"/>
                  </a:moveTo>
                  <a:cubicBezTo>
                    <a:pt x="83" y="0"/>
                    <a:pt x="0" y="83"/>
                    <a:pt x="0" y="186"/>
                  </a:cubicBezTo>
                  <a:lnTo>
                    <a:pt x="0" y="2339"/>
                  </a:lnTo>
                  <a:cubicBezTo>
                    <a:pt x="0" y="2442"/>
                    <a:pt x="83" y="2523"/>
                    <a:pt x="185" y="2523"/>
                  </a:cubicBezTo>
                  <a:lnTo>
                    <a:pt x="3093" y="2523"/>
                  </a:lnTo>
                  <a:cubicBezTo>
                    <a:pt x="3195" y="2523"/>
                    <a:pt x="3277" y="2442"/>
                    <a:pt x="3277" y="2339"/>
                  </a:cubicBezTo>
                  <a:lnTo>
                    <a:pt x="3277" y="186"/>
                  </a:lnTo>
                  <a:cubicBezTo>
                    <a:pt x="3277" y="83"/>
                    <a:pt x="3195" y="0"/>
                    <a:pt x="30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1">
              <a:extLst>
                <a:ext uri="{FF2B5EF4-FFF2-40B4-BE49-F238E27FC236}">
                  <a16:creationId xmlns:a16="http://schemas.microsoft.com/office/drawing/2014/main" id="{1E103339-0112-4787-6352-12CB7BAC4EDA}"/>
                </a:ext>
              </a:extLst>
            </p:cNvPr>
            <p:cNvSpPr/>
            <p:nvPr/>
          </p:nvSpPr>
          <p:spPr>
            <a:xfrm>
              <a:off x="3971239" y="788960"/>
              <a:ext cx="273189" cy="63382"/>
            </a:xfrm>
            <a:custGeom>
              <a:avLst/>
              <a:gdLst/>
              <a:ahLst/>
              <a:cxnLst/>
              <a:rect l="l" t="t" r="r" b="b"/>
              <a:pathLst>
                <a:path w="7211" h="1673" extrusionOk="0">
                  <a:moveTo>
                    <a:pt x="185" y="0"/>
                  </a:moveTo>
                  <a:cubicBezTo>
                    <a:pt x="83" y="0"/>
                    <a:pt x="0" y="83"/>
                    <a:pt x="0" y="186"/>
                  </a:cubicBezTo>
                  <a:lnTo>
                    <a:pt x="0" y="1491"/>
                  </a:lnTo>
                  <a:cubicBezTo>
                    <a:pt x="0" y="1591"/>
                    <a:pt x="82" y="1672"/>
                    <a:pt x="182" y="1672"/>
                  </a:cubicBezTo>
                  <a:lnTo>
                    <a:pt x="1997" y="1672"/>
                  </a:lnTo>
                  <a:cubicBezTo>
                    <a:pt x="2093" y="1672"/>
                    <a:pt x="2178" y="1603"/>
                    <a:pt x="2185" y="1509"/>
                  </a:cubicBezTo>
                  <a:cubicBezTo>
                    <a:pt x="2194" y="1402"/>
                    <a:pt x="2111" y="1313"/>
                    <a:pt x="2006" y="1313"/>
                  </a:cubicBezTo>
                  <a:lnTo>
                    <a:pt x="360" y="1313"/>
                  </a:lnTo>
                  <a:lnTo>
                    <a:pt x="360" y="362"/>
                  </a:lnTo>
                  <a:lnTo>
                    <a:pt x="6849" y="362"/>
                  </a:lnTo>
                  <a:lnTo>
                    <a:pt x="6849" y="1313"/>
                  </a:lnTo>
                  <a:lnTo>
                    <a:pt x="3003" y="1313"/>
                  </a:lnTo>
                  <a:cubicBezTo>
                    <a:pt x="2907" y="1313"/>
                    <a:pt x="2822" y="1382"/>
                    <a:pt x="2814" y="1476"/>
                  </a:cubicBezTo>
                  <a:cubicBezTo>
                    <a:pt x="2805" y="1583"/>
                    <a:pt x="2889" y="1672"/>
                    <a:pt x="2993" y="1672"/>
                  </a:cubicBezTo>
                  <a:lnTo>
                    <a:pt x="7026" y="1672"/>
                  </a:lnTo>
                  <a:cubicBezTo>
                    <a:pt x="7127" y="1672"/>
                    <a:pt x="7210" y="1590"/>
                    <a:pt x="7210" y="1488"/>
                  </a:cubicBezTo>
                  <a:lnTo>
                    <a:pt x="7210" y="185"/>
                  </a:lnTo>
                  <a:cubicBezTo>
                    <a:pt x="7209" y="82"/>
                    <a:pt x="7126" y="0"/>
                    <a:pt x="70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1">
              <a:extLst>
                <a:ext uri="{FF2B5EF4-FFF2-40B4-BE49-F238E27FC236}">
                  <a16:creationId xmlns:a16="http://schemas.microsoft.com/office/drawing/2014/main" id="{8704BF15-BFC7-FEA2-8169-5A122A46389E}"/>
                </a:ext>
              </a:extLst>
            </p:cNvPr>
            <p:cNvSpPr/>
            <p:nvPr/>
          </p:nvSpPr>
          <p:spPr>
            <a:xfrm>
              <a:off x="4238101" y="930498"/>
              <a:ext cx="116762" cy="42204"/>
            </a:xfrm>
            <a:custGeom>
              <a:avLst/>
              <a:gdLst/>
              <a:ahLst/>
              <a:cxnLst/>
              <a:rect l="l" t="t" r="r" b="b"/>
              <a:pathLst>
                <a:path w="3082" h="1114" extrusionOk="0">
                  <a:moveTo>
                    <a:pt x="2721" y="360"/>
                  </a:moveTo>
                  <a:lnTo>
                    <a:pt x="2721" y="720"/>
                  </a:lnTo>
                  <a:lnTo>
                    <a:pt x="361" y="720"/>
                  </a:lnTo>
                  <a:lnTo>
                    <a:pt x="361" y="360"/>
                  </a:lnTo>
                  <a:close/>
                  <a:moveTo>
                    <a:pt x="186" y="0"/>
                  </a:moveTo>
                  <a:cubicBezTo>
                    <a:pt x="83" y="0"/>
                    <a:pt x="1" y="82"/>
                    <a:pt x="1" y="185"/>
                  </a:cubicBezTo>
                  <a:lnTo>
                    <a:pt x="1" y="929"/>
                  </a:lnTo>
                  <a:cubicBezTo>
                    <a:pt x="1" y="1032"/>
                    <a:pt x="83" y="1114"/>
                    <a:pt x="186" y="1114"/>
                  </a:cubicBezTo>
                  <a:lnTo>
                    <a:pt x="2898" y="1114"/>
                  </a:lnTo>
                  <a:cubicBezTo>
                    <a:pt x="2999" y="1114"/>
                    <a:pt x="3082" y="1032"/>
                    <a:pt x="3082" y="929"/>
                  </a:cubicBezTo>
                  <a:lnTo>
                    <a:pt x="3082" y="185"/>
                  </a:lnTo>
                  <a:cubicBezTo>
                    <a:pt x="3081" y="82"/>
                    <a:pt x="2999" y="0"/>
                    <a:pt x="28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1">
              <a:extLst>
                <a:ext uri="{FF2B5EF4-FFF2-40B4-BE49-F238E27FC236}">
                  <a16:creationId xmlns:a16="http://schemas.microsoft.com/office/drawing/2014/main" id="{8CE8F681-5B8E-FA7B-04D9-8E941F816B20}"/>
                </a:ext>
              </a:extLst>
            </p:cNvPr>
            <p:cNvSpPr/>
            <p:nvPr/>
          </p:nvSpPr>
          <p:spPr>
            <a:xfrm>
              <a:off x="3906683" y="713190"/>
              <a:ext cx="470494" cy="476593"/>
            </a:xfrm>
            <a:custGeom>
              <a:avLst/>
              <a:gdLst/>
              <a:ahLst/>
              <a:cxnLst/>
              <a:rect l="l" t="t" r="r" b="b"/>
              <a:pathLst>
                <a:path w="12419" h="12580" extrusionOk="0">
                  <a:moveTo>
                    <a:pt x="10075" y="361"/>
                  </a:moveTo>
                  <a:cubicBezTo>
                    <a:pt x="10175" y="361"/>
                    <a:pt x="10256" y="443"/>
                    <a:pt x="10256" y="544"/>
                  </a:cubicBezTo>
                  <a:lnTo>
                    <a:pt x="10256" y="1312"/>
                  </a:lnTo>
                  <a:lnTo>
                    <a:pt x="361" y="1312"/>
                  </a:lnTo>
                  <a:lnTo>
                    <a:pt x="361" y="544"/>
                  </a:lnTo>
                  <a:cubicBezTo>
                    <a:pt x="361" y="444"/>
                    <a:pt x="442" y="361"/>
                    <a:pt x="544" y="361"/>
                  </a:cubicBezTo>
                  <a:close/>
                  <a:moveTo>
                    <a:pt x="10256" y="1705"/>
                  </a:moveTo>
                  <a:lnTo>
                    <a:pt x="10256" y="3999"/>
                  </a:lnTo>
                  <a:lnTo>
                    <a:pt x="361" y="3999"/>
                  </a:lnTo>
                  <a:lnTo>
                    <a:pt x="361" y="1705"/>
                  </a:lnTo>
                  <a:close/>
                  <a:moveTo>
                    <a:pt x="8553" y="5081"/>
                  </a:moveTo>
                  <a:lnTo>
                    <a:pt x="8553" y="5229"/>
                  </a:lnTo>
                  <a:cubicBezTo>
                    <a:pt x="8323" y="5312"/>
                    <a:pt x="8159" y="5538"/>
                    <a:pt x="8159" y="5804"/>
                  </a:cubicBezTo>
                  <a:lnTo>
                    <a:pt x="8159" y="6850"/>
                  </a:lnTo>
                  <a:lnTo>
                    <a:pt x="5996" y="6850"/>
                  </a:lnTo>
                  <a:lnTo>
                    <a:pt x="5996" y="5081"/>
                  </a:lnTo>
                  <a:close/>
                  <a:moveTo>
                    <a:pt x="10256" y="4359"/>
                  </a:moveTo>
                  <a:lnTo>
                    <a:pt x="10256" y="5211"/>
                  </a:lnTo>
                  <a:lnTo>
                    <a:pt x="8913" y="5211"/>
                  </a:lnTo>
                  <a:lnTo>
                    <a:pt x="8913" y="4904"/>
                  </a:lnTo>
                  <a:cubicBezTo>
                    <a:pt x="8913" y="4801"/>
                    <a:pt x="8830" y="4718"/>
                    <a:pt x="8728" y="4718"/>
                  </a:cubicBezTo>
                  <a:lnTo>
                    <a:pt x="5820" y="4718"/>
                  </a:lnTo>
                  <a:cubicBezTo>
                    <a:pt x="5719" y="4718"/>
                    <a:pt x="5636" y="4801"/>
                    <a:pt x="5636" y="4904"/>
                  </a:cubicBezTo>
                  <a:lnTo>
                    <a:pt x="5636" y="7058"/>
                  </a:lnTo>
                  <a:cubicBezTo>
                    <a:pt x="5636" y="7161"/>
                    <a:pt x="5719" y="7242"/>
                    <a:pt x="5820" y="7242"/>
                  </a:cubicBezTo>
                  <a:lnTo>
                    <a:pt x="8125" y="7242"/>
                  </a:lnTo>
                  <a:lnTo>
                    <a:pt x="8125" y="7603"/>
                  </a:lnTo>
                  <a:lnTo>
                    <a:pt x="361" y="7603"/>
                  </a:lnTo>
                  <a:lnTo>
                    <a:pt x="361" y="4359"/>
                  </a:lnTo>
                  <a:close/>
                  <a:moveTo>
                    <a:pt x="11816" y="5572"/>
                  </a:moveTo>
                  <a:cubicBezTo>
                    <a:pt x="11951" y="5572"/>
                    <a:pt x="12060" y="5681"/>
                    <a:pt x="12060" y="5816"/>
                  </a:cubicBezTo>
                  <a:lnTo>
                    <a:pt x="12060" y="6981"/>
                  </a:lnTo>
                  <a:lnTo>
                    <a:pt x="10017" y="6981"/>
                  </a:lnTo>
                  <a:cubicBezTo>
                    <a:pt x="9921" y="6981"/>
                    <a:pt x="9836" y="7051"/>
                    <a:pt x="9828" y="7145"/>
                  </a:cubicBezTo>
                  <a:cubicBezTo>
                    <a:pt x="9819" y="7252"/>
                    <a:pt x="9903" y="7341"/>
                    <a:pt x="10007" y="7341"/>
                  </a:cubicBezTo>
                  <a:lnTo>
                    <a:pt x="12059" y="7341"/>
                  </a:lnTo>
                  <a:lnTo>
                    <a:pt x="12059" y="9242"/>
                  </a:lnTo>
                  <a:lnTo>
                    <a:pt x="8520" y="9242"/>
                  </a:lnTo>
                  <a:lnTo>
                    <a:pt x="8520" y="7341"/>
                  </a:lnTo>
                  <a:lnTo>
                    <a:pt x="9135" y="7341"/>
                  </a:lnTo>
                  <a:cubicBezTo>
                    <a:pt x="9231" y="7341"/>
                    <a:pt x="9316" y="7272"/>
                    <a:pt x="9324" y="7178"/>
                  </a:cubicBezTo>
                  <a:cubicBezTo>
                    <a:pt x="9333" y="7070"/>
                    <a:pt x="9249" y="6981"/>
                    <a:pt x="9144" y="6981"/>
                  </a:cubicBezTo>
                  <a:lnTo>
                    <a:pt x="8520" y="6981"/>
                  </a:lnTo>
                  <a:lnTo>
                    <a:pt x="8520" y="5816"/>
                  </a:lnTo>
                  <a:cubicBezTo>
                    <a:pt x="8520" y="5681"/>
                    <a:pt x="8629" y="5572"/>
                    <a:pt x="8763" y="5572"/>
                  </a:cubicBezTo>
                  <a:close/>
                  <a:moveTo>
                    <a:pt x="8126" y="7963"/>
                  </a:moveTo>
                  <a:lnTo>
                    <a:pt x="8126" y="10257"/>
                  </a:lnTo>
                  <a:lnTo>
                    <a:pt x="544" y="10257"/>
                  </a:lnTo>
                  <a:cubicBezTo>
                    <a:pt x="442" y="10257"/>
                    <a:pt x="361" y="10175"/>
                    <a:pt x="361" y="10074"/>
                  </a:cubicBezTo>
                  <a:lnTo>
                    <a:pt x="361" y="7963"/>
                  </a:lnTo>
                  <a:close/>
                  <a:moveTo>
                    <a:pt x="12059" y="9635"/>
                  </a:moveTo>
                  <a:lnTo>
                    <a:pt x="12059" y="11043"/>
                  </a:lnTo>
                  <a:lnTo>
                    <a:pt x="8520" y="11043"/>
                  </a:lnTo>
                  <a:lnTo>
                    <a:pt x="8520" y="9635"/>
                  </a:lnTo>
                  <a:close/>
                  <a:moveTo>
                    <a:pt x="12057" y="11436"/>
                  </a:moveTo>
                  <a:lnTo>
                    <a:pt x="12057" y="11980"/>
                  </a:lnTo>
                  <a:cubicBezTo>
                    <a:pt x="12059" y="12115"/>
                    <a:pt x="11950" y="12223"/>
                    <a:pt x="11815" y="12223"/>
                  </a:cubicBezTo>
                  <a:lnTo>
                    <a:pt x="8762" y="12223"/>
                  </a:lnTo>
                  <a:cubicBezTo>
                    <a:pt x="8627" y="12223"/>
                    <a:pt x="8519" y="12115"/>
                    <a:pt x="8519" y="11980"/>
                  </a:cubicBezTo>
                  <a:lnTo>
                    <a:pt x="8519" y="11436"/>
                  </a:lnTo>
                  <a:close/>
                  <a:moveTo>
                    <a:pt x="551" y="0"/>
                  </a:moveTo>
                  <a:cubicBezTo>
                    <a:pt x="247" y="0"/>
                    <a:pt x="0" y="247"/>
                    <a:pt x="0" y="550"/>
                  </a:cubicBezTo>
                  <a:lnTo>
                    <a:pt x="0" y="10065"/>
                  </a:lnTo>
                  <a:cubicBezTo>
                    <a:pt x="0" y="10369"/>
                    <a:pt x="247" y="10615"/>
                    <a:pt x="551" y="10615"/>
                  </a:cubicBezTo>
                  <a:lnTo>
                    <a:pt x="8157" y="10615"/>
                  </a:lnTo>
                  <a:lnTo>
                    <a:pt x="8157" y="11969"/>
                  </a:lnTo>
                  <a:cubicBezTo>
                    <a:pt x="8157" y="12306"/>
                    <a:pt x="8431" y="12580"/>
                    <a:pt x="8768" y="12580"/>
                  </a:cubicBezTo>
                  <a:lnTo>
                    <a:pt x="11805" y="12580"/>
                  </a:lnTo>
                  <a:cubicBezTo>
                    <a:pt x="12142" y="12580"/>
                    <a:pt x="12416" y="12306"/>
                    <a:pt x="12416" y="11969"/>
                  </a:cubicBezTo>
                  <a:lnTo>
                    <a:pt x="12416" y="5819"/>
                  </a:lnTo>
                  <a:cubicBezTo>
                    <a:pt x="12418" y="5486"/>
                    <a:pt x="12145" y="5211"/>
                    <a:pt x="11809" y="5211"/>
                  </a:cubicBezTo>
                  <a:lnTo>
                    <a:pt x="10616" y="5211"/>
                  </a:lnTo>
                  <a:lnTo>
                    <a:pt x="10616" y="552"/>
                  </a:lnTo>
                  <a:cubicBezTo>
                    <a:pt x="10616" y="248"/>
                    <a:pt x="10370" y="0"/>
                    <a:pt x="1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1">
              <a:extLst>
                <a:ext uri="{FF2B5EF4-FFF2-40B4-BE49-F238E27FC236}">
                  <a16:creationId xmlns:a16="http://schemas.microsoft.com/office/drawing/2014/main" id="{2FF07C6F-61C5-6077-D9CE-44F12B3106E3}"/>
                </a:ext>
              </a:extLst>
            </p:cNvPr>
            <p:cNvSpPr/>
            <p:nvPr/>
          </p:nvSpPr>
          <p:spPr>
            <a:xfrm>
              <a:off x="4288526" y="1086849"/>
              <a:ext cx="65579" cy="13714"/>
            </a:xfrm>
            <a:custGeom>
              <a:avLst/>
              <a:gdLst/>
              <a:ahLst/>
              <a:cxnLst/>
              <a:rect l="l" t="t" r="r" b="b"/>
              <a:pathLst>
                <a:path w="1731" h="362" extrusionOk="0">
                  <a:moveTo>
                    <a:pt x="198" y="1"/>
                  </a:moveTo>
                  <a:cubicBezTo>
                    <a:pt x="102" y="1"/>
                    <a:pt x="18" y="70"/>
                    <a:pt x="9" y="165"/>
                  </a:cubicBezTo>
                  <a:cubicBezTo>
                    <a:pt x="1" y="272"/>
                    <a:pt x="85" y="361"/>
                    <a:pt x="189" y="361"/>
                  </a:cubicBezTo>
                  <a:lnTo>
                    <a:pt x="1533" y="361"/>
                  </a:lnTo>
                  <a:cubicBezTo>
                    <a:pt x="1629" y="361"/>
                    <a:pt x="1714" y="291"/>
                    <a:pt x="1722" y="197"/>
                  </a:cubicBezTo>
                  <a:cubicBezTo>
                    <a:pt x="1731" y="90"/>
                    <a:pt x="1647" y="1"/>
                    <a:pt x="1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1">
              <a:extLst>
                <a:ext uri="{FF2B5EF4-FFF2-40B4-BE49-F238E27FC236}">
                  <a16:creationId xmlns:a16="http://schemas.microsoft.com/office/drawing/2014/main" id="{F1DFD96B-89B8-9BFF-276B-94A9D1379555}"/>
                </a:ext>
              </a:extLst>
            </p:cNvPr>
            <p:cNvSpPr/>
            <p:nvPr/>
          </p:nvSpPr>
          <p:spPr>
            <a:xfrm>
              <a:off x="4237647" y="1086849"/>
              <a:ext cx="32846" cy="13714"/>
            </a:xfrm>
            <a:custGeom>
              <a:avLst/>
              <a:gdLst/>
              <a:ahLst/>
              <a:cxnLst/>
              <a:rect l="l" t="t" r="r" b="b"/>
              <a:pathLst>
                <a:path w="867" h="362" extrusionOk="0">
                  <a:moveTo>
                    <a:pt x="198" y="1"/>
                  </a:moveTo>
                  <a:cubicBezTo>
                    <a:pt x="102" y="1"/>
                    <a:pt x="17" y="70"/>
                    <a:pt x="9" y="165"/>
                  </a:cubicBezTo>
                  <a:cubicBezTo>
                    <a:pt x="0" y="272"/>
                    <a:pt x="84" y="361"/>
                    <a:pt x="189" y="361"/>
                  </a:cubicBezTo>
                  <a:lnTo>
                    <a:pt x="669" y="361"/>
                  </a:lnTo>
                  <a:cubicBezTo>
                    <a:pt x="765" y="361"/>
                    <a:pt x="849" y="291"/>
                    <a:pt x="858" y="197"/>
                  </a:cubicBezTo>
                  <a:cubicBezTo>
                    <a:pt x="866" y="90"/>
                    <a:pt x="782" y="1"/>
                    <a:pt x="6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1">
              <a:extLst>
                <a:ext uri="{FF2B5EF4-FFF2-40B4-BE49-F238E27FC236}">
                  <a16:creationId xmlns:a16="http://schemas.microsoft.com/office/drawing/2014/main" id="{91010A87-49E8-FC36-2D6E-B129AF87C75F}"/>
                </a:ext>
              </a:extLst>
            </p:cNvPr>
            <p:cNvSpPr/>
            <p:nvPr/>
          </p:nvSpPr>
          <p:spPr>
            <a:xfrm>
              <a:off x="4238594" y="1109239"/>
              <a:ext cx="114981" cy="13639"/>
            </a:xfrm>
            <a:custGeom>
              <a:avLst/>
              <a:gdLst/>
              <a:ahLst/>
              <a:cxnLst/>
              <a:rect l="l" t="t" r="r" b="b"/>
              <a:pathLst>
                <a:path w="3035" h="360" extrusionOk="0">
                  <a:moveTo>
                    <a:pt x="198" y="1"/>
                  </a:moveTo>
                  <a:cubicBezTo>
                    <a:pt x="102" y="1"/>
                    <a:pt x="17" y="70"/>
                    <a:pt x="10" y="164"/>
                  </a:cubicBezTo>
                  <a:cubicBezTo>
                    <a:pt x="0" y="270"/>
                    <a:pt x="84" y="360"/>
                    <a:pt x="189" y="360"/>
                  </a:cubicBezTo>
                  <a:lnTo>
                    <a:pt x="2837" y="360"/>
                  </a:lnTo>
                  <a:cubicBezTo>
                    <a:pt x="2933" y="360"/>
                    <a:pt x="3018" y="291"/>
                    <a:pt x="3026" y="197"/>
                  </a:cubicBezTo>
                  <a:cubicBezTo>
                    <a:pt x="3034" y="90"/>
                    <a:pt x="2951" y="1"/>
                    <a:pt x="2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1">
              <a:extLst>
                <a:ext uri="{FF2B5EF4-FFF2-40B4-BE49-F238E27FC236}">
                  <a16:creationId xmlns:a16="http://schemas.microsoft.com/office/drawing/2014/main" id="{C5604B9A-6B1D-A2D1-F4A4-7CAFE973A11F}"/>
                </a:ext>
              </a:extLst>
            </p:cNvPr>
            <p:cNvSpPr/>
            <p:nvPr/>
          </p:nvSpPr>
          <p:spPr>
            <a:xfrm>
              <a:off x="4238139" y="1002442"/>
              <a:ext cx="54668" cy="49743"/>
            </a:xfrm>
            <a:custGeom>
              <a:avLst/>
              <a:gdLst/>
              <a:ahLst/>
              <a:cxnLst/>
              <a:rect l="l" t="t" r="r" b="b"/>
              <a:pathLst>
                <a:path w="1443" h="1313" extrusionOk="0">
                  <a:moveTo>
                    <a:pt x="1081" y="395"/>
                  </a:moveTo>
                  <a:lnTo>
                    <a:pt x="1081" y="951"/>
                  </a:lnTo>
                  <a:lnTo>
                    <a:pt x="360" y="951"/>
                  </a:lnTo>
                  <a:lnTo>
                    <a:pt x="360" y="395"/>
                  </a:lnTo>
                  <a:close/>
                  <a:moveTo>
                    <a:pt x="184" y="0"/>
                  </a:moveTo>
                  <a:cubicBezTo>
                    <a:pt x="81" y="0"/>
                    <a:pt x="1" y="84"/>
                    <a:pt x="1" y="188"/>
                  </a:cubicBezTo>
                  <a:lnTo>
                    <a:pt x="1" y="1128"/>
                  </a:lnTo>
                  <a:cubicBezTo>
                    <a:pt x="1" y="1230"/>
                    <a:pt x="82" y="1313"/>
                    <a:pt x="185" y="1313"/>
                  </a:cubicBezTo>
                  <a:lnTo>
                    <a:pt x="1258" y="1313"/>
                  </a:lnTo>
                  <a:cubicBezTo>
                    <a:pt x="1360" y="1313"/>
                    <a:pt x="1443" y="1230"/>
                    <a:pt x="1443" y="1128"/>
                  </a:cubicBezTo>
                  <a:lnTo>
                    <a:pt x="1443" y="186"/>
                  </a:lnTo>
                  <a:cubicBezTo>
                    <a:pt x="1443" y="83"/>
                    <a:pt x="1360" y="0"/>
                    <a:pt x="12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1">
              <a:extLst>
                <a:ext uri="{FF2B5EF4-FFF2-40B4-BE49-F238E27FC236}">
                  <a16:creationId xmlns:a16="http://schemas.microsoft.com/office/drawing/2014/main" id="{074FE7C5-D4EC-145D-D308-5C3E952587C8}"/>
                </a:ext>
              </a:extLst>
            </p:cNvPr>
            <p:cNvSpPr/>
            <p:nvPr/>
          </p:nvSpPr>
          <p:spPr>
            <a:xfrm>
              <a:off x="4300157" y="1002404"/>
              <a:ext cx="54706" cy="49743"/>
            </a:xfrm>
            <a:custGeom>
              <a:avLst/>
              <a:gdLst/>
              <a:ahLst/>
              <a:cxnLst/>
              <a:rect l="l" t="t" r="r" b="b"/>
              <a:pathLst>
                <a:path w="1444" h="1313" extrusionOk="0">
                  <a:moveTo>
                    <a:pt x="1084" y="396"/>
                  </a:moveTo>
                  <a:lnTo>
                    <a:pt x="1084" y="952"/>
                  </a:lnTo>
                  <a:lnTo>
                    <a:pt x="362" y="952"/>
                  </a:lnTo>
                  <a:lnTo>
                    <a:pt x="362" y="396"/>
                  </a:lnTo>
                  <a:close/>
                  <a:moveTo>
                    <a:pt x="186" y="0"/>
                  </a:moveTo>
                  <a:cubicBezTo>
                    <a:pt x="83" y="0"/>
                    <a:pt x="1" y="83"/>
                    <a:pt x="1" y="184"/>
                  </a:cubicBezTo>
                  <a:lnTo>
                    <a:pt x="1" y="1125"/>
                  </a:lnTo>
                  <a:cubicBezTo>
                    <a:pt x="1" y="1230"/>
                    <a:pt x="83" y="1312"/>
                    <a:pt x="184" y="1312"/>
                  </a:cubicBezTo>
                  <a:lnTo>
                    <a:pt x="1260" y="1312"/>
                  </a:lnTo>
                  <a:cubicBezTo>
                    <a:pt x="1361" y="1312"/>
                    <a:pt x="1444" y="1230"/>
                    <a:pt x="1444" y="1127"/>
                  </a:cubicBezTo>
                  <a:lnTo>
                    <a:pt x="1444" y="184"/>
                  </a:lnTo>
                  <a:cubicBezTo>
                    <a:pt x="1444" y="83"/>
                    <a:pt x="1361" y="0"/>
                    <a:pt x="12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0808B1AF-9457-3EA9-40FC-3A6AB26DF771}"/>
              </a:ext>
            </a:extLst>
          </p:cNvPr>
          <p:cNvPicPr>
            <a:picLocks noChangeAspect="1"/>
          </p:cNvPicPr>
          <p:nvPr/>
        </p:nvPicPr>
        <p:blipFill>
          <a:blip r:embed="rId3"/>
          <a:stretch>
            <a:fillRect/>
          </a:stretch>
        </p:blipFill>
        <p:spPr>
          <a:xfrm>
            <a:off x="722376" y="1234440"/>
            <a:ext cx="5303520" cy="1911178"/>
          </a:xfrm>
          <a:prstGeom prst="rect">
            <a:avLst/>
          </a:prstGeom>
        </p:spPr>
      </p:pic>
      <p:sp>
        <p:nvSpPr>
          <p:cNvPr id="7" name="TextBox 6">
            <a:extLst>
              <a:ext uri="{FF2B5EF4-FFF2-40B4-BE49-F238E27FC236}">
                <a16:creationId xmlns:a16="http://schemas.microsoft.com/office/drawing/2014/main" id="{2C2DB566-09B6-DC56-C519-45AF3766F5BB}"/>
              </a:ext>
            </a:extLst>
          </p:cNvPr>
          <p:cNvSpPr txBox="1"/>
          <p:nvPr/>
        </p:nvSpPr>
        <p:spPr>
          <a:xfrm>
            <a:off x="722376" y="3566160"/>
            <a:ext cx="5303520" cy="73152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Áp dụng để xem trên lý thuyết 1 lời giải có thể tốt đến đâu</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Gap = (Bound − Result) / Bound</a:t>
            </a:r>
          </a:p>
        </p:txBody>
      </p:sp>
    </p:spTree>
    <p:extLst>
      <p:ext uri="{BB962C8B-B14F-4D97-AF65-F5344CB8AC3E}">
        <p14:creationId xmlns:p14="http://schemas.microsoft.com/office/powerpoint/2010/main" val="284068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82"/>
        <p:cNvGrpSpPr/>
        <p:nvPr/>
      </p:nvGrpSpPr>
      <p:grpSpPr>
        <a:xfrm>
          <a:off x="0" y="0"/>
          <a:ext cx="0" cy="0"/>
          <a:chOff x="0" y="0"/>
          <a:chExt cx="0" cy="0"/>
        </a:xfrm>
      </p:grpSpPr>
      <p:sp>
        <p:nvSpPr>
          <p:cNvPr id="1483" name="Google Shape;1483;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03</a:t>
            </a:r>
          </a:p>
        </p:txBody>
      </p:sp>
      <p:sp>
        <p:nvSpPr>
          <p:cNvPr id="1484" name="Google Shape;1484;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Sample-scored block search và biến thể SBS-R</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l="16960" t="24719" r="7121" b="26177"/>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1" name="Google Shape;1491;p38"/>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Phương pháp</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8" name="Google Shape;1498;p38"/>
            <p:cNvPicPr preferRelativeResize="0"/>
            <p:nvPr/>
          </p:nvPicPr>
          <p:blipFill rotWithShape="1">
            <a:blip r:embed="rId3">
              <a:alphaModFix/>
            </a:blip>
            <a:srcRect l="16960" t="24719" r="7121" b="26177"/>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4" name="Google Shape;1524;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5" name="Google Shape;1525;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BE0C-EA90-23B1-383A-AFFAE9A7DFC3}"/>
              </a:ext>
            </a:extLst>
          </p:cNvPr>
          <p:cNvSpPr>
            <a:spLocks noGrp="1"/>
          </p:cNvSpPr>
          <p:nvPr>
            <p:ph type="title"/>
          </p:nvPr>
        </p:nvSpPr>
        <p:spPr>
          <a:xfrm>
            <a:off x="722376" y="448056"/>
            <a:ext cx="7708392" cy="576072"/>
          </a:xfrm>
        </p:spPr>
        <p:txBody>
          <a:bodyPr/>
          <a:lstStyle/>
          <a:p>
            <a:pPr algn="l"/>
            <a:r>
              <a:rPr lang="en-US"/>
              <a:t>BCD &amp; SCA (Huang et al)</a:t>
            </a:r>
          </a:p>
        </p:txBody>
      </p:sp>
      <p:pic>
        <p:nvPicPr>
          <p:cNvPr id="3" name="Picture 2" descr="A screenshot of a computer&#10;&#10;AI-generated content may be incorrect.">
            <a:extLst>
              <a:ext uri="{FF2B5EF4-FFF2-40B4-BE49-F238E27FC236}">
                <a16:creationId xmlns:a16="http://schemas.microsoft.com/office/drawing/2014/main" id="{6CC59864-80DF-9BE4-24A2-CE88BBD2F79C}"/>
              </a:ext>
            </a:extLst>
          </p:cNvPr>
          <p:cNvPicPr>
            <a:picLocks noChangeAspect="1"/>
          </p:cNvPicPr>
          <p:nvPr/>
        </p:nvPicPr>
        <p:blipFill>
          <a:blip r:embed="rId2"/>
          <a:srcRect r="48192" b="208"/>
          <a:stretch>
            <a:fillRect/>
          </a:stretch>
        </p:blipFill>
        <p:spPr>
          <a:xfrm>
            <a:off x="2203704" y="1143000"/>
            <a:ext cx="4736592" cy="2258568"/>
          </a:xfrm>
          <a:prstGeom prst="rect">
            <a:avLst/>
          </a:prstGeom>
        </p:spPr>
      </p:pic>
      <p:sp>
        <p:nvSpPr>
          <p:cNvPr id="5" name="Google Shape;1636;p41">
            <a:extLst>
              <a:ext uri="{FF2B5EF4-FFF2-40B4-BE49-F238E27FC236}">
                <a16:creationId xmlns:a16="http://schemas.microsoft.com/office/drawing/2014/main" id="{FA412118-F4AB-7798-4050-85840CF083C1}"/>
              </a:ext>
            </a:extLst>
          </p:cNvPr>
          <p:cNvSpPr txBox="1">
            <a:spLocks/>
          </p:cNvSpPr>
          <p:nvPr/>
        </p:nvSpPr>
        <p:spPr>
          <a:xfrm>
            <a:off x="722376" y="3474720"/>
            <a:ext cx="7708392" cy="10972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marL="164592" indent="-164592">
              <a:spcAft>
                <a:spcPts val="600"/>
              </a:spcAft>
              <a:buClr>
                <a:srgbClr val="EB9109"/>
              </a:buClr>
              <a:buSzPct val="100000"/>
              <a:buFont typeface="Arial"/>
              <a:buChar char="•"/>
            </a:pPr>
            <a:r>
              <a:rPr sz="1200" b="1" i="0">
                <a:solidFill>
                  <a:srgbClr val="1D1D1D"/>
                </a:solidFill>
                <a:latin typeface="Be Vietnam Pro"/>
                <a:ea typeface="Be Vietnam Pro"/>
                <a:cs typeface="Be Vietnam Pro"/>
                <a:sym typeface="Be Vietnam Pro"/>
              </a:rPr>
              <a:t>Ý tưởng BCD: </a:t>
            </a:r>
            <a:r>
              <a:rPr sz="1200" b="0" i="0">
                <a:solidFill>
                  <a:srgbClr val="1D1D1D"/>
                </a:solidFill>
                <a:latin typeface="Be Vietnam Pro"/>
                <a:ea typeface="Be Vietnam Pro"/>
                <a:cs typeface="Be Vietnam Pro"/>
                <a:sym typeface="Be Vietnam Pro"/>
              </a:rPr>
              <a:t>chia biến quyết định thành các khối riêng biệt và giải luân phiên các bài toán con</a:t>
            </a:r>
          </a:p>
          <a:p>
            <a:pPr algn="l" marL="164592" indent="-164592">
              <a:spcAft>
                <a:spcPts val="600"/>
              </a:spcAft>
              <a:buClr>
                <a:srgbClr val="EB9109"/>
              </a:buClr>
              <a:buSzPct val="100000"/>
              <a:buFont typeface="Arial"/>
              <a:buChar char="•"/>
            </a:pPr>
            <a:r>
              <a:rPr sz="1200" b="1" i="0">
                <a:solidFill>
                  <a:srgbClr val="1D1D1D"/>
                </a:solidFill>
                <a:latin typeface="Be Vietnam Pro"/>
                <a:ea typeface="Be Vietnam Pro"/>
                <a:cs typeface="Be Vietnam Pro"/>
                <a:sym typeface="Be Vietnam Pro"/>
              </a:rPr>
              <a:t>SCA: </a:t>
            </a:r>
            <a:r>
              <a:rPr sz="1200" b="0" i="0">
                <a:solidFill>
                  <a:srgbClr val="1D1D1D"/>
                </a:solidFill>
                <a:latin typeface="Be Vietnam Pro"/>
                <a:ea typeface="Be Vietnam Pro"/>
                <a:cs typeface="Be Vietnam Pro"/>
                <a:sym typeface="Be Vietnam Pro"/>
              </a:rPr>
              <a:t>xấp xỉ các thành phần non-convex bằng hàm convex → giải → lặp lại</a:t>
            </a:r>
          </a:p>
        </p:txBody>
      </p:sp>
    </p:spTree>
    <p:extLst>
      <p:ext uri="{BB962C8B-B14F-4D97-AF65-F5344CB8AC3E}">
        <p14:creationId xmlns:p14="http://schemas.microsoft.com/office/powerpoint/2010/main" val="3572776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sp>
        <p:nvSpPr>
          <p:cNvPr id="2199" name="Google Shape;2199;p57"/>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Vì sao không dùng SCA?</a:t>
            </a:r>
          </a:p>
        </p:txBody>
      </p:sp>
      <p:sp>
        <p:nvSpPr>
          <p:cNvPr id="2200" name="Google Shape;2200;p57"/>
          <p:cNvSpPr txBox="1"/>
          <p:nvPr/>
        </p:nvSpPr>
        <p:spPr>
          <a:xfrm>
            <a:off x="5830935" y="3330599"/>
            <a:ext cx="2204100" cy="454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Sampled design</a:t>
            </a:r>
          </a:p>
        </p:txBody>
      </p:sp>
      <p:sp>
        <p:nvSpPr>
          <p:cNvPr id="2201" name="Google Shape;2201;p57"/>
          <p:cNvSpPr txBox="1"/>
          <p:nvPr/>
        </p:nvSpPr>
        <p:spPr>
          <a:xfrm>
            <a:off x="3081075" y="3709040"/>
            <a:ext cx="2204100" cy="672900"/>
          </a:xfrm>
          <a:prstGeom prst="rect">
            <a:avLst/>
          </a:prstGeom>
          <a:noFill/>
          <a:ln>
            <a:noFill/>
          </a:ln>
        </p:spPr>
        <p:txBody>
          <a:bodyPr spcFirstLastPara="1" wrap="square" lIns="91425" tIns="91425" rIns="91425" bIns="91425" anchor="t" anchorCtr="0">
            <a:noAutofit/>
          </a:bodyPr>
          <a:lstStyle/>
          <a:p>
            <a:pPr>
              <a:lnSpc>
                <a:spcPct val="114999"/>
              </a:lnSpc>
            </a:pPr>
            <a:r>
              <a:rPr lang="vi-VN">
                <a:solidFill>
                  <a:schemeClr val="dk1"/>
                </a:solidFill>
                <a:latin typeface="Be Vietnam Pro"/>
                <a:sym typeface="Be Vietnam Pro"/>
              </a:rPr>
              <a:t>Thay cho xấp xỉ lồi hóa bài toán và giải</a:t>
            </a:r>
            <a:endParaRPr lang="en-US">
              <a:solidFill>
                <a:schemeClr val="dk1"/>
              </a:solidFill>
            </a:endParaRPr>
          </a:p>
        </p:txBody>
      </p:sp>
      <p:sp>
        <p:nvSpPr>
          <p:cNvPr id="2202" name="Google Shape;2202;p57"/>
          <p:cNvSpPr txBox="1"/>
          <p:nvPr/>
        </p:nvSpPr>
        <p:spPr>
          <a:xfrm>
            <a:off x="5830935" y="3709026"/>
            <a:ext cx="2204100" cy="672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Chấm trên M_d = 5 channel realizations</a:t>
            </a:r>
          </a:p>
        </p:txBody>
      </p:sp>
      <p:sp>
        <p:nvSpPr>
          <p:cNvPr id="2203" name="Google Shape;2203;p57"/>
          <p:cNvSpPr txBox="1"/>
          <p:nvPr/>
        </p:nvSpPr>
        <p:spPr>
          <a:xfrm>
            <a:off x="3081075" y="3330613"/>
            <a:ext cx="2204100" cy="454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Local search</a:t>
            </a:r>
          </a:p>
        </p:txBody>
      </p:sp>
      <p:sp>
        <p:nvSpPr>
          <p:cNvPr id="2204" name="Google Shape;2204;p57"/>
          <p:cNvSpPr txBox="1"/>
          <p:nvPr/>
        </p:nvSpPr>
        <p:spPr>
          <a:xfrm>
            <a:off x="1081300" y="1606525"/>
            <a:ext cx="1453800" cy="402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vi-VN" sz="2000" b="1">
                <a:solidFill>
                  <a:schemeClr val="dk1"/>
                </a:solidFill>
                <a:latin typeface="IBM Plex Mono"/>
                <a:ea typeface="IBM Plex Mono"/>
                <a:cs typeface="IBM Plex Mono"/>
                <a:sym typeface="IBM Plex Mono"/>
              </a:rPr>
              <a:t>Vấn đề</a:t>
            </a:r>
          </a:p>
        </p:txBody>
      </p:sp>
      <p:sp>
        <p:nvSpPr>
          <p:cNvPr id="2205" name="Google Shape;2205;p57"/>
          <p:cNvSpPr txBox="1"/>
          <p:nvPr/>
        </p:nvSpPr>
        <p:spPr>
          <a:xfrm>
            <a:off x="1081300" y="3631175"/>
            <a:ext cx="1453800" cy="402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vi-VN" sz="2000" b="1">
                <a:solidFill>
                  <a:schemeClr val="dk1"/>
                </a:solidFill>
                <a:latin typeface="IBM Plex Mono"/>
                <a:ea typeface="IBM Plex Mono"/>
                <a:cs typeface="IBM Plex Mono"/>
                <a:sym typeface="IBM Plex Mono"/>
              </a:rPr>
              <a:t>Giải pháp</a:t>
            </a:r>
          </a:p>
        </p:txBody>
      </p:sp>
      <p:cxnSp>
        <p:nvCxnSpPr>
          <p:cNvPr id="2206" name="Google Shape;2206;p57"/>
          <p:cNvCxnSpPr/>
          <p:nvPr/>
        </p:nvCxnSpPr>
        <p:spPr>
          <a:xfrm>
            <a:off x="1144100" y="2820300"/>
            <a:ext cx="6918600" cy="600"/>
          </a:xfrm>
          <a:prstGeom prst="bentConnector3">
            <a:avLst>
              <a:gd name="adj1" fmla="val 50000"/>
            </a:avLst>
          </a:prstGeom>
          <a:noFill/>
          <a:ln w="9525" cap="flat" cmpd="sng">
            <a:solidFill>
              <a:schemeClr val="lt2"/>
            </a:solidFill>
            <a:prstDash val="solid"/>
            <a:round/>
            <a:headEnd type="none" w="med" len="med"/>
            <a:tailEnd type="none" w="med" len="med"/>
          </a:ln>
        </p:spPr>
      </p:cxnSp>
      <p:sp>
        <p:nvSpPr>
          <p:cNvPr id="2207" name="Google Shape;2207;p57"/>
          <p:cNvSpPr txBox="1"/>
          <p:nvPr/>
        </p:nvSpPr>
        <p:spPr>
          <a:xfrm>
            <a:off x="5830935" y="1306074"/>
            <a:ext cx="2204100" cy="454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Đếm alert</a:t>
            </a:r>
          </a:p>
        </p:txBody>
      </p:sp>
      <p:sp>
        <p:nvSpPr>
          <p:cNvPr id="2208" name="Google Shape;2208;p57"/>
          <p:cNvSpPr txBox="1"/>
          <p:nvPr/>
        </p:nvSpPr>
        <p:spPr>
          <a:xfrm>
            <a:off x="3081075" y="1684390"/>
            <a:ext cx="2204100" cy="672900"/>
          </a:xfrm>
          <a:prstGeom prst="rect">
            <a:avLst/>
          </a:prstGeom>
          <a:noFill/>
          <a:ln>
            <a:noFill/>
          </a:ln>
        </p:spPr>
        <p:txBody>
          <a:bodyPr spcFirstLastPara="1" wrap="square" lIns="91425" tIns="91425" rIns="91425" bIns="91425" anchor="t" anchorCtr="0">
            <a:noAutofit/>
          </a:bodyPr>
          <a:lstStyle/>
          <a:p>
            <a:pPr>
              <a:lnSpc>
                <a:spcPct val="114999"/>
              </a:lnSpc>
            </a:pPr>
            <a:r>
              <a:rPr lang="vi-VN">
                <a:solidFill>
                  <a:schemeClr val="dk1"/>
                </a:solidFill>
                <a:latin typeface="Be Vietnam Pro"/>
                <a:sym typeface="Be Vietnam Pro"/>
              </a:rPr>
              <a:t>Trajectory và Path đã rời rạc</a:t>
            </a:r>
          </a:p>
          <a:p>
            <a:pPr>
              <a:lnSpc>
                <a:spcPct val="114999"/>
              </a:lnSpc>
            </a:pPr>
            <a:r>
              <a:rPr lang="vi-VN">
                <a:solidFill>
                  <a:schemeClr val="dk1"/>
                </a:solidFill>
                <a:latin typeface="Be Vietnam Pro"/>
              </a:rPr>
              <a:t>Bandwidth liên tục nhưng giới hạn bởi số link</a:t>
            </a:r>
          </a:p>
        </p:txBody>
      </p:sp>
      <p:sp>
        <p:nvSpPr>
          <p:cNvPr id="2209" name="Google Shape;2209;p57"/>
          <p:cNvSpPr txBox="1"/>
          <p:nvPr/>
        </p:nvSpPr>
        <p:spPr>
          <a:xfrm>
            <a:off x="5830935" y="1684376"/>
            <a:ext cx="2204100" cy="672900"/>
          </a:xfrm>
          <a:prstGeom prst="rect">
            <a:avLst/>
          </a:prstGeom>
          <a:noFill/>
          <a:ln>
            <a:noFill/>
          </a:ln>
        </p:spPr>
        <p:txBody>
          <a:bodyPr spcFirstLastPara="1" wrap="square" lIns="91425" tIns="91425" rIns="91425" bIns="91425" anchor="t" anchorCtr="0">
            <a:noAutofit/>
          </a:bodyPr>
          <a:lstStyle/>
          <a:p>
            <a:pPr>
              <a:lnSpc>
                <a:spcPct val="115000"/>
              </a:lnSpc>
            </a:pPr>
            <a:r>
              <a:rPr lang="vi-VN">
                <a:solidFill>
                  <a:schemeClr val="dk1"/>
                </a:solidFill>
                <a:latin typeface="Be Vietnam Pro"/>
                <a:ea typeface="Be Vietnam Pro"/>
                <a:cs typeface="Be Vietnam Pro"/>
                <a:sym typeface="Be Vietnam Pro"/>
              </a:rPr>
              <a:t>Số alert đúng hạn thay đổi gián đoạn, xác suất PrLoS để realize kênh không có xấp xỉ lồi</a:t>
            </a:r>
            <a:endParaRPr lang="en-US">
              <a:solidFill>
                <a:schemeClr val="dk1"/>
              </a:solidFill>
            </a:endParaRPr>
          </a:p>
        </p:txBody>
      </p:sp>
      <p:sp>
        <p:nvSpPr>
          <p:cNvPr id="2210" name="Google Shape;2210;p57"/>
          <p:cNvSpPr txBox="1"/>
          <p:nvPr/>
        </p:nvSpPr>
        <p:spPr>
          <a:xfrm>
            <a:off x="3081075" y="1306088"/>
            <a:ext cx="2204100" cy="454500"/>
          </a:xfrm>
          <a:prstGeom prst="rect">
            <a:avLst/>
          </a:prstGeom>
          <a:noFill/>
          <a:ln>
            <a:noFill/>
          </a:ln>
        </p:spPr>
        <p:txBody>
          <a:bodyPr spcFirstLastPara="1" wrap="square" lIns="91425" tIns="91425" rIns="91425" bIns="91425" anchor="b" anchorCtr="0">
            <a:noAutofit/>
          </a:bodyPr>
          <a:lstStyle/>
          <a:p>
            <a:pPr>
              <a:lnSpc>
                <a:spcPct val="114999"/>
              </a:lnSpc>
            </a:pPr>
            <a:r>
              <a:rPr lang="vi-VN" sz="1300" b="1">
                <a:solidFill>
                  <a:schemeClr val="dk1"/>
                </a:solidFill>
                <a:latin typeface="IBM Plex Mono"/>
                <a:sym typeface="IBM Plex Mono"/>
              </a:rPr>
              <a:t>Tính rời rạc</a:t>
            </a:r>
            <a:endParaRPr lang="en-US">
              <a:solidFill>
                <a:schemeClr val="dk1"/>
              </a:solidFill>
            </a:endParaRPr>
          </a:p>
        </p:txBody>
      </p:sp>
      <p:cxnSp>
        <p:nvCxnSpPr>
          <p:cNvPr id="2211" name="Google Shape;2211;p57"/>
          <p:cNvCxnSpPr>
            <a:stCxn id="2210" idx="1"/>
            <a:endCxn id="2203" idx="1"/>
          </p:cNvCxnSpPr>
          <p:nvPr/>
        </p:nvCxnSpPr>
        <p:spPr>
          <a:xfrm>
            <a:off x="3081075" y="1533338"/>
            <a:ext cx="600" cy="2024400"/>
          </a:xfrm>
          <a:prstGeom prst="bentConnector3">
            <a:avLst>
              <a:gd name="adj1" fmla="val -39687500"/>
            </a:avLst>
          </a:prstGeom>
          <a:noFill/>
          <a:ln w="9525" cap="flat" cmpd="sng">
            <a:solidFill>
              <a:schemeClr val="lt2"/>
            </a:solidFill>
            <a:prstDash val="solid"/>
            <a:round/>
            <a:headEnd type="oval" w="med" len="med"/>
            <a:tailEnd type="oval" w="med" len="med"/>
          </a:ln>
        </p:spPr>
      </p:cxnSp>
      <p:cxnSp>
        <p:nvCxnSpPr>
          <p:cNvPr id="2212" name="Google Shape;2212;p57"/>
          <p:cNvCxnSpPr>
            <a:stCxn id="2207" idx="1"/>
            <a:endCxn id="2200" idx="1"/>
          </p:cNvCxnSpPr>
          <p:nvPr/>
        </p:nvCxnSpPr>
        <p:spPr>
          <a:xfrm>
            <a:off x="5830935" y="1533324"/>
            <a:ext cx="600" cy="2024400"/>
          </a:xfrm>
          <a:prstGeom prst="bentConnector3">
            <a:avLst>
              <a:gd name="adj1" fmla="val -39687500"/>
            </a:avLst>
          </a:prstGeom>
          <a:noFill/>
          <a:ln w="9525" cap="flat" cmpd="sng">
            <a:solidFill>
              <a:schemeClr val="lt2"/>
            </a:solidFill>
            <a:prstDash val="solid"/>
            <a:round/>
            <a:headEnd type="oval" w="med" len="med"/>
            <a:tailEnd type="oval"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994A7-4EC3-B7A3-A42E-CF62CA645EE1}"/>
              </a:ext>
            </a:extLst>
          </p:cNvPr>
          <p:cNvSpPr>
            <a:spLocks noGrp="1"/>
          </p:cNvSpPr>
          <p:nvPr>
            <p:ph type="title"/>
          </p:nvPr>
        </p:nvSpPr>
        <p:spPr>
          <a:xfrm>
            <a:off x="722376" y="448056"/>
            <a:ext cx="7708392" cy="576072"/>
          </a:xfrm>
        </p:spPr>
        <p:txBody>
          <a:bodyPr/>
          <a:lstStyle/>
          <a:p>
            <a:pPr algn="l"/>
            <a:r>
              <a:rPr lang="en-US"/>
              <a:t>Sample-scored Block Search</a:t>
            </a:r>
          </a:p>
        </p:txBody>
      </p:sp>
      <p:pic>
        <p:nvPicPr>
          <p:cNvPr id="3" name="Picture 2" descr="A diagram of a block search&#10;&#10;AI-generated content may be incorrect.">
            <a:extLst>
              <a:ext uri="{FF2B5EF4-FFF2-40B4-BE49-F238E27FC236}">
                <a16:creationId xmlns:a16="http://schemas.microsoft.com/office/drawing/2014/main" id="{848DC945-B729-9437-3396-77277B9832AE}"/>
              </a:ext>
            </a:extLst>
          </p:cNvPr>
          <p:cNvPicPr>
            <a:picLocks noChangeAspect="1"/>
          </p:cNvPicPr>
          <p:nvPr/>
        </p:nvPicPr>
        <p:blipFill>
          <a:blip r:embed="rId2"/>
          <a:stretch>
            <a:fillRect/>
          </a:stretch>
        </p:blipFill>
        <p:spPr>
          <a:xfrm>
            <a:off x="3063240" y="1188720"/>
            <a:ext cx="5486400" cy="3211132"/>
          </a:xfrm>
          <a:prstGeom prst="rect">
            <a:avLst/>
          </a:prstGeom>
        </p:spPr>
      </p:pic>
      <p:sp>
        <p:nvSpPr>
          <p:cNvPr id="4" name="TextBox 3">
            <a:extLst>
              <a:ext uri="{FF2B5EF4-FFF2-40B4-BE49-F238E27FC236}">
                <a16:creationId xmlns:a16="http://schemas.microsoft.com/office/drawing/2014/main" id="{70F522B8-ECD1-CB40-FD10-396D2B6F90E7}"/>
              </a:ext>
            </a:extLst>
          </p:cNvPr>
          <p:cNvSpPr txBox="1"/>
          <p:nvPr/>
        </p:nvSpPr>
        <p:spPr>
          <a:xfrm>
            <a:off x="722376" y="1234440"/>
            <a:ext cx="2240280" cy="338328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164592" indent="-164592">
              <a:spcAft>
                <a:spcPts val="5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Bắt đầu từ 1 lời giải generate sẵn</a:t>
            </a:r>
          </a:p>
          <a:p>
            <a:pPr algn="l" marL="164592" indent="-164592">
              <a:spcAft>
                <a:spcPts val="1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Lặp 3–4 block:</a:t>
            </a:r>
          </a:p>
          <a:p>
            <a:pPr algn="l" marL="347472" indent="-164592">
              <a:spcAft>
                <a:spcPts val="100"/>
              </a:spcAft>
              <a:buClr>
                <a:srgbClr val="8208D5"/>
              </a:buClr>
              <a:buSzPct val="100000"/>
              <a:buFont typeface="Arial"/>
              <a:buChar char="–"/>
            </a:pPr>
            <a:r>
              <a:rPr sz="1100" b="0" i="0">
                <a:solidFill>
                  <a:srgbClr val="1D1D1D"/>
                </a:solidFill>
                <a:latin typeface="Be Vietnam Pro"/>
                <a:ea typeface="Be Vietnam Pro"/>
                <a:cs typeface="Be Vietnam Pro"/>
                <a:sym typeface="Be Vietnam Pro"/>
              </a:rPr>
              <a:t>Path</a:t>
            </a:r>
          </a:p>
          <a:p>
            <a:pPr algn="l" marL="347472" indent="-164592">
              <a:spcAft>
                <a:spcPts val="100"/>
              </a:spcAft>
              <a:buClr>
                <a:srgbClr val="8208D5"/>
              </a:buClr>
              <a:buSzPct val="100000"/>
              <a:buFont typeface="Arial"/>
              <a:buChar char="–"/>
            </a:pPr>
            <a:r>
              <a:rPr sz="1100" b="0" i="0">
                <a:solidFill>
                  <a:srgbClr val="1D1D1D"/>
                </a:solidFill>
                <a:latin typeface="Be Vietnam Pro"/>
                <a:ea typeface="Be Vietnam Pro"/>
                <a:cs typeface="Be Vietnam Pro"/>
                <a:sym typeface="Be Vietnam Pro"/>
              </a:rPr>
              <a:t>Bandwidth</a:t>
            </a:r>
          </a:p>
          <a:p>
            <a:pPr algn="l" marL="347472" indent="-164592">
              <a:spcAft>
                <a:spcPts val="100"/>
              </a:spcAft>
              <a:buClr>
                <a:srgbClr val="8208D5"/>
              </a:buClr>
              <a:buSzPct val="100000"/>
              <a:buFont typeface="Arial"/>
              <a:buChar char="–"/>
            </a:pPr>
            <a:r>
              <a:rPr sz="1100" b="0" i="0">
                <a:solidFill>
                  <a:srgbClr val="1D1D1D"/>
                </a:solidFill>
                <a:latin typeface="Be Vietnam Pro"/>
                <a:ea typeface="Be Vietnam Pro"/>
                <a:cs typeface="Be Vietnam Pro"/>
                <a:sym typeface="Be Vietnam Pro"/>
              </a:rPr>
              <a:t>Quỹ đạo</a:t>
            </a:r>
          </a:p>
          <a:p>
            <a:pPr algn="l" marL="347472" indent="-164592">
              <a:spcAft>
                <a:spcPts val="500"/>
              </a:spcAft>
              <a:buClr>
                <a:srgbClr val="8208D5"/>
              </a:buClr>
              <a:buSzPct val="100000"/>
              <a:buFont typeface="Arial"/>
              <a:buChar char="–"/>
            </a:pPr>
            <a:r>
              <a:rPr sz="1100" b="0" i="0">
                <a:solidFill>
                  <a:srgbClr val="1D1D1D"/>
                </a:solidFill>
                <a:latin typeface="Be Vietnam Pro"/>
                <a:ea typeface="Be Vietnam Pro"/>
                <a:cs typeface="Be Vietnam Pro"/>
                <a:sym typeface="Be Vietnam Pro"/>
              </a:rPr>
              <a:t>Repair (nếu có)</a:t>
            </a:r>
          </a:p>
          <a:p>
            <a:pPr algn="l" marL="164592" indent="-164592">
              <a:spcAft>
                <a:spcPts val="5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Mỗi block: generate một số lời giải mới từ lời giải hiện tại</a:t>
            </a:r>
          </a:p>
          <a:p>
            <a:pPr algn="l" marL="164592" indent="-164592">
              <a:spcAft>
                <a:spcPts val="5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Tổng số lời giải được sinh: budget E</a:t>
            </a:r>
          </a:p>
        </p:txBody>
      </p:sp>
    </p:spTree>
    <p:extLst>
      <p:ext uri="{BB962C8B-B14F-4D97-AF65-F5344CB8AC3E}">
        <p14:creationId xmlns:p14="http://schemas.microsoft.com/office/powerpoint/2010/main" val="878476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1D556-CC35-01A4-8220-5FA2722E1F2C}"/>
              </a:ext>
            </a:extLst>
          </p:cNvPr>
          <p:cNvSpPr>
            <a:spLocks noGrp="1"/>
          </p:cNvSpPr>
          <p:nvPr>
            <p:ph type="title"/>
          </p:nvPr>
        </p:nvSpPr>
        <p:spPr>
          <a:xfrm>
            <a:off x="722376" y="448056"/>
            <a:ext cx="7708392" cy="576072"/>
          </a:xfrm>
        </p:spPr>
        <p:txBody>
          <a:bodyPr/>
          <a:lstStyle/>
          <a:p>
            <a:pPr algn="l"/>
            <a:r>
              <a:rPr lang="en-US" err="1"/>
              <a:t>Lời</a:t>
            </a:r>
            <a:r>
              <a:rPr lang="en-US"/>
              <a:t> </a:t>
            </a:r>
            <a:r>
              <a:rPr lang="en-US" err="1"/>
              <a:t>giải</a:t>
            </a:r>
            <a:r>
              <a:rPr lang="en-US"/>
              <a:t> </a:t>
            </a:r>
            <a:r>
              <a:rPr lang="en-US" err="1"/>
              <a:t>đầu</a:t>
            </a:r>
            <a:r>
              <a:rPr lang="en-US"/>
              <a:t> </a:t>
            </a:r>
            <a:r>
              <a:rPr lang="en-US" err="1"/>
              <a:t>tiên</a:t>
            </a:r>
            <a:r>
              <a:rPr lang="en-US"/>
              <a:t>: Tập B1</a:t>
            </a:r>
          </a:p>
        </p:txBody>
      </p:sp>
      <p:sp>
        <p:nvSpPr>
          <p:cNvPr id="3" name="Oval 2">
            <a:extLst>
              <a:ext uri="{FF2B5EF4-FFF2-40B4-BE49-F238E27FC236}">
                <a16:creationId xmlns:a16="http://schemas.microsoft.com/office/drawing/2014/main" id="{3A2A6E8F-B603-D3D4-13A9-7FC9AEAB5577}"/>
              </a:ext>
            </a:extLst>
          </p:cNvPr>
          <p:cNvSpPr/>
          <p:nvPr/>
        </p:nvSpPr>
        <p:spPr>
          <a:xfrm>
            <a:off x="2401931" y="1471884"/>
            <a:ext cx="479599" cy="426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rgbClr val="FFFFFF"/>
                </a:solidFill>
                <a:latin typeface="Be Vietnam Pro"/>
                <a:ea typeface="Be Vietnam Pro"/>
                <a:cs typeface="Be Vietnam Pro"/>
                <a:sym typeface="Be Vietnam Pro"/>
              </a:rPr>
              <a:t>S1</a:t>
            </a:r>
          </a:p>
        </p:txBody>
      </p:sp>
      <p:sp>
        <p:nvSpPr>
          <p:cNvPr id="7" name="Oval 6">
            <a:extLst>
              <a:ext uri="{FF2B5EF4-FFF2-40B4-BE49-F238E27FC236}">
                <a16:creationId xmlns:a16="http://schemas.microsoft.com/office/drawing/2014/main" id="{55E04E6E-66E1-4047-28DA-6D23C5A52A35}"/>
              </a:ext>
            </a:extLst>
          </p:cNvPr>
          <p:cNvSpPr/>
          <p:nvPr/>
        </p:nvSpPr>
        <p:spPr>
          <a:xfrm>
            <a:off x="3138741" y="1122371"/>
            <a:ext cx="479599" cy="426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rgbClr val="FFFFFF"/>
                </a:solidFill>
                <a:latin typeface="Be Vietnam Pro"/>
                <a:ea typeface="Be Vietnam Pro"/>
                <a:cs typeface="Be Vietnam Pro"/>
                <a:sym typeface="Be Vietnam Pro"/>
              </a:rPr>
              <a:t>S2</a:t>
            </a:r>
          </a:p>
        </p:txBody>
      </p:sp>
      <p:sp>
        <p:nvSpPr>
          <p:cNvPr id="8" name="Oval 7">
            <a:extLst>
              <a:ext uri="{FF2B5EF4-FFF2-40B4-BE49-F238E27FC236}">
                <a16:creationId xmlns:a16="http://schemas.microsoft.com/office/drawing/2014/main" id="{DF8F0615-28B2-C281-4D25-61689922839D}"/>
              </a:ext>
            </a:extLst>
          </p:cNvPr>
          <p:cNvSpPr/>
          <p:nvPr/>
        </p:nvSpPr>
        <p:spPr>
          <a:xfrm>
            <a:off x="3615778" y="2255925"/>
            <a:ext cx="479599" cy="426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rgbClr val="FFFFFF"/>
                </a:solidFill>
                <a:latin typeface="Be Vietnam Pro"/>
                <a:ea typeface="Be Vietnam Pro"/>
                <a:cs typeface="Be Vietnam Pro"/>
                <a:sym typeface="Be Vietnam Pro"/>
              </a:rPr>
              <a:t>S3</a:t>
            </a:r>
          </a:p>
        </p:txBody>
      </p:sp>
      <p:sp>
        <p:nvSpPr>
          <p:cNvPr id="9" name="Oval 8">
            <a:extLst>
              <a:ext uri="{FF2B5EF4-FFF2-40B4-BE49-F238E27FC236}">
                <a16:creationId xmlns:a16="http://schemas.microsoft.com/office/drawing/2014/main" id="{9D7686C4-192E-E40F-5FE2-86A129987E4F}"/>
              </a:ext>
            </a:extLst>
          </p:cNvPr>
          <p:cNvSpPr/>
          <p:nvPr/>
        </p:nvSpPr>
        <p:spPr>
          <a:xfrm>
            <a:off x="6671649" y="1287681"/>
            <a:ext cx="479599" cy="426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rgbClr val="FFFFFF"/>
                </a:solidFill>
                <a:latin typeface="Be Vietnam Pro"/>
                <a:ea typeface="Be Vietnam Pro"/>
                <a:cs typeface="Be Vietnam Pro"/>
                <a:sym typeface="Be Vietnam Pro"/>
              </a:rPr>
              <a:t>S4</a:t>
            </a:r>
          </a:p>
        </p:txBody>
      </p:sp>
      <p:sp>
        <p:nvSpPr>
          <p:cNvPr id="10" name="Oval 9">
            <a:extLst>
              <a:ext uri="{FF2B5EF4-FFF2-40B4-BE49-F238E27FC236}">
                <a16:creationId xmlns:a16="http://schemas.microsoft.com/office/drawing/2014/main" id="{AF4ABC36-5419-F902-F451-1CCEEECA928F}"/>
              </a:ext>
            </a:extLst>
          </p:cNvPr>
          <p:cNvSpPr/>
          <p:nvPr/>
        </p:nvSpPr>
        <p:spPr>
          <a:xfrm>
            <a:off x="6355199" y="2043383"/>
            <a:ext cx="479599" cy="426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rgbClr val="FFFFFF"/>
                </a:solidFill>
                <a:latin typeface="Be Vietnam Pro"/>
                <a:ea typeface="Be Vietnam Pro"/>
                <a:cs typeface="Be Vietnam Pro"/>
                <a:sym typeface="Be Vietnam Pro"/>
              </a:rPr>
              <a:t>S5</a:t>
            </a:r>
          </a:p>
        </p:txBody>
      </p:sp>
      <p:sp>
        <p:nvSpPr>
          <p:cNvPr id="11" name="Oval 10">
            <a:extLst>
              <a:ext uri="{FF2B5EF4-FFF2-40B4-BE49-F238E27FC236}">
                <a16:creationId xmlns:a16="http://schemas.microsoft.com/office/drawing/2014/main" id="{B142859A-96C1-3FCD-68DF-B500970F08D9}"/>
              </a:ext>
            </a:extLst>
          </p:cNvPr>
          <p:cNvSpPr/>
          <p:nvPr/>
        </p:nvSpPr>
        <p:spPr>
          <a:xfrm>
            <a:off x="2258457" y="1124167"/>
            <a:ext cx="1940212" cy="17371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49F51D5-6616-A3CF-6497-A24B6C260F57}"/>
              </a:ext>
            </a:extLst>
          </p:cNvPr>
          <p:cNvSpPr/>
          <p:nvPr/>
        </p:nvSpPr>
        <p:spPr>
          <a:xfrm>
            <a:off x="5899998" y="1185568"/>
            <a:ext cx="1538746" cy="142538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ours.png">
            <a:extLst>
              <a:ext uri="{FF2B5EF4-FFF2-40B4-BE49-F238E27FC236}">
                <a16:creationId xmlns:a16="http://schemas.microsoft.com/office/drawing/2014/main" id="{13231607-CB49-A9DB-CA89-5D1CC3208EA0}"/>
              </a:ext>
            </a:extLst>
          </p:cNvPr>
          <p:cNvPicPr>
            <a:picLocks noChangeAspect="1"/>
          </p:cNvPicPr>
          <p:nvPr/>
        </p:nvPicPr>
        <p:blipFill>
          <a:blip r:embed="rId2"/>
          <a:srcRect l="45221" t="149" r="36558" b="87500"/>
          <a:stretch>
            <a:fillRect/>
          </a:stretch>
        </p:blipFill>
        <p:spPr>
          <a:xfrm>
            <a:off x="733754" y="2261736"/>
            <a:ext cx="1165176" cy="419666"/>
          </a:xfrm>
          <a:prstGeom prst="rect">
            <a:avLst/>
          </a:prstGeom>
        </p:spPr>
      </p:pic>
      <p:cxnSp>
        <p:nvCxnSpPr>
          <p:cNvPr id="17" name="Straight Arrow Connector 16">
            <a:extLst>
              <a:ext uri="{FF2B5EF4-FFF2-40B4-BE49-F238E27FC236}">
                <a16:creationId xmlns:a16="http://schemas.microsoft.com/office/drawing/2014/main" id="{99353750-0FA8-F3E4-E305-F60127D41FFF}"/>
              </a:ext>
            </a:extLst>
          </p:cNvPr>
          <p:cNvCxnSpPr/>
          <p:nvPr/>
        </p:nvCxnSpPr>
        <p:spPr>
          <a:xfrm flipV="1">
            <a:off x="1880575" y="1991090"/>
            <a:ext cx="1344349" cy="479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9BFC68A-99A3-26B9-E530-76725D754410}"/>
              </a:ext>
            </a:extLst>
          </p:cNvPr>
          <p:cNvCxnSpPr/>
          <p:nvPr/>
        </p:nvCxnSpPr>
        <p:spPr>
          <a:xfrm flipV="1">
            <a:off x="3224925" y="1874822"/>
            <a:ext cx="3437174" cy="116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E0D462D-83E5-A701-531E-E198CEF3EBE2}"/>
              </a:ext>
            </a:extLst>
          </p:cNvPr>
          <p:cNvSpPr txBox="1"/>
          <p:nvPr/>
        </p:nvSpPr>
        <p:spPr>
          <a:xfrm>
            <a:off x="722376" y="3017520"/>
            <a:ext cx="7708392" cy="173736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Phân cụm các alert bằng k-means (chọn k = 3)</a:t>
            </a:r>
          </a:p>
          <a:p>
            <a:pPr algn="l" marL="164592" indent="-164592">
              <a:spcAft>
                <a:spcPts val="1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Quỹ đạo: UAV bay đến tâm từng cụm và hover, ưu tiên quãng đường ngắn nhất</a:t>
            </a:r>
          </a:p>
          <a:p>
            <a:pPr algn="l" marL="347472" indent="-164592">
              <a:spcAft>
                <a:spcPts val="400"/>
              </a:spcAft>
              <a:buClr>
                <a:srgbClr val="8208D5"/>
              </a:buClr>
              <a:buSzPct val="100000"/>
              <a:buFont typeface="Arial"/>
              <a:buChar char="–"/>
            </a:pPr>
            <a:r>
              <a:rPr sz="1100" b="0" i="0">
                <a:solidFill>
                  <a:srgbClr val="1D1D1D"/>
                </a:solidFill>
                <a:latin typeface="Be Vietnam Pro"/>
                <a:ea typeface="Be Vietnam Pro"/>
                <a:cs typeface="Be Vietnam Pro"/>
                <a:sym typeface="Be Vietnam Pro"/>
              </a:rPr>
              <a:t>Thời gian hover chia theo Σ 1/(d − r)</a:t>
            </a:r>
          </a:p>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Bandwidth: chia đều cho tất cả các alert còn lại trong cùng thời điểm; downlink ưu tiên earliest deadline</a:t>
            </a:r>
          </a:p>
          <a:p>
            <a:pPr algn="l" marL="164592" indent="-164592">
              <a:spcAft>
                <a:spcPts val="400"/>
              </a:spcAft>
              <a:buClr>
                <a:srgbClr val="EB9109"/>
              </a:buClr>
              <a:buSzPct val="100000"/>
              <a:buFont typeface="Arial"/>
              <a:buChar char="•"/>
            </a:pPr>
            <a:r>
              <a:rPr sz="1100" b="0" i="0">
                <a:solidFill>
                  <a:srgbClr val="1D1D1D"/>
                </a:solidFill>
                <a:latin typeface="Be Vietnam Pro"/>
                <a:ea typeface="Be Vietnam Pro"/>
                <a:cs typeface="Be Vietnam Pro"/>
                <a:sym typeface="Be Vietnam Pro"/>
              </a:rPr>
              <a:t>Path: path ít hop nhất khi chỉ cho 1 alert đó chạy</a:t>
            </a:r>
          </a:p>
        </p:txBody>
      </p:sp>
      <p:sp>
        <p:nvSpPr>
          <p:cNvPr id="21" name="TextBox 20">
            <a:extLst>
              <a:ext uri="{FF2B5EF4-FFF2-40B4-BE49-F238E27FC236}">
                <a16:creationId xmlns:a16="http://schemas.microsoft.com/office/drawing/2014/main" id="{6973CF0D-5A17-0E85-8E94-5E181C5806E6}"/>
              </a:ext>
            </a:extLst>
          </p:cNvPr>
          <p:cNvSpPr txBox="1"/>
          <p:nvPr/>
        </p:nvSpPr>
        <p:spPr>
          <a:xfrm>
            <a:off x="4488970" y="2159677"/>
            <a:ext cx="135161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a:solidFill>
                  <a:srgbClr val="1D1D1D"/>
                </a:solidFill>
                <a:latin typeface="Be Vietnam Pro"/>
                <a:ea typeface="Be Vietnam Pro"/>
                <a:cs typeface="Be Vietnam Pro"/>
                <a:sym typeface="Be Vietnam Pro"/>
              </a:rPr>
              <a:t>Clustering</a:t>
            </a:r>
          </a:p>
        </p:txBody>
      </p:sp>
    </p:spTree>
    <p:extLst>
      <p:ext uri="{BB962C8B-B14F-4D97-AF65-F5344CB8AC3E}">
        <p14:creationId xmlns:p14="http://schemas.microsoft.com/office/powerpoint/2010/main" val="4213044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25"/>
        <p:cNvGrpSpPr/>
        <p:nvPr/>
      </p:nvGrpSpPr>
      <p:grpSpPr>
        <a:xfrm>
          <a:off x="0" y="0"/>
          <a:ext cx="0" cy="0"/>
          <a:chOff x="0" y="0"/>
          <a:chExt cx="0" cy="0"/>
        </a:xfrm>
      </p:grpSpPr>
      <p:sp>
        <p:nvSpPr>
          <p:cNvPr id="2226" name="Google Shape;2226;p59"/>
          <p:cNvSpPr/>
          <p:nvPr/>
        </p:nvSpPr>
        <p:spPr>
          <a:xfrm>
            <a:off x="3189965" y="2205250"/>
            <a:ext cx="729900" cy="5727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9"/>
          <p:cNvSpPr/>
          <p:nvPr/>
        </p:nvSpPr>
        <p:spPr>
          <a:xfrm>
            <a:off x="1155800" y="2205250"/>
            <a:ext cx="729900" cy="5727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59"/>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SBS: Sample-scored Block Search</a:t>
            </a:r>
          </a:p>
        </p:txBody>
      </p:sp>
      <p:grpSp>
        <p:nvGrpSpPr>
          <p:cNvPr id="2229" name="Google Shape;2229;p59"/>
          <p:cNvGrpSpPr/>
          <p:nvPr/>
        </p:nvGrpSpPr>
        <p:grpSpPr>
          <a:xfrm>
            <a:off x="3423378" y="2320987"/>
            <a:ext cx="263073" cy="341227"/>
            <a:chOff x="2390298" y="2185817"/>
            <a:chExt cx="367522" cy="476707"/>
          </a:xfrm>
        </p:grpSpPr>
        <p:sp>
          <p:nvSpPr>
            <p:cNvPr id="2230" name="Google Shape;2230;p59"/>
            <p:cNvSpPr/>
            <p:nvPr/>
          </p:nvSpPr>
          <p:spPr>
            <a:xfrm>
              <a:off x="2390298" y="2185817"/>
              <a:ext cx="367522" cy="476707"/>
            </a:xfrm>
            <a:custGeom>
              <a:avLst/>
              <a:gdLst/>
              <a:ahLst/>
              <a:cxnLst/>
              <a:rect l="l" t="t" r="r" b="b"/>
              <a:pathLst>
                <a:path w="9701" h="12583" extrusionOk="0">
                  <a:moveTo>
                    <a:pt x="7636" y="669"/>
                  </a:moveTo>
                  <a:lnTo>
                    <a:pt x="9113" y="2360"/>
                  </a:lnTo>
                  <a:lnTo>
                    <a:pt x="7636" y="2360"/>
                  </a:lnTo>
                  <a:lnTo>
                    <a:pt x="7636" y="669"/>
                  </a:lnTo>
                  <a:close/>
                  <a:moveTo>
                    <a:pt x="903" y="0"/>
                  </a:moveTo>
                  <a:cubicBezTo>
                    <a:pt x="803" y="0"/>
                    <a:pt x="721" y="82"/>
                    <a:pt x="721" y="183"/>
                  </a:cubicBezTo>
                  <a:lnTo>
                    <a:pt x="721" y="1288"/>
                  </a:lnTo>
                  <a:cubicBezTo>
                    <a:pt x="721" y="1375"/>
                    <a:pt x="779" y="1455"/>
                    <a:pt x="866" y="1473"/>
                  </a:cubicBezTo>
                  <a:cubicBezTo>
                    <a:pt x="878" y="1476"/>
                    <a:pt x="891" y="1477"/>
                    <a:pt x="903" y="1477"/>
                  </a:cubicBezTo>
                  <a:cubicBezTo>
                    <a:pt x="1002" y="1477"/>
                    <a:pt x="1083" y="1394"/>
                    <a:pt x="1083" y="1293"/>
                  </a:cubicBezTo>
                  <a:lnTo>
                    <a:pt x="1083" y="361"/>
                  </a:lnTo>
                  <a:lnTo>
                    <a:pt x="7276" y="361"/>
                  </a:lnTo>
                  <a:lnTo>
                    <a:pt x="7276" y="2567"/>
                  </a:lnTo>
                  <a:cubicBezTo>
                    <a:pt x="7276" y="2670"/>
                    <a:pt x="7357" y="2751"/>
                    <a:pt x="7459" y="2751"/>
                  </a:cubicBezTo>
                  <a:lnTo>
                    <a:pt x="9339" y="2751"/>
                  </a:lnTo>
                  <a:lnTo>
                    <a:pt x="9339" y="12221"/>
                  </a:lnTo>
                  <a:lnTo>
                    <a:pt x="1082" y="12221"/>
                  </a:lnTo>
                  <a:lnTo>
                    <a:pt x="1082" y="10418"/>
                  </a:lnTo>
                  <a:lnTo>
                    <a:pt x="7450" y="10418"/>
                  </a:lnTo>
                  <a:cubicBezTo>
                    <a:pt x="7553" y="10418"/>
                    <a:pt x="7634" y="10337"/>
                    <a:pt x="7634" y="10235"/>
                  </a:cubicBezTo>
                  <a:lnTo>
                    <a:pt x="7634" y="6639"/>
                  </a:lnTo>
                  <a:cubicBezTo>
                    <a:pt x="7634" y="6537"/>
                    <a:pt x="7553" y="6456"/>
                    <a:pt x="7453" y="6456"/>
                  </a:cubicBezTo>
                  <a:lnTo>
                    <a:pt x="6677" y="6456"/>
                  </a:lnTo>
                  <a:cubicBezTo>
                    <a:pt x="6581" y="6456"/>
                    <a:pt x="6496" y="6525"/>
                    <a:pt x="6489" y="6620"/>
                  </a:cubicBezTo>
                  <a:cubicBezTo>
                    <a:pt x="6480" y="6728"/>
                    <a:pt x="6563" y="6817"/>
                    <a:pt x="6668" y="6817"/>
                  </a:cubicBezTo>
                  <a:lnTo>
                    <a:pt x="7274" y="6817"/>
                  </a:lnTo>
                  <a:lnTo>
                    <a:pt x="7274" y="10060"/>
                  </a:lnTo>
                  <a:lnTo>
                    <a:pt x="362" y="10060"/>
                  </a:lnTo>
                  <a:lnTo>
                    <a:pt x="362" y="6817"/>
                  </a:lnTo>
                  <a:lnTo>
                    <a:pt x="5811" y="6817"/>
                  </a:lnTo>
                  <a:cubicBezTo>
                    <a:pt x="5811" y="6817"/>
                    <a:pt x="5997" y="6731"/>
                    <a:pt x="5997" y="6629"/>
                  </a:cubicBezTo>
                  <a:cubicBezTo>
                    <a:pt x="5997" y="6531"/>
                    <a:pt x="5922" y="6454"/>
                    <a:pt x="5826" y="6454"/>
                  </a:cubicBezTo>
                  <a:cubicBezTo>
                    <a:pt x="5821" y="6454"/>
                    <a:pt x="5816" y="6454"/>
                    <a:pt x="5811" y="6454"/>
                  </a:cubicBezTo>
                  <a:lnTo>
                    <a:pt x="1083" y="6454"/>
                  </a:lnTo>
                  <a:lnTo>
                    <a:pt x="1083" y="2141"/>
                  </a:lnTo>
                  <a:cubicBezTo>
                    <a:pt x="1093" y="2039"/>
                    <a:pt x="1011" y="1958"/>
                    <a:pt x="909" y="1958"/>
                  </a:cubicBezTo>
                  <a:cubicBezTo>
                    <a:pt x="807" y="1958"/>
                    <a:pt x="721" y="2141"/>
                    <a:pt x="721" y="2141"/>
                  </a:cubicBezTo>
                  <a:lnTo>
                    <a:pt x="721" y="6454"/>
                  </a:lnTo>
                  <a:lnTo>
                    <a:pt x="185" y="6454"/>
                  </a:lnTo>
                  <a:cubicBezTo>
                    <a:pt x="82" y="6454"/>
                    <a:pt x="1" y="6537"/>
                    <a:pt x="1" y="6640"/>
                  </a:cubicBezTo>
                  <a:lnTo>
                    <a:pt x="1" y="10235"/>
                  </a:lnTo>
                  <a:cubicBezTo>
                    <a:pt x="1" y="10338"/>
                    <a:pt x="82" y="10421"/>
                    <a:pt x="185" y="10421"/>
                  </a:cubicBezTo>
                  <a:lnTo>
                    <a:pt x="721" y="10421"/>
                  </a:lnTo>
                  <a:lnTo>
                    <a:pt x="721" y="12399"/>
                  </a:lnTo>
                  <a:cubicBezTo>
                    <a:pt x="721" y="12501"/>
                    <a:pt x="804" y="12582"/>
                    <a:pt x="905" y="12582"/>
                  </a:cubicBezTo>
                  <a:lnTo>
                    <a:pt x="9514" y="12582"/>
                  </a:lnTo>
                  <a:cubicBezTo>
                    <a:pt x="9616" y="12582"/>
                    <a:pt x="9697" y="12500"/>
                    <a:pt x="9697" y="12399"/>
                  </a:cubicBezTo>
                  <a:lnTo>
                    <a:pt x="9697" y="2551"/>
                  </a:lnTo>
                  <a:cubicBezTo>
                    <a:pt x="9700" y="2507"/>
                    <a:pt x="9684" y="2463"/>
                    <a:pt x="9654" y="2429"/>
                  </a:cubicBezTo>
                  <a:lnTo>
                    <a:pt x="7589" y="63"/>
                  </a:lnTo>
                  <a:cubicBezTo>
                    <a:pt x="7553" y="22"/>
                    <a:pt x="7503" y="0"/>
                    <a:pt x="74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59"/>
            <p:cNvSpPr/>
            <p:nvPr/>
          </p:nvSpPr>
          <p:spPr>
            <a:xfrm>
              <a:off x="2424811" y="2463287"/>
              <a:ext cx="71603" cy="83650"/>
            </a:xfrm>
            <a:custGeom>
              <a:avLst/>
              <a:gdLst/>
              <a:ahLst/>
              <a:cxnLst/>
              <a:rect l="l" t="t" r="r" b="b"/>
              <a:pathLst>
                <a:path w="1890" h="2208" extrusionOk="0">
                  <a:moveTo>
                    <a:pt x="1104" y="1"/>
                  </a:moveTo>
                  <a:cubicBezTo>
                    <a:pt x="495" y="1"/>
                    <a:pt x="1" y="495"/>
                    <a:pt x="1" y="1103"/>
                  </a:cubicBezTo>
                  <a:cubicBezTo>
                    <a:pt x="1" y="1713"/>
                    <a:pt x="495" y="2207"/>
                    <a:pt x="1104" y="2207"/>
                  </a:cubicBezTo>
                  <a:cubicBezTo>
                    <a:pt x="1347" y="2207"/>
                    <a:pt x="1562" y="2128"/>
                    <a:pt x="1731" y="1978"/>
                  </a:cubicBezTo>
                  <a:cubicBezTo>
                    <a:pt x="1764" y="1950"/>
                    <a:pt x="1795" y="1916"/>
                    <a:pt x="1824" y="1883"/>
                  </a:cubicBezTo>
                  <a:cubicBezTo>
                    <a:pt x="1889" y="1805"/>
                    <a:pt x="1879" y="1689"/>
                    <a:pt x="1802" y="1624"/>
                  </a:cubicBezTo>
                  <a:cubicBezTo>
                    <a:pt x="1768" y="1595"/>
                    <a:pt x="1726" y="1580"/>
                    <a:pt x="1684" y="1580"/>
                  </a:cubicBezTo>
                  <a:cubicBezTo>
                    <a:pt x="1632" y="1580"/>
                    <a:pt x="1579" y="1603"/>
                    <a:pt x="1543" y="1646"/>
                  </a:cubicBezTo>
                  <a:cubicBezTo>
                    <a:pt x="1526" y="1667"/>
                    <a:pt x="1506" y="1687"/>
                    <a:pt x="1486" y="1704"/>
                  </a:cubicBezTo>
                  <a:cubicBezTo>
                    <a:pt x="1385" y="1794"/>
                    <a:pt x="1256" y="1840"/>
                    <a:pt x="1104" y="1840"/>
                  </a:cubicBezTo>
                  <a:cubicBezTo>
                    <a:pt x="698" y="1840"/>
                    <a:pt x="368" y="1510"/>
                    <a:pt x="368" y="1103"/>
                  </a:cubicBezTo>
                  <a:cubicBezTo>
                    <a:pt x="368" y="698"/>
                    <a:pt x="698" y="368"/>
                    <a:pt x="1104" y="368"/>
                  </a:cubicBezTo>
                  <a:cubicBezTo>
                    <a:pt x="1252" y="368"/>
                    <a:pt x="1394" y="411"/>
                    <a:pt x="1515" y="494"/>
                  </a:cubicBezTo>
                  <a:cubicBezTo>
                    <a:pt x="1547" y="515"/>
                    <a:pt x="1583" y="525"/>
                    <a:pt x="1618" y="525"/>
                  </a:cubicBezTo>
                  <a:cubicBezTo>
                    <a:pt x="1678" y="525"/>
                    <a:pt x="1736" y="497"/>
                    <a:pt x="1771" y="444"/>
                  </a:cubicBezTo>
                  <a:cubicBezTo>
                    <a:pt x="1826" y="360"/>
                    <a:pt x="1805" y="245"/>
                    <a:pt x="1721" y="189"/>
                  </a:cubicBezTo>
                  <a:cubicBezTo>
                    <a:pt x="1538" y="66"/>
                    <a:pt x="1326" y="1"/>
                    <a:pt x="1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59"/>
            <p:cNvSpPr/>
            <p:nvPr/>
          </p:nvSpPr>
          <p:spPr>
            <a:xfrm>
              <a:off x="2509750" y="2463287"/>
              <a:ext cx="61260" cy="83612"/>
            </a:xfrm>
            <a:custGeom>
              <a:avLst/>
              <a:gdLst/>
              <a:ahLst/>
              <a:cxnLst/>
              <a:rect l="l" t="t" r="r" b="b"/>
              <a:pathLst>
                <a:path w="1617" h="2207" extrusionOk="0">
                  <a:moveTo>
                    <a:pt x="817" y="0"/>
                  </a:moveTo>
                  <a:cubicBezTo>
                    <a:pt x="738" y="0"/>
                    <a:pt x="654" y="11"/>
                    <a:pt x="567" y="37"/>
                  </a:cubicBezTo>
                  <a:cubicBezTo>
                    <a:pt x="329" y="107"/>
                    <a:pt x="164" y="294"/>
                    <a:pt x="130" y="521"/>
                  </a:cubicBezTo>
                  <a:cubicBezTo>
                    <a:pt x="60" y="1019"/>
                    <a:pt x="577" y="1155"/>
                    <a:pt x="942" y="1290"/>
                  </a:cubicBezTo>
                  <a:cubicBezTo>
                    <a:pt x="1135" y="1360"/>
                    <a:pt x="1234" y="1470"/>
                    <a:pt x="1213" y="1590"/>
                  </a:cubicBezTo>
                  <a:cubicBezTo>
                    <a:pt x="1189" y="1714"/>
                    <a:pt x="1045" y="1840"/>
                    <a:pt x="844" y="1840"/>
                  </a:cubicBezTo>
                  <a:cubicBezTo>
                    <a:pt x="650" y="1840"/>
                    <a:pt x="460" y="1759"/>
                    <a:pt x="341" y="1627"/>
                  </a:cubicBezTo>
                  <a:cubicBezTo>
                    <a:pt x="304" y="1587"/>
                    <a:pt x="254" y="1567"/>
                    <a:pt x="204" y="1567"/>
                  </a:cubicBezTo>
                  <a:cubicBezTo>
                    <a:pt x="160" y="1567"/>
                    <a:pt x="116" y="1583"/>
                    <a:pt x="81" y="1615"/>
                  </a:cubicBezTo>
                  <a:cubicBezTo>
                    <a:pt x="6" y="1683"/>
                    <a:pt x="0" y="1799"/>
                    <a:pt x="67" y="1873"/>
                  </a:cubicBezTo>
                  <a:cubicBezTo>
                    <a:pt x="257" y="2082"/>
                    <a:pt x="547" y="2206"/>
                    <a:pt x="845" y="2206"/>
                  </a:cubicBezTo>
                  <a:cubicBezTo>
                    <a:pt x="1205" y="2206"/>
                    <a:pt x="1519" y="1969"/>
                    <a:pt x="1574" y="1656"/>
                  </a:cubicBezTo>
                  <a:cubicBezTo>
                    <a:pt x="1616" y="1418"/>
                    <a:pt x="1506" y="1107"/>
                    <a:pt x="1070" y="945"/>
                  </a:cubicBezTo>
                  <a:cubicBezTo>
                    <a:pt x="836" y="858"/>
                    <a:pt x="619" y="766"/>
                    <a:pt x="562" y="740"/>
                  </a:cubicBezTo>
                  <a:cubicBezTo>
                    <a:pt x="510" y="700"/>
                    <a:pt x="485" y="641"/>
                    <a:pt x="495" y="573"/>
                  </a:cubicBezTo>
                  <a:cubicBezTo>
                    <a:pt x="506" y="488"/>
                    <a:pt x="573" y="420"/>
                    <a:pt x="673" y="389"/>
                  </a:cubicBezTo>
                  <a:cubicBezTo>
                    <a:pt x="721" y="375"/>
                    <a:pt x="769" y="369"/>
                    <a:pt x="815" y="369"/>
                  </a:cubicBezTo>
                  <a:cubicBezTo>
                    <a:pt x="1037" y="369"/>
                    <a:pt x="1215" y="510"/>
                    <a:pt x="1221" y="515"/>
                  </a:cubicBezTo>
                  <a:cubicBezTo>
                    <a:pt x="1255" y="543"/>
                    <a:pt x="1297" y="557"/>
                    <a:pt x="1338" y="557"/>
                  </a:cubicBezTo>
                  <a:cubicBezTo>
                    <a:pt x="1391" y="557"/>
                    <a:pt x="1443" y="535"/>
                    <a:pt x="1479" y="491"/>
                  </a:cubicBezTo>
                  <a:cubicBezTo>
                    <a:pt x="1544" y="414"/>
                    <a:pt x="1533" y="297"/>
                    <a:pt x="1457" y="232"/>
                  </a:cubicBezTo>
                  <a:cubicBezTo>
                    <a:pt x="1442" y="220"/>
                    <a:pt x="1176" y="0"/>
                    <a:pt x="8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9"/>
            <p:cNvSpPr/>
            <p:nvPr/>
          </p:nvSpPr>
          <p:spPr>
            <a:xfrm>
              <a:off x="2585179" y="2463287"/>
              <a:ext cx="61260" cy="83574"/>
            </a:xfrm>
            <a:custGeom>
              <a:avLst/>
              <a:gdLst/>
              <a:ahLst/>
              <a:cxnLst/>
              <a:rect l="l" t="t" r="r" b="b"/>
              <a:pathLst>
                <a:path w="1617" h="2206" extrusionOk="0">
                  <a:moveTo>
                    <a:pt x="814" y="0"/>
                  </a:moveTo>
                  <a:cubicBezTo>
                    <a:pt x="735" y="0"/>
                    <a:pt x="651" y="11"/>
                    <a:pt x="564" y="37"/>
                  </a:cubicBezTo>
                  <a:cubicBezTo>
                    <a:pt x="327" y="107"/>
                    <a:pt x="160" y="294"/>
                    <a:pt x="128" y="521"/>
                  </a:cubicBezTo>
                  <a:cubicBezTo>
                    <a:pt x="58" y="1019"/>
                    <a:pt x="575" y="1155"/>
                    <a:pt x="940" y="1290"/>
                  </a:cubicBezTo>
                  <a:cubicBezTo>
                    <a:pt x="1133" y="1362"/>
                    <a:pt x="1232" y="1472"/>
                    <a:pt x="1211" y="1590"/>
                  </a:cubicBezTo>
                  <a:cubicBezTo>
                    <a:pt x="1189" y="1713"/>
                    <a:pt x="1045" y="1839"/>
                    <a:pt x="844" y="1839"/>
                  </a:cubicBezTo>
                  <a:cubicBezTo>
                    <a:pt x="650" y="1839"/>
                    <a:pt x="461" y="1758"/>
                    <a:pt x="341" y="1626"/>
                  </a:cubicBezTo>
                  <a:cubicBezTo>
                    <a:pt x="304" y="1586"/>
                    <a:pt x="254" y="1566"/>
                    <a:pt x="204" y="1566"/>
                  </a:cubicBezTo>
                  <a:cubicBezTo>
                    <a:pt x="160" y="1566"/>
                    <a:pt x="116" y="1582"/>
                    <a:pt x="81" y="1613"/>
                  </a:cubicBezTo>
                  <a:cubicBezTo>
                    <a:pt x="6" y="1682"/>
                    <a:pt x="0" y="1798"/>
                    <a:pt x="68" y="1872"/>
                  </a:cubicBezTo>
                  <a:cubicBezTo>
                    <a:pt x="257" y="2081"/>
                    <a:pt x="547" y="2205"/>
                    <a:pt x="845" y="2205"/>
                  </a:cubicBezTo>
                  <a:cubicBezTo>
                    <a:pt x="1206" y="2205"/>
                    <a:pt x="1519" y="1967"/>
                    <a:pt x="1574" y="1655"/>
                  </a:cubicBezTo>
                  <a:cubicBezTo>
                    <a:pt x="1616" y="1417"/>
                    <a:pt x="1506" y="1106"/>
                    <a:pt x="1070" y="944"/>
                  </a:cubicBezTo>
                  <a:cubicBezTo>
                    <a:pt x="836" y="857"/>
                    <a:pt x="619" y="763"/>
                    <a:pt x="562" y="739"/>
                  </a:cubicBezTo>
                  <a:cubicBezTo>
                    <a:pt x="510" y="699"/>
                    <a:pt x="485" y="639"/>
                    <a:pt x="495" y="572"/>
                  </a:cubicBezTo>
                  <a:cubicBezTo>
                    <a:pt x="504" y="489"/>
                    <a:pt x="571" y="420"/>
                    <a:pt x="670" y="389"/>
                  </a:cubicBezTo>
                  <a:cubicBezTo>
                    <a:pt x="719" y="375"/>
                    <a:pt x="767" y="369"/>
                    <a:pt x="813" y="369"/>
                  </a:cubicBezTo>
                  <a:cubicBezTo>
                    <a:pt x="1035" y="369"/>
                    <a:pt x="1213" y="510"/>
                    <a:pt x="1218" y="515"/>
                  </a:cubicBezTo>
                  <a:cubicBezTo>
                    <a:pt x="1252" y="543"/>
                    <a:pt x="1294" y="557"/>
                    <a:pt x="1336" y="557"/>
                  </a:cubicBezTo>
                  <a:cubicBezTo>
                    <a:pt x="1389" y="557"/>
                    <a:pt x="1441" y="535"/>
                    <a:pt x="1477" y="491"/>
                  </a:cubicBezTo>
                  <a:cubicBezTo>
                    <a:pt x="1542" y="414"/>
                    <a:pt x="1531" y="297"/>
                    <a:pt x="1454" y="232"/>
                  </a:cubicBezTo>
                  <a:cubicBezTo>
                    <a:pt x="1440" y="220"/>
                    <a:pt x="1174" y="0"/>
                    <a:pt x="8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4" name="Google Shape;2234;p59"/>
          <p:cNvSpPr/>
          <p:nvPr/>
        </p:nvSpPr>
        <p:spPr>
          <a:xfrm>
            <a:off x="5418484" y="2343233"/>
            <a:ext cx="341157" cy="296773"/>
          </a:xfrm>
          <a:custGeom>
            <a:avLst/>
            <a:gdLst/>
            <a:ahLst/>
            <a:cxnLst/>
            <a:rect l="l" t="t" r="r" b="b"/>
            <a:pathLst>
              <a:path w="12583" h="10946" extrusionOk="0">
                <a:moveTo>
                  <a:pt x="8192" y="362"/>
                </a:moveTo>
                <a:lnTo>
                  <a:pt x="8192" y="1770"/>
                </a:lnTo>
                <a:lnTo>
                  <a:pt x="4391" y="1770"/>
                </a:lnTo>
                <a:lnTo>
                  <a:pt x="4391" y="362"/>
                </a:lnTo>
                <a:close/>
                <a:moveTo>
                  <a:pt x="4097" y="5671"/>
                </a:moveTo>
                <a:lnTo>
                  <a:pt x="4097" y="6425"/>
                </a:lnTo>
                <a:lnTo>
                  <a:pt x="1836" y="6425"/>
                </a:lnTo>
                <a:lnTo>
                  <a:pt x="1836" y="5671"/>
                </a:lnTo>
                <a:close/>
                <a:moveTo>
                  <a:pt x="10715" y="5671"/>
                </a:moveTo>
                <a:lnTo>
                  <a:pt x="10715" y="6425"/>
                </a:lnTo>
                <a:lnTo>
                  <a:pt x="8454" y="6425"/>
                </a:lnTo>
                <a:lnTo>
                  <a:pt x="8454" y="5671"/>
                </a:lnTo>
                <a:close/>
                <a:moveTo>
                  <a:pt x="11307" y="1670"/>
                </a:moveTo>
                <a:cubicBezTo>
                  <a:pt x="11341" y="1670"/>
                  <a:pt x="11371" y="1698"/>
                  <a:pt x="11371" y="1734"/>
                </a:cubicBezTo>
                <a:lnTo>
                  <a:pt x="11371" y="7568"/>
                </a:lnTo>
                <a:lnTo>
                  <a:pt x="1181" y="7568"/>
                </a:lnTo>
                <a:lnTo>
                  <a:pt x="1181" y="1734"/>
                </a:lnTo>
                <a:cubicBezTo>
                  <a:pt x="1181" y="1698"/>
                  <a:pt x="1209" y="1670"/>
                  <a:pt x="1245" y="1670"/>
                </a:cubicBezTo>
                <a:lnTo>
                  <a:pt x="3999" y="1670"/>
                </a:lnTo>
                <a:lnTo>
                  <a:pt x="3999" y="1942"/>
                </a:lnTo>
                <a:cubicBezTo>
                  <a:pt x="3999" y="2048"/>
                  <a:pt x="4081" y="2132"/>
                  <a:pt x="4183" y="2132"/>
                </a:cubicBezTo>
                <a:lnTo>
                  <a:pt x="6094" y="2132"/>
                </a:lnTo>
                <a:lnTo>
                  <a:pt x="6094" y="3770"/>
                </a:lnTo>
                <a:lnTo>
                  <a:pt x="2970" y="3770"/>
                </a:lnTo>
                <a:cubicBezTo>
                  <a:pt x="2867" y="3770"/>
                  <a:pt x="2785" y="3853"/>
                  <a:pt x="2785" y="3954"/>
                </a:cubicBezTo>
                <a:lnTo>
                  <a:pt x="2785" y="5309"/>
                </a:lnTo>
                <a:lnTo>
                  <a:pt x="1659" y="5309"/>
                </a:lnTo>
                <a:cubicBezTo>
                  <a:pt x="1557" y="5309"/>
                  <a:pt x="1474" y="5392"/>
                  <a:pt x="1474" y="5494"/>
                </a:cubicBezTo>
                <a:lnTo>
                  <a:pt x="1474" y="6601"/>
                </a:lnTo>
                <a:cubicBezTo>
                  <a:pt x="1474" y="6702"/>
                  <a:pt x="1557" y="6785"/>
                  <a:pt x="1659" y="6785"/>
                </a:cubicBezTo>
                <a:lnTo>
                  <a:pt x="4272" y="6785"/>
                </a:lnTo>
                <a:cubicBezTo>
                  <a:pt x="4374" y="6785"/>
                  <a:pt x="4457" y="6702"/>
                  <a:pt x="4457" y="6601"/>
                </a:cubicBezTo>
                <a:lnTo>
                  <a:pt x="4457" y="5494"/>
                </a:lnTo>
                <a:cubicBezTo>
                  <a:pt x="4457" y="5392"/>
                  <a:pt x="4374" y="5309"/>
                  <a:pt x="4272" y="5309"/>
                </a:cubicBezTo>
                <a:lnTo>
                  <a:pt x="3146" y="5309"/>
                </a:lnTo>
                <a:lnTo>
                  <a:pt x="3146" y="4130"/>
                </a:lnTo>
                <a:lnTo>
                  <a:pt x="6094" y="4130"/>
                </a:lnTo>
                <a:lnTo>
                  <a:pt x="6094" y="5309"/>
                </a:lnTo>
                <a:lnTo>
                  <a:pt x="4968" y="5309"/>
                </a:lnTo>
                <a:cubicBezTo>
                  <a:pt x="4867" y="5309"/>
                  <a:pt x="4784" y="5392"/>
                  <a:pt x="4784" y="5494"/>
                </a:cubicBezTo>
                <a:lnTo>
                  <a:pt x="4784" y="6602"/>
                </a:lnTo>
                <a:cubicBezTo>
                  <a:pt x="4784" y="6702"/>
                  <a:pt x="4866" y="6784"/>
                  <a:pt x="4966" y="6784"/>
                </a:cubicBezTo>
                <a:lnTo>
                  <a:pt x="5360" y="6784"/>
                </a:lnTo>
                <a:cubicBezTo>
                  <a:pt x="5455" y="6784"/>
                  <a:pt x="5541" y="6714"/>
                  <a:pt x="5549" y="6620"/>
                </a:cubicBezTo>
                <a:cubicBezTo>
                  <a:pt x="5558" y="6513"/>
                  <a:pt x="5474" y="6424"/>
                  <a:pt x="5369" y="6424"/>
                </a:cubicBezTo>
                <a:lnTo>
                  <a:pt x="5144" y="6424"/>
                </a:lnTo>
                <a:lnTo>
                  <a:pt x="5144" y="5670"/>
                </a:lnTo>
                <a:lnTo>
                  <a:pt x="7406" y="5670"/>
                </a:lnTo>
                <a:lnTo>
                  <a:pt x="7406" y="6424"/>
                </a:lnTo>
                <a:lnTo>
                  <a:pt x="6259" y="6424"/>
                </a:lnTo>
                <a:cubicBezTo>
                  <a:pt x="6162" y="6424"/>
                  <a:pt x="6077" y="6493"/>
                  <a:pt x="6070" y="6587"/>
                </a:cubicBezTo>
                <a:cubicBezTo>
                  <a:pt x="6061" y="6695"/>
                  <a:pt x="6145" y="6784"/>
                  <a:pt x="6249" y="6784"/>
                </a:cubicBezTo>
                <a:lnTo>
                  <a:pt x="7615" y="6784"/>
                </a:lnTo>
                <a:cubicBezTo>
                  <a:pt x="7717" y="6784"/>
                  <a:pt x="7799" y="6701"/>
                  <a:pt x="7799" y="6599"/>
                </a:cubicBezTo>
                <a:lnTo>
                  <a:pt x="7799" y="5493"/>
                </a:lnTo>
                <a:cubicBezTo>
                  <a:pt x="7799" y="5391"/>
                  <a:pt x="7717" y="5308"/>
                  <a:pt x="7615" y="5308"/>
                </a:cubicBezTo>
                <a:lnTo>
                  <a:pt x="6456" y="5308"/>
                </a:lnTo>
                <a:lnTo>
                  <a:pt x="6456" y="4128"/>
                </a:lnTo>
                <a:lnTo>
                  <a:pt x="9404" y="4128"/>
                </a:lnTo>
                <a:lnTo>
                  <a:pt x="9404" y="5308"/>
                </a:lnTo>
                <a:lnTo>
                  <a:pt x="8278" y="5308"/>
                </a:lnTo>
                <a:cubicBezTo>
                  <a:pt x="8176" y="5308"/>
                  <a:pt x="8094" y="5391"/>
                  <a:pt x="8094" y="5493"/>
                </a:cubicBezTo>
                <a:lnTo>
                  <a:pt x="8094" y="6599"/>
                </a:lnTo>
                <a:cubicBezTo>
                  <a:pt x="8094" y="6701"/>
                  <a:pt x="8176" y="6784"/>
                  <a:pt x="8278" y="6784"/>
                </a:cubicBezTo>
                <a:lnTo>
                  <a:pt x="10891" y="6784"/>
                </a:lnTo>
                <a:cubicBezTo>
                  <a:pt x="10994" y="6784"/>
                  <a:pt x="11076" y="6701"/>
                  <a:pt x="11076" y="6599"/>
                </a:cubicBezTo>
                <a:lnTo>
                  <a:pt x="11076" y="5493"/>
                </a:lnTo>
                <a:cubicBezTo>
                  <a:pt x="11076" y="5391"/>
                  <a:pt x="10994" y="5308"/>
                  <a:pt x="10891" y="5308"/>
                </a:cubicBezTo>
                <a:lnTo>
                  <a:pt x="9765" y="5308"/>
                </a:lnTo>
                <a:lnTo>
                  <a:pt x="9765" y="3952"/>
                </a:lnTo>
                <a:cubicBezTo>
                  <a:pt x="9765" y="3849"/>
                  <a:pt x="9684" y="3767"/>
                  <a:pt x="9581" y="3767"/>
                </a:cubicBezTo>
                <a:lnTo>
                  <a:pt x="6456" y="3767"/>
                </a:lnTo>
                <a:lnTo>
                  <a:pt x="6456" y="2130"/>
                </a:lnTo>
                <a:lnTo>
                  <a:pt x="8369" y="2130"/>
                </a:lnTo>
                <a:cubicBezTo>
                  <a:pt x="8471" y="2130"/>
                  <a:pt x="8553" y="2047"/>
                  <a:pt x="8553" y="1944"/>
                </a:cubicBezTo>
                <a:lnTo>
                  <a:pt x="8553" y="1670"/>
                </a:lnTo>
                <a:close/>
                <a:moveTo>
                  <a:pt x="3999" y="820"/>
                </a:moveTo>
                <a:lnTo>
                  <a:pt x="3999" y="1312"/>
                </a:lnTo>
                <a:lnTo>
                  <a:pt x="1253" y="1312"/>
                </a:lnTo>
                <a:cubicBezTo>
                  <a:pt x="1014" y="1312"/>
                  <a:pt x="820" y="1505"/>
                  <a:pt x="820" y="1744"/>
                </a:cubicBezTo>
                <a:lnTo>
                  <a:pt x="820" y="7571"/>
                </a:lnTo>
                <a:lnTo>
                  <a:pt x="362" y="7571"/>
                </a:lnTo>
                <a:lnTo>
                  <a:pt x="362" y="1107"/>
                </a:lnTo>
                <a:cubicBezTo>
                  <a:pt x="362" y="948"/>
                  <a:pt x="490" y="820"/>
                  <a:pt x="648" y="820"/>
                </a:cubicBezTo>
                <a:close/>
                <a:moveTo>
                  <a:pt x="12223" y="7931"/>
                </a:moveTo>
                <a:lnTo>
                  <a:pt x="12223" y="8497"/>
                </a:lnTo>
                <a:cubicBezTo>
                  <a:pt x="12221" y="8655"/>
                  <a:pt x="12094" y="8782"/>
                  <a:pt x="11936" y="8782"/>
                </a:cubicBezTo>
                <a:lnTo>
                  <a:pt x="648" y="8782"/>
                </a:lnTo>
                <a:cubicBezTo>
                  <a:pt x="490" y="8782"/>
                  <a:pt x="362" y="8655"/>
                  <a:pt x="362" y="8497"/>
                </a:cubicBezTo>
                <a:lnTo>
                  <a:pt x="362" y="7931"/>
                </a:lnTo>
                <a:close/>
                <a:moveTo>
                  <a:pt x="7022" y="9177"/>
                </a:moveTo>
                <a:cubicBezTo>
                  <a:pt x="7072" y="9467"/>
                  <a:pt x="7194" y="10096"/>
                  <a:pt x="7406" y="10586"/>
                </a:cubicBezTo>
                <a:lnTo>
                  <a:pt x="5167" y="10586"/>
                </a:lnTo>
                <a:cubicBezTo>
                  <a:pt x="5379" y="10096"/>
                  <a:pt x="5500" y="9467"/>
                  <a:pt x="5549" y="9177"/>
                </a:cubicBezTo>
                <a:close/>
                <a:moveTo>
                  <a:pt x="4160" y="0"/>
                </a:moveTo>
                <a:cubicBezTo>
                  <a:pt x="4089" y="0"/>
                  <a:pt x="4030" y="58"/>
                  <a:pt x="4030" y="130"/>
                </a:cubicBezTo>
                <a:lnTo>
                  <a:pt x="4030" y="460"/>
                </a:lnTo>
                <a:lnTo>
                  <a:pt x="458" y="460"/>
                </a:lnTo>
                <a:cubicBezTo>
                  <a:pt x="205" y="460"/>
                  <a:pt x="1" y="665"/>
                  <a:pt x="1" y="919"/>
                </a:cubicBezTo>
                <a:lnTo>
                  <a:pt x="1" y="8521"/>
                </a:lnTo>
                <a:cubicBezTo>
                  <a:pt x="1" y="8882"/>
                  <a:pt x="294" y="9175"/>
                  <a:pt x="655" y="9175"/>
                </a:cubicBezTo>
                <a:lnTo>
                  <a:pt x="5172" y="9175"/>
                </a:lnTo>
                <a:cubicBezTo>
                  <a:pt x="5113" y="9508"/>
                  <a:pt x="4978" y="10161"/>
                  <a:pt x="4758" y="10584"/>
                </a:cubicBezTo>
                <a:lnTo>
                  <a:pt x="3742" y="10584"/>
                </a:lnTo>
                <a:cubicBezTo>
                  <a:pt x="3647" y="10584"/>
                  <a:pt x="3562" y="10653"/>
                  <a:pt x="3552" y="10749"/>
                </a:cubicBezTo>
                <a:cubicBezTo>
                  <a:pt x="3543" y="10856"/>
                  <a:pt x="3628" y="10945"/>
                  <a:pt x="3736" y="10945"/>
                </a:cubicBezTo>
                <a:lnTo>
                  <a:pt x="8832" y="10945"/>
                </a:lnTo>
                <a:cubicBezTo>
                  <a:pt x="8927" y="10945"/>
                  <a:pt x="9013" y="10876"/>
                  <a:pt x="9022" y="10782"/>
                </a:cubicBezTo>
                <a:cubicBezTo>
                  <a:pt x="9031" y="10674"/>
                  <a:pt x="8946" y="10586"/>
                  <a:pt x="8838" y="10586"/>
                </a:cubicBezTo>
                <a:lnTo>
                  <a:pt x="7827" y="10586"/>
                </a:lnTo>
                <a:cubicBezTo>
                  <a:pt x="7607" y="10163"/>
                  <a:pt x="7470" y="9509"/>
                  <a:pt x="7413" y="9177"/>
                </a:cubicBezTo>
                <a:lnTo>
                  <a:pt x="11928" y="9177"/>
                </a:lnTo>
                <a:cubicBezTo>
                  <a:pt x="12289" y="9177"/>
                  <a:pt x="12583" y="8884"/>
                  <a:pt x="12583" y="8523"/>
                </a:cubicBezTo>
                <a:lnTo>
                  <a:pt x="12583" y="1102"/>
                </a:lnTo>
                <a:cubicBezTo>
                  <a:pt x="12583" y="748"/>
                  <a:pt x="12295" y="460"/>
                  <a:pt x="11943" y="460"/>
                </a:cubicBezTo>
                <a:lnTo>
                  <a:pt x="10247" y="460"/>
                </a:lnTo>
                <a:cubicBezTo>
                  <a:pt x="10147" y="460"/>
                  <a:pt x="10067" y="542"/>
                  <a:pt x="10067" y="641"/>
                </a:cubicBezTo>
                <a:cubicBezTo>
                  <a:pt x="10067" y="741"/>
                  <a:pt x="10147" y="822"/>
                  <a:pt x="10247" y="822"/>
                </a:cubicBezTo>
                <a:lnTo>
                  <a:pt x="11936" y="822"/>
                </a:lnTo>
                <a:cubicBezTo>
                  <a:pt x="12094" y="822"/>
                  <a:pt x="12223" y="950"/>
                  <a:pt x="12223" y="1109"/>
                </a:cubicBezTo>
                <a:lnTo>
                  <a:pt x="12223" y="7571"/>
                </a:lnTo>
                <a:lnTo>
                  <a:pt x="11732" y="7571"/>
                </a:lnTo>
                <a:lnTo>
                  <a:pt x="11732" y="1744"/>
                </a:lnTo>
                <a:cubicBezTo>
                  <a:pt x="11732" y="1505"/>
                  <a:pt x="11538" y="1312"/>
                  <a:pt x="11299" y="1312"/>
                </a:cubicBezTo>
                <a:lnTo>
                  <a:pt x="8552" y="1312"/>
                </a:lnTo>
                <a:lnTo>
                  <a:pt x="8552" y="820"/>
                </a:lnTo>
                <a:lnTo>
                  <a:pt x="9301" y="820"/>
                </a:lnTo>
                <a:cubicBezTo>
                  <a:pt x="9397" y="820"/>
                  <a:pt x="9481" y="751"/>
                  <a:pt x="9490" y="657"/>
                </a:cubicBezTo>
                <a:cubicBezTo>
                  <a:pt x="9498" y="549"/>
                  <a:pt x="9414" y="460"/>
                  <a:pt x="9310" y="460"/>
                </a:cubicBezTo>
                <a:lnTo>
                  <a:pt x="8552" y="460"/>
                </a:lnTo>
                <a:lnTo>
                  <a:pt x="8552" y="186"/>
                </a:lnTo>
                <a:cubicBezTo>
                  <a:pt x="8552" y="83"/>
                  <a:pt x="8470" y="0"/>
                  <a:pt x="83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5" name="Google Shape;2235;p59"/>
          <p:cNvGrpSpPr/>
          <p:nvPr/>
        </p:nvGrpSpPr>
        <p:grpSpPr>
          <a:xfrm>
            <a:off x="7491709" y="2321047"/>
            <a:ext cx="263073" cy="341145"/>
            <a:chOff x="1612822" y="1436414"/>
            <a:chExt cx="367522" cy="476593"/>
          </a:xfrm>
        </p:grpSpPr>
        <p:sp>
          <p:nvSpPr>
            <p:cNvPr id="2236" name="Google Shape;2236;p59"/>
            <p:cNvSpPr/>
            <p:nvPr/>
          </p:nvSpPr>
          <p:spPr>
            <a:xfrm>
              <a:off x="1612822" y="1436414"/>
              <a:ext cx="367522" cy="476593"/>
            </a:xfrm>
            <a:custGeom>
              <a:avLst/>
              <a:gdLst/>
              <a:ahLst/>
              <a:cxnLst/>
              <a:rect l="l" t="t" r="r" b="b"/>
              <a:pathLst>
                <a:path w="9701" h="12580" extrusionOk="0">
                  <a:moveTo>
                    <a:pt x="7636" y="668"/>
                  </a:moveTo>
                  <a:lnTo>
                    <a:pt x="9113" y="2360"/>
                  </a:lnTo>
                  <a:lnTo>
                    <a:pt x="7636" y="2360"/>
                  </a:lnTo>
                  <a:lnTo>
                    <a:pt x="7636" y="668"/>
                  </a:lnTo>
                  <a:close/>
                  <a:moveTo>
                    <a:pt x="906" y="0"/>
                  </a:moveTo>
                  <a:cubicBezTo>
                    <a:pt x="803" y="0"/>
                    <a:pt x="720" y="82"/>
                    <a:pt x="720" y="183"/>
                  </a:cubicBezTo>
                  <a:lnTo>
                    <a:pt x="720" y="6454"/>
                  </a:lnTo>
                  <a:lnTo>
                    <a:pt x="183" y="6454"/>
                  </a:lnTo>
                  <a:cubicBezTo>
                    <a:pt x="82" y="6454"/>
                    <a:pt x="1" y="6536"/>
                    <a:pt x="1" y="6636"/>
                  </a:cubicBezTo>
                  <a:lnTo>
                    <a:pt x="1" y="7667"/>
                  </a:lnTo>
                  <a:cubicBezTo>
                    <a:pt x="1" y="7762"/>
                    <a:pt x="70" y="7847"/>
                    <a:pt x="164" y="7856"/>
                  </a:cubicBezTo>
                  <a:cubicBezTo>
                    <a:pt x="169" y="7857"/>
                    <a:pt x="174" y="7857"/>
                    <a:pt x="179" y="7857"/>
                  </a:cubicBezTo>
                  <a:cubicBezTo>
                    <a:pt x="280" y="7857"/>
                    <a:pt x="361" y="7775"/>
                    <a:pt x="361" y="7673"/>
                  </a:cubicBezTo>
                  <a:lnTo>
                    <a:pt x="361" y="6814"/>
                  </a:lnTo>
                  <a:lnTo>
                    <a:pt x="7275" y="6814"/>
                  </a:lnTo>
                  <a:lnTo>
                    <a:pt x="7275" y="10058"/>
                  </a:lnTo>
                  <a:lnTo>
                    <a:pt x="361" y="10058"/>
                  </a:lnTo>
                  <a:lnTo>
                    <a:pt x="361" y="8535"/>
                  </a:lnTo>
                  <a:cubicBezTo>
                    <a:pt x="361" y="8440"/>
                    <a:pt x="291" y="8355"/>
                    <a:pt x="197" y="8345"/>
                  </a:cubicBezTo>
                  <a:cubicBezTo>
                    <a:pt x="191" y="8345"/>
                    <a:pt x="186" y="8345"/>
                    <a:pt x="181" y="8345"/>
                  </a:cubicBezTo>
                  <a:cubicBezTo>
                    <a:pt x="81" y="8345"/>
                    <a:pt x="1" y="8427"/>
                    <a:pt x="1" y="8529"/>
                  </a:cubicBezTo>
                  <a:lnTo>
                    <a:pt x="1" y="10234"/>
                  </a:lnTo>
                  <a:cubicBezTo>
                    <a:pt x="1" y="10335"/>
                    <a:pt x="84" y="10418"/>
                    <a:pt x="185" y="10418"/>
                  </a:cubicBezTo>
                  <a:lnTo>
                    <a:pt x="723" y="10418"/>
                  </a:lnTo>
                  <a:lnTo>
                    <a:pt x="723" y="12397"/>
                  </a:lnTo>
                  <a:cubicBezTo>
                    <a:pt x="723" y="12498"/>
                    <a:pt x="804" y="12580"/>
                    <a:pt x="906" y="12580"/>
                  </a:cubicBezTo>
                  <a:lnTo>
                    <a:pt x="9516" y="12580"/>
                  </a:lnTo>
                  <a:cubicBezTo>
                    <a:pt x="9617" y="12580"/>
                    <a:pt x="9698" y="12498"/>
                    <a:pt x="9698" y="12398"/>
                  </a:cubicBezTo>
                  <a:lnTo>
                    <a:pt x="9698" y="4929"/>
                  </a:lnTo>
                  <a:cubicBezTo>
                    <a:pt x="9698" y="4841"/>
                    <a:pt x="9641" y="4760"/>
                    <a:pt x="9554" y="4743"/>
                  </a:cubicBezTo>
                  <a:cubicBezTo>
                    <a:pt x="9542" y="4740"/>
                    <a:pt x="9529" y="4739"/>
                    <a:pt x="9518" y="4739"/>
                  </a:cubicBezTo>
                  <a:cubicBezTo>
                    <a:pt x="9418" y="4739"/>
                    <a:pt x="9338" y="4822"/>
                    <a:pt x="9338" y="4924"/>
                  </a:cubicBezTo>
                  <a:lnTo>
                    <a:pt x="9338" y="12220"/>
                  </a:lnTo>
                  <a:lnTo>
                    <a:pt x="1081" y="12220"/>
                  </a:lnTo>
                  <a:lnTo>
                    <a:pt x="1081" y="10421"/>
                  </a:lnTo>
                  <a:lnTo>
                    <a:pt x="7452" y="10421"/>
                  </a:lnTo>
                  <a:cubicBezTo>
                    <a:pt x="7553" y="10421"/>
                    <a:pt x="7635" y="10339"/>
                    <a:pt x="7635" y="10238"/>
                  </a:cubicBezTo>
                  <a:lnTo>
                    <a:pt x="7635" y="6641"/>
                  </a:lnTo>
                  <a:cubicBezTo>
                    <a:pt x="7635" y="6539"/>
                    <a:pt x="7552" y="6458"/>
                    <a:pt x="7452" y="6458"/>
                  </a:cubicBezTo>
                  <a:lnTo>
                    <a:pt x="1082" y="6458"/>
                  </a:lnTo>
                  <a:lnTo>
                    <a:pt x="1082" y="364"/>
                  </a:lnTo>
                  <a:lnTo>
                    <a:pt x="7275" y="364"/>
                  </a:lnTo>
                  <a:lnTo>
                    <a:pt x="7275" y="2538"/>
                  </a:lnTo>
                  <a:cubicBezTo>
                    <a:pt x="7275" y="2640"/>
                    <a:pt x="7357" y="2723"/>
                    <a:pt x="7459" y="2723"/>
                  </a:cubicBezTo>
                  <a:lnTo>
                    <a:pt x="9339" y="2723"/>
                  </a:lnTo>
                  <a:lnTo>
                    <a:pt x="9339" y="4067"/>
                  </a:lnTo>
                  <a:cubicBezTo>
                    <a:pt x="9339" y="4166"/>
                    <a:pt x="9421" y="4249"/>
                    <a:pt x="9520" y="4249"/>
                  </a:cubicBezTo>
                  <a:cubicBezTo>
                    <a:pt x="9620" y="4249"/>
                    <a:pt x="9700" y="4166"/>
                    <a:pt x="9700" y="4065"/>
                  </a:cubicBezTo>
                  <a:lnTo>
                    <a:pt x="9700" y="2554"/>
                  </a:lnTo>
                  <a:cubicBezTo>
                    <a:pt x="9700" y="2510"/>
                    <a:pt x="9685" y="2467"/>
                    <a:pt x="9654" y="2432"/>
                  </a:cubicBezTo>
                  <a:lnTo>
                    <a:pt x="7589" y="63"/>
                  </a:lnTo>
                  <a:cubicBezTo>
                    <a:pt x="7553" y="22"/>
                    <a:pt x="7504" y="0"/>
                    <a:pt x="7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59"/>
            <p:cNvSpPr/>
            <p:nvPr/>
          </p:nvSpPr>
          <p:spPr>
            <a:xfrm>
              <a:off x="1818879" y="1713202"/>
              <a:ext cx="38037" cy="84749"/>
            </a:xfrm>
            <a:custGeom>
              <a:avLst/>
              <a:gdLst/>
              <a:ahLst/>
              <a:cxnLst/>
              <a:rect l="l" t="t" r="r" b="b"/>
              <a:pathLst>
                <a:path w="1004" h="2237" extrusionOk="0">
                  <a:moveTo>
                    <a:pt x="182" y="0"/>
                  </a:moveTo>
                  <a:cubicBezTo>
                    <a:pt x="82" y="0"/>
                    <a:pt x="1" y="83"/>
                    <a:pt x="1" y="184"/>
                  </a:cubicBezTo>
                  <a:lnTo>
                    <a:pt x="1" y="2053"/>
                  </a:lnTo>
                  <a:cubicBezTo>
                    <a:pt x="1" y="2142"/>
                    <a:pt x="64" y="2220"/>
                    <a:pt x="151" y="2233"/>
                  </a:cubicBezTo>
                  <a:cubicBezTo>
                    <a:pt x="160" y="2236"/>
                    <a:pt x="417" y="2237"/>
                    <a:pt x="632" y="2237"/>
                  </a:cubicBezTo>
                  <a:cubicBezTo>
                    <a:pt x="704" y="2237"/>
                    <a:pt x="771" y="2237"/>
                    <a:pt x="823" y="2237"/>
                  </a:cubicBezTo>
                  <a:cubicBezTo>
                    <a:pt x="922" y="2237"/>
                    <a:pt x="1003" y="2153"/>
                    <a:pt x="1003" y="2052"/>
                  </a:cubicBezTo>
                  <a:cubicBezTo>
                    <a:pt x="1003" y="1951"/>
                    <a:pt x="921" y="1869"/>
                    <a:pt x="822" y="1869"/>
                  </a:cubicBezTo>
                  <a:lnTo>
                    <a:pt x="821" y="1869"/>
                  </a:lnTo>
                  <a:cubicBezTo>
                    <a:pt x="659" y="1870"/>
                    <a:pt x="485" y="1870"/>
                    <a:pt x="360" y="1870"/>
                  </a:cubicBezTo>
                  <a:lnTo>
                    <a:pt x="360" y="184"/>
                  </a:lnTo>
                  <a:cubicBezTo>
                    <a:pt x="361" y="83"/>
                    <a:pt x="281" y="0"/>
                    <a:pt x="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59"/>
            <p:cNvSpPr/>
            <p:nvPr/>
          </p:nvSpPr>
          <p:spPr>
            <a:xfrm>
              <a:off x="1737312" y="1713240"/>
              <a:ext cx="62094" cy="84862"/>
            </a:xfrm>
            <a:custGeom>
              <a:avLst/>
              <a:gdLst/>
              <a:ahLst/>
              <a:cxnLst/>
              <a:rect l="l" t="t" r="r" b="b"/>
              <a:pathLst>
                <a:path w="1639" h="2240" extrusionOk="0">
                  <a:moveTo>
                    <a:pt x="827" y="1"/>
                  </a:moveTo>
                  <a:cubicBezTo>
                    <a:pt x="746" y="1"/>
                    <a:pt x="661" y="12"/>
                    <a:pt x="573" y="38"/>
                  </a:cubicBezTo>
                  <a:cubicBezTo>
                    <a:pt x="334" y="110"/>
                    <a:pt x="165" y="299"/>
                    <a:pt x="131" y="529"/>
                  </a:cubicBezTo>
                  <a:cubicBezTo>
                    <a:pt x="100" y="744"/>
                    <a:pt x="194" y="950"/>
                    <a:pt x="375" y="1069"/>
                  </a:cubicBezTo>
                  <a:cubicBezTo>
                    <a:pt x="383" y="1074"/>
                    <a:pt x="392" y="1079"/>
                    <a:pt x="402" y="1083"/>
                  </a:cubicBezTo>
                  <a:cubicBezTo>
                    <a:pt x="412" y="1089"/>
                    <a:pt x="669" y="1202"/>
                    <a:pt x="957" y="1309"/>
                  </a:cubicBezTo>
                  <a:cubicBezTo>
                    <a:pt x="1155" y="1382"/>
                    <a:pt x="1256" y="1494"/>
                    <a:pt x="1234" y="1619"/>
                  </a:cubicBezTo>
                  <a:cubicBezTo>
                    <a:pt x="1210" y="1743"/>
                    <a:pt x="1064" y="1873"/>
                    <a:pt x="857" y="1873"/>
                  </a:cubicBezTo>
                  <a:cubicBezTo>
                    <a:pt x="657" y="1873"/>
                    <a:pt x="464" y="1791"/>
                    <a:pt x="341" y="1655"/>
                  </a:cubicBezTo>
                  <a:cubicBezTo>
                    <a:pt x="305" y="1616"/>
                    <a:pt x="255" y="1595"/>
                    <a:pt x="205" y="1595"/>
                  </a:cubicBezTo>
                  <a:cubicBezTo>
                    <a:pt x="161" y="1595"/>
                    <a:pt x="117" y="1611"/>
                    <a:pt x="82" y="1643"/>
                  </a:cubicBezTo>
                  <a:cubicBezTo>
                    <a:pt x="8" y="1710"/>
                    <a:pt x="0" y="1827"/>
                    <a:pt x="69" y="1901"/>
                  </a:cubicBezTo>
                  <a:cubicBezTo>
                    <a:pt x="260" y="2112"/>
                    <a:pt x="555" y="2240"/>
                    <a:pt x="857" y="2240"/>
                  </a:cubicBezTo>
                  <a:cubicBezTo>
                    <a:pt x="1221" y="2240"/>
                    <a:pt x="1538" y="2000"/>
                    <a:pt x="1596" y="1683"/>
                  </a:cubicBezTo>
                  <a:cubicBezTo>
                    <a:pt x="1639" y="1442"/>
                    <a:pt x="1525" y="1126"/>
                    <a:pt x="1083" y="963"/>
                  </a:cubicBezTo>
                  <a:cubicBezTo>
                    <a:pt x="846" y="875"/>
                    <a:pt x="626" y="780"/>
                    <a:pt x="566" y="754"/>
                  </a:cubicBezTo>
                  <a:cubicBezTo>
                    <a:pt x="513" y="713"/>
                    <a:pt x="486" y="650"/>
                    <a:pt x="497" y="582"/>
                  </a:cubicBezTo>
                  <a:cubicBezTo>
                    <a:pt x="509" y="493"/>
                    <a:pt x="578" y="423"/>
                    <a:pt x="680" y="390"/>
                  </a:cubicBezTo>
                  <a:cubicBezTo>
                    <a:pt x="730" y="375"/>
                    <a:pt x="778" y="369"/>
                    <a:pt x="825" y="369"/>
                  </a:cubicBezTo>
                  <a:cubicBezTo>
                    <a:pt x="1053" y="369"/>
                    <a:pt x="1236" y="515"/>
                    <a:pt x="1241" y="519"/>
                  </a:cubicBezTo>
                  <a:cubicBezTo>
                    <a:pt x="1275" y="547"/>
                    <a:pt x="1316" y="561"/>
                    <a:pt x="1358" y="561"/>
                  </a:cubicBezTo>
                  <a:cubicBezTo>
                    <a:pt x="1410" y="561"/>
                    <a:pt x="1462" y="539"/>
                    <a:pt x="1498" y="495"/>
                  </a:cubicBezTo>
                  <a:cubicBezTo>
                    <a:pt x="1564" y="418"/>
                    <a:pt x="1554" y="301"/>
                    <a:pt x="1476" y="236"/>
                  </a:cubicBezTo>
                  <a:cubicBezTo>
                    <a:pt x="1462" y="224"/>
                    <a:pt x="1191" y="1"/>
                    <a:pt x="8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9"/>
            <p:cNvSpPr/>
            <p:nvPr/>
          </p:nvSpPr>
          <p:spPr>
            <a:xfrm>
              <a:off x="1656542" y="1713240"/>
              <a:ext cx="62094" cy="84862"/>
            </a:xfrm>
            <a:custGeom>
              <a:avLst/>
              <a:gdLst/>
              <a:ahLst/>
              <a:cxnLst/>
              <a:rect l="l" t="t" r="r" b="b"/>
              <a:pathLst>
                <a:path w="1639" h="2240" extrusionOk="0">
                  <a:moveTo>
                    <a:pt x="826" y="1"/>
                  </a:moveTo>
                  <a:cubicBezTo>
                    <a:pt x="745" y="1"/>
                    <a:pt x="660" y="12"/>
                    <a:pt x="572" y="38"/>
                  </a:cubicBezTo>
                  <a:cubicBezTo>
                    <a:pt x="332" y="110"/>
                    <a:pt x="163" y="299"/>
                    <a:pt x="131" y="529"/>
                  </a:cubicBezTo>
                  <a:cubicBezTo>
                    <a:pt x="100" y="744"/>
                    <a:pt x="194" y="950"/>
                    <a:pt x="375" y="1069"/>
                  </a:cubicBezTo>
                  <a:cubicBezTo>
                    <a:pt x="382" y="1074"/>
                    <a:pt x="392" y="1079"/>
                    <a:pt x="401" y="1083"/>
                  </a:cubicBezTo>
                  <a:cubicBezTo>
                    <a:pt x="412" y="1089"/>
                    <a:pt x="668" y="1202"/>
                    <a:pt x="956" y="1309"/>
                  </a:cubicBezTo>
                  <a:cubicBezTo>
                    <a:pt x="1153" y="1382"/>
                    <a:pt x="1256" y="1494"/>
                    <a:pt x="1233" y="1619"/>
                  </a:cubicBezTo>
                  <a:cubicBezTo>
                    <a:pt x="1210" y="1743"/>
                    <a:pt x="1063" y="1873"/>
                    <a:pt x="857" y="1873"/>
                  </a:cubicBezTo>
                  <a:cubicBezTo>
                    <a:pt x="656" y="1873"/>
                    <a:pt x="464" y="1791"/>
                    <a:pt x="340" y="1655"/>
                  </a:cubicBezTo>
                  <a:cubicBezTo>
                    <a:pt x="304" y="1616"/>
                    <a:pt x="254" y="1595"/>
                    <a:pt x="204" y="1595"/>
                  </a:cubicBezTo>
                  <a:cubicBezTo>
                    <a:pt x="160" y="1595"/>
                    <a:pt x="116" y="1611"/>
                    <a:pt x="81" y="1643"/>
                  </a:cubicBezTo>
                  <a:cubicBezTo>
                    <a:pt x="6" y="1710"/>
                    <a:pt x="0" y="1827"/>
                    <a:pt x="68" y="1901"/>
                  </a:cubicBezTo>
                  <a:cubicBezTo>
                    <a:pt x="259" y="2112"/>
                    <a:pt x="554" y="2240"/>
                    <a:pt x="856" y="2240"/>
                  </a:cubicBezTo>
                  <a:cubicBezTo>
                    <a:pt x="1220" y="2240"/>
                    <a:pt x="1537" y="2000"/>
                    <a:pt x="1594" y="1683"/>
                  </a:cubicBezTo>
                  <a:cubicBezTo>
                    <a:pt x="1638" y="1442"/>
                    <a:pt x="1525" y="1126"/>
                    <a:pt x="1083" y="963"/>
                  </a:cubicBezTo>
                  <a:cubicBezTo>
                    <a:pt x="844" y="875"/>
                    <a:pt x="624" y="780"/>
                    <a:pt x="566" y="754"/>
                  </a:cubicBezTo>
                  <a:cubicBezTo>
                    <a:pt x="512" y="713"/>
                    <a:pt x="486" y="650"/>
                    <a:pt x="496" y="582"/>
                  </a:cubicBezTo>
                  <a:cubicBezTo>
                    <a:pt x="509" y="493"/>
                    <a:pt x="577" y="423"/>
                    <a:pt x="680" y="390"/>
                  </a:cubicBezTo>
                  <a:cubicBezTo>
                    <a:pt x="729" y="375"/>
                    <a:pt x="778" y="369"/>
                    <a:pt x="825" y="369"/>
                  </a:cubicBezTo>
                  <a:cubicBezTo>
                    <a:pt x="1053" y="369"/>
                    <a:pt x="1236" y="515"/>
                    <a:pt x="1240" y="519"/>
                  </a:cubicBezTo>
                  <a:cubicBezTo>
                    <a:pt x="1274" y="547"/>
                    <a:pt x="1316" y="561"/>
                    <a:pt x="1358" y="561"/>
                  </a:cubicBezTo>
                  <a:cubicBezTo>
                    <a:pt x="1410" y="561"/>
                    <a:pt x="1462" y="539"/>
                    <a:pt x="1498" y="495"/>
                  </a:cubicBezTo>
                  <a:cubicBezTo>
                    <a:pt x="1563" y="418"/>
                    <a:pt x="1552" y="301"/>
                    <a:pt x="1476" y="236"/>
                  </a:cubicBezTo>
                  <a:cubicBezTo>
                    <a:pt x="1461" y="224"/>
                    <a:pt x="1190" y="1"/>
                    <a:pt x="8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0" name="Google Shape;2240;p59"/>
          <p:cNvGrpSpPr/>
          <p:nvPr/>
        </p:nvGrpSpPr>
        <p:grpSpPr>
          <a:xfrm>
            <a:off x="1345370" y="2355643"/>
            <a:ext cx="350772" cy="271913"/>
            <a:chOff x="5547407" y="2234234"/>
            <a:chExt cx="490042" cy="379873"/>
          </a:xfrm>
        </p:grpSpPr>
        <p:sp>
          <p:nvSpPr>
            <p:cNvPr id="2241" name="Google Shape;2241;p59"/>
            <p:cNvSpPr/>
            <p:nvPr/>
          </p:nvSpPr>
          <p:spPr>
            <a:xfrm>
              <a:off x="5837379" y="2258860"/>
              <a:ext cx="56828" cy="65503"/>
            </a:xfrm>
            <a:custGeom>
              <a:avLst/>
              <a:gdLst/>
              <a:ahLst/>
              <a:cxnLst/>
              <a:rect l="l" t="t" r="r" b="b"/>
              <a:pathLst>
                <a:path w="1500" h="1729" extrusionOk="0">
                  <a:moveTo>
                    <a:pt x="865" y="1"/>
                  </a:moveTo>
                  <a:cubicBezTo>
                    <a:pt x="388" y="1"/>
                    <a:pt x="1" y="388"/>
                    <a:pt x="1" y="865"/>
                  </a:cubicBezTo>
                  <a:cubicBezTo>
                    <a:pt x="1" y="1341"/>
                    <a:pt x="388" y="1729"/>
                    <a:pt x="865" y="1729"/>
                  </a:cubicBezTo>
                  <a:cubicBezTo>
                    <a:pt x="1083" y="1729"/>
                    <a:pt x="1292" y="1640"/>
                    <a:pt x="1434" y="1471"/>
                  </a:cubicBezTo>
                  <a:cubicBezTo>
                    <a:pt x="1500" y="1393"/>
                    <a:pt x="1489" y="1277"/>
                    <a:pt x="1412" y="1211"/>
                  </a:cubicBezTo>
                  <a:cubicBezTo>
                    <a:pt x="1378" y="1184"/>
                    <a:pt x="1339" y="1171"/>
                    <a:pt x="1299" y="1171"/>
                  </a:cubicBezTo>
                  <a:cubicBezTo>
                    <a:pt x="1246" y="1171"/>
                    <a:pt x="1192" y="1194"/>
                    <a:pt x="1151" y="1233"/>
                  </a:cubicBezTo>
                  <a:cubicBezTo>
                    <a:pt x="1066" y="1313"/>
                    <a:pt x="992" y="1361"/>
                    <a:pt x="866" y="1361"/>
                  </a:cubicBezTo>
                  <a:cubicBezTo>
                    <a:pt x="593" y="1361"/>
                    <a:pt x="370" y="1139"/>
                    <a:pt x="370" y="865"/>
                  </a:cubicBezTo>
                  <a:cubicBezTo>
                    <a:pt x="369" y="591"/>
                    <a:pt x="591" y="369"/>
                    <a:pt x="865" y="369"/>
                  </a:cubicBezTo>
                  <a:cubicBezTo>
                    <a:pt x="965" y="369"/>
                    <a:pt x="1060" y="398"/>
                    <a:pt x="1143" y="454"/>
                  </a:cubicBezTo>
                  <a:cubicBezTo>
                    <a:pt x="1174" y="475"/>
                    <a:pt x="1210" y="486"/>
                    <a:pt x="1246" y="486"/>
                  </a:cubicBezTo>
                  <a:cubicBezTo>
                    <a:pt x="1305" y="486"/>
                    <a:pt x="1362" y="457"/>
                    <a:pt x="1397" y="404"/>
                  </a:cubicBezTo>
                  <a:cubicBezTo>
                    <a:pt x="1454" y="320"/>
                    <a:pt x="1432" y="205"/>
                    <a:pt x="1348" y="149"/>
                  </a:cubicBezTo>
                  <a:cubicBezTo>
                    <a:pt x="1205" y="52"/>
                    <a:pt x="1038" y="1"/>
                    <a:pt x="8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9"/>
            <p:cNvSpPr/>
            <p:nvPr/>
          </p:nvSpPr>
          <p:spPr>
            <a:xfrm>
              <a:off x="5899889" y="2258860"/>
              <a:ext cx="49288" cy="65465"/>
            </a:xfrm>
            <a:custGeom>
              <a:avLst/>
              <a:gdLst/>
              <a:ahLst/>
              <a:cxnLst/>
              <a:rect l="l" t="t" r="r" b="b"/>
              <a:pathLst>
                <a:path w="1301" h="1728" extrusionOk="0">
                  <a:moveTo>
                    <a:pt x="657" y="1"/>
                  </a:moveTo>
                  <a:cubicBezTo>
                    <a:pt x="595" y="1"/>
                    <a:pt x="528" y="9"/>
                    <a:pt x="459" y="30"/>
                  </a:cubicBezTo>
                  <a:cubicBezTo>
                    <a:pt x="268" y="88"/>
                    <a:pt x="129" y="240"/>
                    <a:pt x="103" y="428"/>
                  </a:cubicBezTo>
                  <a:cubicBezTo>
                    <a:pt x="79" y="603"/>
                    <a:pt x="154" y="774"/>
                    <a:pt x="302" y="869"/>
                  </a:cubicBezTo>
                  <a:cubicBezTo>
                    <a:pt x="311" y="874"/>
                    <a:pt x="320" y="879"/>
                    <a:pt x="327" y="884"/>
                  </a:cubicBezTo>
                  <a:cubicBezTo>
                    <a:pt x="336" y="888"/>
                    <a:pt x="522" y="969"/>
                    <a:pt x="735" y="1048"/>
                  </a:cubicBezTo>
                  <a:cubicBezTo>
                    <a:pt x="779" y="1064"/>
                    <a:pt x="920" y="1124"/>
                    <a:pt x="903" y="1218"/>
                  </a:cubicBezTo>
                  <a:cubicBezTo>
                    <a:pt x="891" y="1288"/>
                    <a:pt x="804" y="1360"/>
                    <a:pt x="679" y="1360"/>
                  </a:cubicBezTo>
                  <a:cubicBezTo>
                    <a:pt x="548" y="1360"/>
                    <a:pt x="423" y="1308"/>
                    <a:pt x="342" y="1219"/>
                  </a:cubicBezTo>
                  <a:cubicBezTo>
                    <a:pt x="306" y="1178"/>
                    <a:pt x="256" y="1157"/>
                    <a:pt x="205" y="1157"/>
                  </a:cubicBezTo>
                  <a:cubicBezTo>
                    <a:pt x="161" y="1157"/>
                    <a:pt x="117" y="1173"/>
                    <a:pt x="81" y="1205"/>
                  </a:cubicBezTo>
                  <a:cubicBezTo>
                    <a:pt x="6" y="1273"/>
                    <a:pt x="1" y="1390"/>
                    <a:pt x="69" y="1466"/>
                  </a:cubicBezTo>
                  <a:cubicBezTo>
                    <a:pt x="218" y="1632"/>
                    <a:pt x="441" y="1728"/>
                    <a:pt x="678" y="1728"/>
                  </a:cubicBezTo>
                  <a:cubicBezTo>
                    <a:pt x="971" y="1728"/>
                    <a:pt x="1219" y="1540"/>
                    <a:pt x="1265" y="1282"/>
                  </a:cubicBezTo>
                  <a:cubicBezTo>
                    <a:pt x="1300" y="1086"/>
                    <a:pt x="1211" y="831"/>
                    <a:pt x="860" y="701"/>
                  </a:cubicBezTo>
                  <a:cubicBezTo>
                    <a:pt x="695" y="641"/>
                    <a:pt x="542" y="575"/>
                    <a:pt x="493" y="554"/>
                  </a:cubicBezTo>
                  <a:cubicBezTo>
                    <a:pt x="462" y="528"/>
                    <a:pt x="463" y="493"/>
                    <a:pt x="465" y="478"/>
                  </a:cubicBezTo>
                  <a:cubicBezTo>
                    <a:pt x="468" y="457"/>
                    <a:pt x="483" y="405"/>
                    <a:pt x="563" y="382"/>
                  </a:cubicBezTo>
                  <a:cubicBezTo>
                    <a:pt x="594" y="372"/>
                    <a:pt x="625" y="368"/>
                    <a:pt x="655" y="368"/>
                  </a:cubicBezTo>
                  <a:cubicBezTo>
                    <a:pt x="800" y="368"/>
                    <a:pt x="919" y="462"/>
                    <a:pt x="924" y="466"/>
                  </a:cubicBezTo>
                  <a:cubicBezTo>
                    <a:pt x="959" y="494"/>
                    <a:pt x="1000" y="507"/>
                    <a:pt x="1042" y="507"/>
                  </a:cubicBezTo>
                  <a:cubicBezTo>
                    <a:pt x="1094" y="507"/>
                    <a:pt x="1146" y="485"/>
                    <a:pt x="1182" y="442"/>
                  </a:cubicBezTo>
                  <a:cubicBezTo>
                    <a:pt x="1248" y="363"/>
                    <a:pt x="1237" y="248"/>
                    <a:pt x="1160" y="183"/>
                  </a:cubicBezTo>
                  <a:cubicBezTo>
                    <a:pt x="1151" y="174"/>
                    <a:pt x="941" y="1"/>
                    <a:pt x="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9"/>
            <p:cNvSpPr/>
            <p:nvPr/>
          </p:nvSpPr>
          <p:spPr>
            <a:xfrm>
              <a:off x="5955656" y="2258822"/>
              <a:ext cx="49250" cy="65503"/>
            </a:xfrm>
            <a:custGeom>
              <a:avLst/>
              <a:gdLst/>
              <a:ahLst/>
              <a:cxnLst/>
              <a:rect l="l" t="t" r="r" b="b"/>
              <a:pathLst>
                <a:path w="1300" h="1729" extrusionOk="0">
                  <a:moveTo>
                    <a:pt x="653" y="0"/>
                  </a:moveTo>
                  <a:cubicBezTo>
                    <a:pt x="591" y="0"/>
                    <a:pt x="526" y="9"/>
                    <a:pt x="458" y="29"/>
                  </a:cubicBezTo>
                  <a:cubicBezTo>
                    <a:pt x="264" y="86"/>
                    <a:pt x="128" y="240"/>
                    <a:pt x="102" y="427"/>
                  </a:cubicBezTo>
                  <a:cubicBezTo>
                    <a:pt x="77" y="603"/>
                    <a:pt x="153" y="772"/>
                    <a:pt x="301" y="869"/>
                  </a:cubicBezTo>
                  <a:cubicBezTo>
                    <a:pt x="309" y="874"/>
                    <a:pt x="317" y="879"/>
                    <a:pt x="327" y="882"/>
                  </a:cubicBezTo>
                  <a:cubicBezTo>
                    <a:pt x="335" y="887"/>
                    <a:pt x="522" y="969"/>
                    <a:pt x="734" y="1048"/>
                  </a:cubicBezTo>
                  <a:cubicBezTo>
                    <a:pt x="778" y="1064"/>
                    <a:pt x="920" y="1123"/>
                    <a:pt x="903" y="1217"/>
                  </a:cubicBezTo>
                  <a:cubicBezTo>
                    <a:pt x="891" y="1289"/>
                    <a:pt x="803" y="1361"/>
                    <a:pt x="679" y="1361"/>
                  </a:cubicBezTo>
                  <a:cubicBezTo>
                    <a:pt x="548" y="1361"/>
                    <a:pt x="422" y="1309"/>
                    <a:pt x="341" y="1220"/>
                  </a:cubicBezTo>
                  <a:cubicBezTo>
                    <a:pt x="305" y="1179"/>
                    <a:pt x="255" y="1158"/>
                    <a:pt x="205" y="1158"/>
                  </a:cubicBezTo>
                  <a:cubicBezTo>
                    <a:pt x="161" y="1158"/>
                    <a:pt x="116" y="1174"/>
                    <a:pt x="81" y="1206"/>
                  </a:cubicBezTo>
                  <a:cubicBezTo>
                    <a:pt x="5" y="1274"/>
                    <a:pt x="0" y="1391"/>
                    <a:pt x="68" y="1467"/>
                  </a:cubicBezTo>
                  <a:cubicBezTo>
                    <a:pt x="218" y="1633"/>
                    <a:pt x="441" y="1729"/>
                    <a:pt x="678" y="1729"/>
                  </a:cubicBezTo>
                  <a:cubicBezTo>
                    <a:pt x="971" y="1729"/>
                    <a:pt x="1218" y="1541"/>
                    <a:pt x="1264" y="1283"/>
                  </a:cubicBezTo>
                  <a:cubicBezTo>
                    <a:pt x="1300" y="1088"/>
                    <a:pt x="1211" y="832"/>
                    <a:pt x="860" y="702"/>
                  </a:cubicBezTo>
                  <a:cubicBezTo>
                    <a:pt x="694" y="642"/>
                    <a:pt x="542" y="576"/>
                    <a:pt x="492" y="555"/>
                  </a:cubicBezTo>
                  <a:cubicBezTo>
                    <a:pt x="462" y="529"/>
                    <a:pt x="463" y="494"/>
                    <a:pt x="466" y="479"/>
                  </a:cubicBezTo>
                  <a:cubicBezTo>
                    <a:pt x="468" y="458"/>
                    <a:pt x="484" y="406"/>
                    <a:pt x="564" y="383"/>
                  </a:cubicBezTo>
                  <a:cubicBezTo>
                    <a:pt x="594" y="374"/>
                    <a:pt x="625" y="370"/>
                    <a:pt x="654" y="370"/>
                  </a:cubicBezTo>
                  <a:cubicBezTo>
                    <a:pt x="800" y="370"/>
                    <a:pt x="921" y="463"/>
                    <a:pt x="925" y="467"/>
                  </a:cubicBezTo>
                  <a:cubicBezTo>
                    <a:pt x="959" y="495"/>
                    <a:pt x="1000" y="508"/>
                    <a:pt x="1042" y="508"/>
                  </a:cubicBezTo>
                  <a:cubicBezTo>
                    <a:pt x="1095" y="508"/>
                    <a:pt x="1147" y="486"/>
                    <a:pt x="1184" y="443"/>
                  </a:cubicBezTo>
                  <a:cubicBezTo>
                    <a:pt x="1248" y="366"/>
                    <a:pt x="1238" y="249"/>
                    <a:pt x="1161" y="184"/>
                  </a:cubicBezTo>
                  <a:cubicBezTo>
                    <a:pt x="1150" y="175"/>
                    <a:pt x="938" y="0"/>
                    <a:pt x="6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59"/>
            <p:cNvSpPr/>
            <p:nvPr/>
          </p:nvSpPr>
          <p:spPr>
            <a:xfrm>
              <a:off x="5547407" y="2234234"/>
              <a:ext cx="490042" cy="379873"/>
            </a:xfrm>
            <a:custGeom>
              <a:avLst/>
              <a:gdLst/>
              <a:ahLst/>
              <a:cxnLst/>
              <a:rect l="l" t="t" r="r" b="b"/>
              <a:pathLst>
                <a:path w="12935" h="10027" extrusionOk="0">
                  <a:moveTo>
                    <a:pt x="6964" y="2262"/>
                  </a:moveTo>
                  <a:lnTo>
                    <a:pt x="6964" y="2831"/>
                  </a:lnTo>
                  <a:cubicBezTo>
                    <a:pt x="6965" y="2932"/>
                    <a:pt x="7047" y="3016"/>
                    <a:pt x="7148" y="3016"/>
                  </a:cubicBezTo>
                  <a:lnTo>
                    <a:pt x="10929" y="3016"/>
                  </a:lnTo>
                  <a:lnTo>
                    <a:pt x="10929" y="7455"/>
                  </a:lnTo>
                  <a:cubicBezTo>
                    <a:pt x="10929" y="7518"/>
                    <a:pt x="10878" y="7568"/>
                    <a:pt x="10814" y="7568"/>
                  </a:cubicBezTo>
                  <a:lnTo>
                    <a:pt x="3163" y="7568"/>
                  </a:lnTo>
                  <a:lnTo>
                    <a:pt x="3163" y="5923"/>
                  </a:lnTo>
                  <a:cubicBezTo>
                    <a:pt x="3163" y="5828"/>
                    <a:pt x="3094" y="5743"/>
                    <a:pt x="2999" y="5733"/>
                  </a:cubicBezTo>
                  <a:cubicBezTo>
                    <a:pt x="2994" y="5733"/>
                    <a:pt x="2989" y="5733"/>
                    <a:pt x="2983" y="5733"/>
                  </a:cubicBezTo>
                  <a:cubicBezTo>
                    <a:pt x="2883" y="5733"/>
                    <a:pt x="2803" y="5814"/>
                    <a:pt x="2803" y="5917"/>
                  </a:cubicBezTo>
                  <a:lnTo>
                    <a:pt x="2803" y="7600"/>
                  </a:lnTo>
                  <a:lnTo>
                    <a:pt x="2033" y="7600"/>
                  </a:lnTo>
                  <a:cubicBezTo>
                    <a:pt x="1970" y="7600"/>
                    <a:pt x="1919" y="7550"/>
                    <a:pt x="1919" y="7487"/>
                  </a:cubicBezTo>
                  <a:lnTo>
                    <a:pt x="1919" y="2408"/>
                  </a:lnTo>
                  <a:cubicBezTo>
                    <a:pt x="1919" y="2345"/>
                    <a:pt x="1970" y="2294"/>
                    <a:pt x="2033" y="2294"/>
                  </a:cubicBezTo>
                  <a:lnTo>
                    <a:pt x="2803" y="2294"/>
                  </a:lnTo>
                  <a:lnTo>
                    <a:pt x="2803" y="5105"/>
                  </a:lnTo>
                  <a:cubicBezTo>
                    <a:pt x="2803" y="5200"/>
                    <a:pt x="2872" y="5285"/>
                    <a:pt x="2966" y="5295"/>
                  </a:cubicBezTo>
                  <a:cubicBezTo>
                    <a:pt x="2971" y="5295"/>
                    <a:pt x="2977" y="5295"/>
                    <a:pt x="2982" y="5295"/>
                  </a:cubicBezTo>
                  <a:cubicBezTo>
                    <a:pt x="3083" y="5295"/>
                    <a:pt x="3163" y="5214"/>
                    <a:pt x="3163" y="5111"/>
                  </a:cubicBezTo>
                  <a:lnTo>
                    <a:pt x="3163" y="2262"/>
                  </a:lnTo>
                  <a:close/>
                  <a:moveTo>
                    <a:pt x="6964" y="1410"/>
                  </a:moveTo>
                  <a:lnTo>
                    <a:pt x="6964" y="1901"/>
                  </a:lnTo>
                  <a:lnTo>
                    <a:pt x="2041" y="1901"/>
                  </a:lnTo>
                  <a:cubicBezTo>
                    <a:pt x="1774" y="1901"/>
                    <a:pt x="1557" y="2117"/>
                    <a:pt x="1557" y="2384"/>
                  </a:cubicBezTo>
                  <a:lnTo>
                    <a:pt x="1557" y="7479"/>
                  </a:lnTo>
                  <a:cubicBezTo>
                    <a:pt x="1557" y="7746"/>
                    <a:pt x="1774" y="7962"/>
                    <a:pt x="2041" y="7962"/>
                  </a:cubicBezTo>
                  <a:lnTo>
                    <a:pt x="10805" y="7962"/>
                  </a:lnTo>
                  <a:cubicBezTo>
                    <a:pt x="11072" y="7962"/>
                    <a:pt x="11289" y="7746"/>
                    <a:pt x="11289" y="7479"/>
                  </a:cubicBezTo>
                  <a:lnTo>
                    <a:pt x="11289" y="3048"/>
                  </a:lnTo>
                  <a:lnTo>
                    <a:pt x="11714" y="3048"/>
                  </a:lnTo>
                  <a:lnTo>
                    <a:pt x="11714" y="7985"/>
                  </a:lnTo>
                  <a:cubicBezTo>
                    <a:pt x="11714" y="8244"/>
                    <a:pt x="11505" y="8453"/>
                    <a:pt x="11245" y="8453"/>
                  </a:cubicBezTo>
                  <a:lnTo>
                    <a:pt x="1601" y="8453"/>
                  </a:lnTo>
                  <a:cubicBezTo>
                    <a:pt x="1342" y="8453"/>
                    <a:pt x="1132" y="8244"/>
                    <a:pt x="1132" y="7985"/>
                  </a:cubicBezTo>
                  <a:lnTo>
                    <a:pt x="1132" y="1879"/>
                  </a:lnTo>
                  <a:cubicBezTo>
                    <a:pt x="1132" y="1619"/>
                    <a:pt x="1342" y="1410"/>
                    <a:pt x="1601" y="1410"/>
                  </a:cubicBezTo>
                  <a:close/>
                  <a:moveTo>
                    <a:pt x="7553" y="8815"/>
                  </a:moveTo>
                  <a:lnTo>
                    <a:pt x="7553" y="8862"/>
                  </a:lnTo>
                  <a:cubicBezTo>
                    <a:pt x="7553" y="8963"/>
                    <a:pt x="7473" y="9044"/>
                    <a:pt x="7372" y="9044"/>
                  </a:cubicBezTo>
                  <a:lnTo>
                    <a:pt x="5508" y="9044"/>
                  </a:lnTo>
                  <a:cubicBezTo>
                    <a:pt x="5406" y="9044"/>
                    <a:pt x="5326" y="8962"/>
                    <a:pt x="5326" y="8862"/>
                  </a:cubicBezTo>
                  <a:lnTo>
                    <a:pt x="5326" y="8815"/>
                  </a:lnTo>
                  <a:close/>
                  <a:moveTo>
                    <a:pt x="12209" y="8848"/>
                  </a:moveTo>
                  <a:cubicBezTo>
                    <a:pt x="12275" y="8848"/>
                    <a:pt x="12329" y="8901"/>
                    <a:pt x="12329" y="8964"/>
                  </a:cubicBezTo>
                  <a:cubicBezTo>
                    <a:pt x="12331" y="9352"/>
                    <a:pt x="12017" y="9666"/>
                    <a:pt x="11630" y="9666"/>
                  </a:cubicBezTo>
                  <a:lnTo>
                    <a:pt x="1263" y="9666"/>
                  </a:lnTo>
                  <a:cubicBezTo>
                    <a:pt x="877" y="9666"/>
                    <a:pt x="561" y="9350"/>
                    <a:pt x="562" y="8964"/>
                  </a:cubicBezTo>
                  <a:cubicBezTo>
                    <a:pt x="562" y="8899"/>
                    <a:pt x="618" y="8848"/>
                    <a:pt x="683" y="8848"/>
                  </a:cubicBezTo>
                  <a:lnTo>
                    <a:pt x="4966" y="8848"/>
                  </a:lnTo>
                  <a:lnTo>
                    <a:pt x="4966" y="8887"/>
                  </a:lnTo>
                  <a:cubicBezTo>
                    <a:pt x="4966" y="9191"/>
                    <a:pt x="5213" y="9437"/>
                    <a:pt x="5516" y="9437"/>
                  </a:cubicBezTo>
                  <a:lnTo>
                    <a:pt x="7365" y="9437"/>
                  </a:lnTo>
                  <a:cubicBezTo>
                    <a:pt x="7669" y="9437"/>
                    <a:pt x="7915" y="9191"/>
                    <a:pt x="7915" y="8887"/>
                  </a:cubicBezTo>
                  <a:lnTo>
                    <a:pt x="7915" y="8848"/>
                  </a:lnTo>
                  <a:close/>
                  <a:moveTo>
                    <a:pt x="7150" y="0"/>
                  </a:moveTo>
                  <a:cubicBezTo>
                    <a:pt x="7049" y="0"/>
                    <a:pt x="6966" y="83"/>
                    <a:pt x="6966" y="185"/>
                  </a:cubicBezTo>
                  <a:lnTo>
                    <a:pt x="6966" y="1049"/>
                  </a:lnTo>
                  <a:lnTo>
                    <a:pt x="1612" y="1049"/>
                  </a:lnTo>
                  <a:cubicBezTo>
                    <a:pt x="1149" y="1049"/>
                    <a:pt x="774" y="1424"/>
                    <a:pt x="774" y="1886"/>
                  </a:cubicBezTo>
                  <a:lnTo>
                    <a:pt x="774" y="7981"/>
                  </a:lnTo>
                  <a:cubicBezTo>
                    <a:pt x="774" y="8157"/>
                    <a:pt x="827" y="8319"/>
                    <a:pt x="918" y="8453"/>
                  </a:cubicBezTo>
                  <a:lnTo>
                    <a:pt x="468" y="8453"/>
                  </a:lnTo>
                  <a:cubicBezTo>
                    <a:pt x="324" y="8453"/>
                    <a:pt x="194" y="8553"/>
                    <a:pt x="161" y="8694"/>
                  </a:cubicBezTo>
                  <a:cubicBezTo>
                    <a:pt x="1" y="9399"/>
                    <a:pt x="535" y="10027"/>
                    <a:pt x="1214" y="10027"/>
                  </a:cubicBezTo>
                  <a:lnTo>
                    <a:pt x="11724" y="10027"/>
                  </a:lnTo>
                  <a:cubicBezTo>
                    <a:pt x="12402" y="10027"/>
                    <a:pt x="12935" y="9399"/>
                    <a:pt x="12776" y="8694"/>
                  </a:cubicBezTo>
                  <a:cubicBezTo>
                    <a:pt x="12743" y="8552"/>
                    <a:pt x="12615" y="8453"/>
                    <a:pt x="12469" y="8453"/>
                  </a:cubicBezTo>
                  <a:lnTo>
                    <a:pt x="11970" y="8453"/>
                  </a:lnTo>
                  <a:cubicBezTo>
                    <a:pt x="12059" y="8320"/>
                    <a:pt x="12111" y="8158"/>
                    <a:pt x="12111" y="7984"/>
                  </a:cubicBezTo>
                  <a:lnTo>
                    <a:pt x="12111" y="3016"/>
                  </a:lnTo>
                  <a:lnTo>
                    <a:pt x="12547" y="3016"/>
                  </a:lnTo>
                  <a:cubicBezTo>
                    <a:pt x="12649" y="3016"/>
                    <a:pt x="12731" y="2933"/>
                    <a:pt x="12731" y="2830"/>
                  </a:cubicBezTo>
                  <a:lnTo>
                    <a:pt x="12731" y="182"/>
                  </a:lnTo>
                  <a:cubicBezTo>
                    <a:pt x="12731" y="81"/>
                    <a:pt x="12651" y="0"/>
                    <a:pt x="12549" y="0"/>
                  </a:cubicBezTo>
                  <a:lnTo>
                    <a:pt x="10737" y="0"/>
                  </a:lnTo>
                  <a:cubicBezTo>
                    <a:pt x="10642" y="0"/>
                    <a:pt x="10557" y="69"/>
                    <a:pt x="10549" y="164"/>
                  </a:cubicBezTo>
                  <a:cubicBezTo>
                    <a:pt x="10540" y="271"/>
                    <a:pt x="10624" y="360"/>
                    <a:pt x="10729" y="360"/>
                  </a:cubicBezTo>
                  <a:lnTo>
                    <a:pt x="12371" y="360"/>
                  </a:lnTo>
                  <a:lnTo>
                    <a:pt x="12371" y="2654"/>
                  </a:lnTo>
                  <a:lnTo>
                    <a:pt x="7359" y="2654"/>
                  </a:lnTo>
                  <a:lnTo>
                    <a:pt x="7359" y="360"/>
                  </a:lnTo>
                  <a:lnTo>
                    <a:pt x="9769" y="360"/>
                  </a:lnTo>
                  <a:cubicBezTo>
                    <a:pt x="9865" y="360"/>
                    <a:pt x="9950" y="290"/>
                    <a:pt x="9957" y="197"/>
                  </a:cubicBezTo>
                  <a:cubicBezTo>
                    <a:pt x="9966" y="89"/>
                    <a:pt x="9883" y="0"/>
                    <a:pt x="97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59"/>
            <p:cNvSpPr/>
            <p:nvPr/>
          </p:nvSpPr>
          <p:spPr>
            <a:xfrm>
              <a:off x="5847001" y="2368347"/>
              <a:ext cx="35915" cy="13676"/>
            </a:xfrm>
            <a:custGeom>
              <a:avLst/>
              <a:gdLst/>
              <a:ahLst/>
              <a:cxnLst/>
              <a:rect l="l" t="t" r="r" b="b"/>
              <a:pathLst>
                <a:path w="948" h="361" extrusionOk="0">
                  <a:moveTo>
                    <a:pt x="199" y="0"/>
                  </a:moveTo>
                  <a:cubicBezTo>
                    <a:pt x="104" y="0"/>
                    <a:pt x="19" y="69"/>
                    <a:pt x="11" y="164"/>
                  </a:cubicBezTo>
                  <a:cubicBezTo>
                    <a:pt x="0" y="270"/>
                    <a:pt x="85" y="361"/>
                    <a:pt x="190" y="361"/>
                  </a:cubicBezTo>
                  <a:lnTo>
                    <a:pt x="749" y="361"/>
                  </a:lnTo>
                  <a:cubicBezTo>
                    <a:pt x="845" y="361"/>
                    <a:pt x="930" y="291"/>
                    <a:pt x="938" y="197"/>
                  </a:cubicBezTo>
                  <a:cubicBezTo>
                    <a:pt x="947" y="89"/>
                    <a:pt x="863" y="0"/>
                    <a:pt x="7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9"/>
            <p:cNvSpPr/>
            <p:nvPr/>
          </p:nvSpPr>
          <p:spPr>
            <a:xfrm>
              <a:off x="5847039" y="2426614"/>
              <a:ext cx="35877" cy="13714"/>
            </a:xfrm>
            <a:custGeom>
              <a:avLst/>
              <a:gdLst/>
              <a:ahLst/>
              <a:cxnLst/>
              <a:rect l="l" t="t" r="r" b="b"/>
              <a:pathLst>
                <a:path w="947" h="362" extrusionOk="0">
                  <a:moveTo>
                    <a:pt x="198" y="1"/>
                  </a:moveTo>
                  <a:cubicBezTo>
                    <a:pt x="103" y="1"/>
                    <a:pt x="18" y="70"/>
                    <a:pt x="10" y="164"/>
                  </a:cubicBezTo>
                  <a:cubicBezTo>
                    <a:pt x="0" y="272"/>
                    <a:pt x="84" y="361"/>
                    <a:pt x="189" y="361"/>
                  </a:cubicBezTo>
                  <a:lnTo>
                    <a:pt x="748" y="361"/>
                  </a:lnTo>
                  <a:cubicBezTo>
                    <a:pt x="844" y="361"/>
                    <a:pt x="929" y="291"/>
                    <a:pt x="937" y="197"/>
                  </a:cubicBezTo>
                  <a:cubicBezTo>
                    <a:pt x="946" y="91"/>
                    <a:pt x="862" y="1"/>
                    <a:pt x="7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9"/>
            <p:cNvSpPr/>
            <p:nvPr/>
          </p:nvSpPr>
          <p:spPr>
            <a:xfrm>
              <a:off x="5847039" y="2456430"/>
              <a:ext cx="35877" cy="13676"/>
            </a:xfrm>
            <a:custGeom>
              <a:avLst/>
              <a:gdLst/>
              <a:ahLst/>
              <a:cxnLst/>
              <a:rect l="l" t="t" r="r" b="b"/>
              <a:pathLst>
                <a:path w="947" h="361" extrusionOk="0">
                  <a:moveTo>
                    <a:pt x="198" y="0"/>
                  </a:moveTo>
                  <a:cubicBezTo>
                    <a:pt x="103" y="0"/>
                    <a:pt x="18" y="70"/>
                    <a:pt x="10" y="164"/>
                  </a:cubicBezTo>
                  <a:cubicBezTo>
                    <a:pt x="0" y="272"/>
                    <a:pt x="84" y="361"/>
                    <a:pt x="189" y="361"/>
                  </a:cubicBezTo>
                  <a:lnTo>
                    <a:pt x="748" y="361"/>
                  </a:lnTo>
                  <a:cubicBezTo>
                    <a:pt x="844" y="361"/>
                    <a:pt x="929" y="292"/>
                    <a:pt x="937" y="197"/>
                  </a:cubicBezTo>
                  <a:cubicBezTo>
                    <a:pt x="946" y="89"/>
                    <a:pt x="862" y="0"/>
                    <a:pt x="7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59"/>
            <p:cNvSpPr/>
            <p:nvPr/>
          </p:nvSpPr>
          <p:spPr>
            <a:xfrm>
              <a:off x="5749258" y="2484995"/>
              <a:ext cx="35877" cy="13676"/>
            </a:xfrm>
            <a:custGeom>
              <a:avLst/>
              <a:gdLst/>
              <a:ahLst/>
              <a:cxnLst/>
              <a:rect l="l" t="t" r="r" b="b"/>
              <a:pathLst>
                <a:path w="947" h="361" extrusionOk="0">
                  <a:moveTo>
                    <a:pt x="199" y="0"/>
                  </a:moveTo>
                  <a:cubicBezTo>
                    <a:pt x="103" y="0"/>
                    <a:pt x="19" y="70"/>
                    <a:pt x="10" y="164"/>
                  </a:cubicBezTo>
                  <a:cubicBezTo>
                    <a:pt x="1" y="272"/>
                    <a:pt x="86" y="361"/>
                    <a:pt x="190" y="361"/>
                  </a:cubicBezTo>
                  <a:lnTo>
                    <a:pt x="749" y="361"/>
                  </a:lnTo>
                  <a:cubicBezTo>
                    <a:pt x="845" y="361"/>
                    <a:pt x="930" y="292"/>
                    <a:pt x="937" y="197"/>
                  </a:cubicBezTo>
                  <a:cubicBezTo>
                    <a:pt x="947" y="89"/>
                    <a:pt x="863" y="0"/>
                    <a:pt x="7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59"/>
            <p:cNvSpPr/>
            <p:nvPr/>
          </p:nvSpPr>
          <p:spPr>
            <a:xfrm>
              <a:off x="5804153" y="2484995"/>
              <a:ext cx="78308" cy="13676"/>
            </a:xfrm>
            <a:custGeom>
              <a:avLst/>
              <a:gdLst/>
              <a:ahLst/>
              <a:cxnLst/>
              <a:rect l="l" t="t" r="r" b="b"/>
              <a:pathLst>
                <a:path w="2067" h="361" extrusionOk="0">
                  <a:moveTo>
                    <a:pt x="198" y="0"/>
                  </a:moveTo>
                  <a:cubicBezTo>
                    <a:pt x="103" y="0"/>
                    <a:pt x="17" y="70"/>
                    <a:pt x="10" y="164"/>
                  </a:cubicBezTo>
                  <a:cubicBezTo>
                    <a:pt x="0" y="272"/>
                    <a:pt x="84" y="361"/>
                    <a:pt x="189" y="361"/>
                  </a:cubicBezTo>
                  <a:lnTo>
                    <a:pt x="1868" y="361"/>
                  </a:lnTo>
                  <a:cubicBezTo>
                    <a:pt x="1963" y="361"/>
                    <a:pt x="2048" y="292"/>
                    <a:pt x="2056" y="197"/>
                  </a:cubicBezTo>
                  <a:cubicBezTo>
                    <a:pt x="2067" y="89"/>
                    <a:pt x="1983" y="0"/>
                    <a:pt x="18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9"/>
            <p:cNvSpPr/>
            <p:nvPr/>
          </p:nvSpPr>
          <p:spPr>
            <a:xfrm>
              <a:off x="5792485" y="2426614"/>
              <a:ext cx="35536" cy="13714"/>
            </a:xfrm>
            <a:custGeom>
              <a:avLst/>
              <a:gdLst/>
              <a:ahLst/>
              <a:cxnLst/>
              <a:rect l="l" t="t" r="r" b="b"/>
              <a:pathLst>
                <a:path w="938" h="362" extrusionOk="0">
                  <a:moveTo>
                    <a:pt x="198" y="1"/>
                  </a:moveTo>
                  <a:cubicBezTo>
                    <a:pt x="103" y="1"/>
                    <a:pt x="18" y="70"/>
                    <a:pt x="10" y="164"/>
                  </a:cubicBezTo>
                  <a:cubicBezTo>
                    <a:pt x="0" y="272"/>
                    <a:pt x="84" y="361"/>
                    <a:pt x="189" y="361"/>
                  </a:cubicBezTo>
                  <a:lnTo>
                    <a:pt x="758" y="361"/>
                  </a:lnTo>
                  <a:cubicBezTo>
                    <a:pt x="758" y="361"/>
                    <a:pt x="759" y="361"/>
                    <a:pt x="760" y="361"/>
                  </a:cubicBezTo>
                  <a:cubicBezTo>
                    <a:pt x="859" y="361"/>
                    <a:pt x="938" y="280"/>
                    <a:pt x="938" y="181"/>
                  </a:cubicBezTo>
                  <a:cubicBezTo>
                    <a:pt x="938" y="81"/>
                    <a:pt x="857" y="1"/>
                    <a:pt x="7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9"/>
            <p:cNvSpPr/>
            <p:nvPr/>
          </p:nvSpPr>
          <p:spPr>
            <a:xfrm>
              <a:off x="5703758" y="2426614"/>
              <a:ext cx="74974" cy="13714"/>
            </a:xfrm>
            <a:custGeom>
              <a:avLst/>
              <a:gdLst/>
              <a:ahLst/>
              <a:cxnLst/>
              <a:rect l="l" t="t" r="r" b="b"/>
              <a:pathLst>
                <a:path w="1979" h="362" extrusionOk="0">
                  <a:moveTo>
                    <a:pt x="198" y="1"/>
                  </a:moveTo>
                  <a:cubicBezTo>
                    <a:pt x="103" y="1"/>
                    <a:pt x="17" y="70"/>
                    <a:pt x="10" y="164"/>
                  </a:cubicBezTo>
                  <a:cubicBezTo>
                    <a:pt x="0" y="272"/>
                    <a:pt x="84" y="361"/>
                    <a:pt x="189" y="361"/>
                  </a:cubicBezTo>
                  <a:lnTo>
                    <a:pt x="1798" y="361"/>
                  </a:lnTo>
                  <a:cubicBezTo>
                    <a:pt x="1798" y="361"/>
                    <a:pt x="1799" y="361"/>
                    <a:pt x="1800" y="361"/>
                  </a:cubicBezTo>
                  <a:cubicBezTo>
                    <a:pt x="1898" y="361"/>
                    <a:pt x="1979" y="280"/>
                    <a:pt x="1979" y="181"/>
                  </a:cubicBezTo>
                  <a:cubicBezTo>
                    <a:pt x="1979" y="81"/>
                    <a:pt x="1897" y="1"/>
                    <a:pt x="17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59"/>
            <p:cNvSpPr/>
            <p:nvPr/>
          </p:nvSpPr>
          <p:spPr>
            <a:xfrm>
              <a:off x="5704630" y="2368347"/>
              <a:ext cx="122747" cy="13676"/>
            </a:xfrm>
            <a:custGeom>
              <a:avLst/>
              <a:gdLst/>
              <a:ahLst/>
              <a:cxnLst/>
              <a:rect l="l" t="t" r="r" b="b"/>
              <a:pathLst>
                <a:path w="3240" h="361" extrusionOk="0">
                  <a:moveTo>
                    <a:pt x="180" y="0"/>
                  </a:moveTo>
                  <a:cubicBezTo>
                    <a:pt x="81" y="0"/>
                    <a:pt x="1" y="80"/>
                    <a:pt x="1" y="179"/>
                  </a:cubicBezTo>
                  <a:cubicBezTo>
                    <a:pt x="1" y="279"/>
                    <a:pt x="82" y="361"/>
                    <a:pt x="182" y="361"/>
                  </a:cubicBezTo>
                  <a:lnTo>
                    <a:pt x="3042" y="361"/>
                  </a:lnTo>
                  <a:cubicBezTo>
                    <a:pt x="3137" y="361"/>
                    <a:pt x="3223" y="291"/>
                    <a:pt x="3231" y="197"/>
                  </a:cubicBezTo>
                  <a:cubicBezTo>
                    <a:pt x="3240" y="89"/>
                    <a:pt x="3156" y="0"/>
                    <a:pt x="3051" y="0"/>
                  </a:cubicBezTo>
                  <a:lnTo>
                    <a:pt x="182" y="0"/>
                  </a:lnTo>
                  <a:cubicBezTo>
                    <a:pt x="181" y="0"/>
                    <a:pt x="180"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9"/>
            <p:cNvSpPr/>
            <p:nvPr/>
          </p:nvSpPr>
          <p:spPr>
            <a:xfrm>
              <a:off x="5702963" y="2398087"/>
              <a:ext cx="180787" cy="13714"/>
            </a:xfrm>
            <a:custGeom>
              <a:avLst/>
              <a:gdLst/>
              <a:ahLst/>
              <a:cxnLst/>
              <a:rect l="l" t="t" r="r" b="b"/>
              <a:pathLst>
                <a:path w="4772" h="362" extrusionOk="0">
                  <a:moveTo>
                    <a:pt x="200" y="1"/>
                  </a:moveTo>
                  <a:cubicBezTo>
                    <a:pt x="104" y="1"/>
                    <a:pt x="19" y="70"/>
                    <a:pt x="10" y="164"/>
                  </a:cubicBezTo>
                  <a:cubicBezTo>
                    <a:pt x="1" y="272"/>
                    <a:pt x="85" y="361"/>
                    <a:pt x="193" y="361"/>
                  </a:cubicBezTo>
                  <a:lnTo>
                    <a:pt x="4562" y="361"/>
                  </a:lnTo>
                  <a:cubicBezTo>
                    <a:pt x="4650" y="361"/>
                    <a:pt x="4729" y="303"/>
                    <a:pt x="4748" y="217"/>
                  </a:cubicBezTo>
                  <a:cubicBezTo>
                    <a:pt x="4771" y="101"/>
                    <a:pt x="4681" y="1"/>
                    <a:pt x="45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9"/>
            <p:cNvSpPr/>
            <p:nvPr/>
          </p:nvSpPr>
          <p:spPr>
            <a:xfrm>
              <a:off x="5898411" y="2368347"/>
              <a:ext cx="27618" cy="13676"/>
            </a:xfrm>
            <a:custGeom>
              <a:avLst/>
              <a:gdLst/>
              <a:ahLst/>
              <a:cxnLst/>
              <a:rect l="l" t="t" r="r" b="b"/>
              <a:pathLst>
                <a:path w="729" h="361" extrusionOk="0">
                  <a:moveTo>
                    <a:pt x="199" y="0"/>
                  </a:moveTo>
                  <a:cubicBezTo>
                    <a:pt x="103" y="0"/>
                    <a:pt x="19" y="69"/>
                    <a:pt x="10" y="164"/>
                  </a:cubicBezTo>
                  <a:cubicBezTo>
                    <a:pt x="1" y="270"/>
                    <a:pt x="85" y="361"/>
                    <a:pt x="189" y="361"/>
                  </a:cubicBezTo>
                  <a:lnTo>
                    <a:pt x="532" y="361"/>
                  </a:lnTo>
                  <a:cubicBezTo>
                    <a:pt x="627" y="361"/>
                    <a:pt x="712" y="291"/>
                    <a:pt x="720" y="197"/>
                  </a:cubicBezTo>
                  <a:cubicBezTo>
                    <a:pt x="729" y="89"/>
                    <a:pt x="645" y="0"/>
                    <a:pt x="5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9"/>
            <p:cNvSpPr/>
            <p:nvPr/>
          </p:nvSpPr>
          <p:spPr>
            <a:xfrm>
              <a:off x="5898411" y="2398087"/>
              <a:ext cx="27618" cy="13714"/>
            </a:xfrm>
            <a:custGeom>
              <a:avLst/>
              <a:gdLst/>
              <a:ahLst/>
              <a:cxnLst/>
              <a:rect l="l" t="t" r="r" b="b"/>
              <a:pathLst>
                <a:path w="729" h="362" extrusionOk="0">
                  <a:moveTo>
                    <a:pt x="199" y="1"/>
                  </a:moveTo>
                  <a:cubicBezTo>
                    <a:pt x="103" y="1"/>
                    <a:pt x="19" y="70"/>
                    <a:pt x="10" y="164"/>
                  </a:cubicBezTo>
                  <a:cubicBezTo>
                    <a:pt x="1" y="272"/>
                    <a:pt x="85" y="361"/>
                    <a:pt x="189" y="361"/>
                  </a:cubicBezTo>
                  <a:lnTo>
                    <a:pt x="532" y="361"/>
                  </a:lnTo>
                  <a:cubicBezTo>
                    <a:pt x="627" y="361"/>
                    <a:pt x="712" y="292"/>
                    <a:pt x="720" y="198"/>
                  </a:cubicBezTo>
                  <a:cubicBezTo>
                    <a:pt x="729" y="90"/>
                    <a:pt x="645" y="1"/>
                    <a:pt x="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9"/>
            <p:cNvSpPr/>
            <p:nvPr/>
          </p:nvSpPr>
          <p:spPr>
            <a:xfrm>
              <a:off x="5898411" y="2426652"/>
              <a:ext cx="27618" cy="13714"/>
            </a:xfrm>
            <a:custGeom>
              <a:avLst/>
              <a:gdLst/>
              <a:ahLst/>
              <a:cxnLst/>
              <a:rect l="l" t="t" r="r" b="b"/>
              <a:pathLst>
                <a:path w="729" h="362" extrusionOk="0">
                  <a:moveTo>
                    <a:pt x="199" y="1"/>
                  </a:moveTo>
                  <a:cubicBezTo>
                    <a:pt x="103" y="1"/>
                    <a:pt x="19" y="70"/>
                    <a:pt x="10" y="164"/>
                  </a:cubicBezTo>
                  <a:cubicBezTo>
                    <a:pt x="1" y="271"/>
                    <a:pt x="85" y="361"/>
                    <a:pt x="189" y="361"/>
                  </a:cubicBezTo>
                  <a:lnTo>
                    <a:pt x="532" y="361"/>
                  </a:lnTo>
                  <a:cubicBezTo>
                    <a:pt x="627" y="361"/>
                    <a:pt x="712" y="292"/>
                    <a:pt x="720" y="198"/>
                  </a:cubicBezTo>
                  <a:cubicBezTo>
                    <a:pt x="729" y="90"/>
                    <a:pt x="645" y="1"/>
                    <a:pt x="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9"/>
            <p:cNvSpPr/>
            <p:nvPr/>
          </p:nvSpPr>
          <p:spPr>
            <a:xfrm>
              <a:off x="5898411" y="2456430"/>
              <a:ext cx="27618" cy="13676"/>
            </a:xfrm>
            <a:custGeom>
              <a:avLst/>
              <a:gdLst/>
              <a:ahLst/>
              <a:cxnLst/>
              <a:rect l="l" t="t" r="r" b="b"/>
              <a:pathLst>
                <a:path w="729" h="361" extrusionOk="0">
                  <a:moveTo>
                    <a:pt x="199" y="0"/>
                  </a:moveTo>
                  <a:cubicBezTo>
                    <a:pt x="103" y="0"/>
                    <a:pt x="19" y="70"/>
                    <a:pt x="10" y="164"/>
                  </a:cubicBezTo>
                  <a:cubicBezTo>
                    <a:pt x="1" y="272"/>
                    <a:pt x="85" y="361"/>
                    <a:pt x="189" y="361"/>
                  </a:cubicBezTo>
                  <a:lnTo>
                    <a:pt x="532" y="361"/>
                  </a:lnTo>
                  <a:cubicBezTo>
                    <a:pt x="627" y="361"/>
                    <a:pt x="712" y="292"/>
                    <a:pt x="720" y="197"/>
                  </a:cubicBezTo>
                  <a:cubicBezTo>
                    <a:pt x="729" y="89"/>
                    <a:pt x="645" y="0"/>
                    <a:pt x="5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9"/>
            <p:cNvSpPr/>
            <p:nvPr/>
          </p:nvSpPr>
          <p:spPr>
            <a:xfrm>
              <a:off x="5898411" y="2484995"/>
              <a:ext cx="27618" cy="13676"/>
            </a:xfrm>
            <a:custGeom>
              <a:avLst/>
              <a:gdLst/>
              <a:ahLst/>
              <a:cxnLst/>
              <a:rect l="l" t="t" r="r" b="b"/>
              <a:pathLst>
                <a:path w="729" h="361" extrusionOk="0">
                  <a:moveTo>
                    <a:pt x="199" y="0"/>
                  </a:moveTo>
                  <a:cubicBezTo>
                    <a:pt x="103" y="0"/>
                    <a:pt x="19" y="70"/>
                    <a:pt x="10" y="164"/>
                  </a:cubicBezTo>
                  <a:cubicBezTo>
                    <a:pt x="1" y="272"/>
                    <a:pt x="85" y="361"/>
                    <a:pt x="189" y="361"/>
                  </a:cubicBezTo>
                  <a:lnTo>
                    <a:pt x="532" y="361"/>
                  </a:lnTo>
                  <a:cubicBezTo>
                    <a:pt x="627" y="361"/>
                    <a:pt x="712" y="292"/>
                    <a:pt x="720" y="197"/>
                  </a:cubicBezTo>
                  <a:cubicBezTo>
                    <a:pt x="729" y="89"/>
                    <a:pt x="645" y="0"/>
                    <a:pt x="5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9" name="Google Shape;2259;p59"/>
          <p:cNvSpPr txBox="1"/>
          <p:nvPr/>
        </p:nvSpPr>
        <p:spPr>
          <a:xfrm>
            <a:off x="734150" y="3246950"/>
            <a:ext cx="1573200" cy="475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Path</a:t>
            </a:r>
          </a:p>
        </p:txBody>
      </p:sp>
      <p:sp>
        <p:nvSpPr>
          <p:cNvPr id="2260" name="Google Shape;2260;p59"/>
          <p:cNvSpPr txBox="1"/>
          <p:nvPr/>
        </p:nvSpPr>
        <p:spPr>
          <a:xfrm>
            <a:off x="734156" y="3646300"/>
            <a:ext cx="1573200" cy="914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Thử đổi path của từng alert</a:t>
            </a:r>
          </a:p>
        </p:txBody>
      </p:sp>
      <p:sp>
        <p:nvSpPr>
          <p:cNvPr id="2261" name="Google Shape;2261;p59"/>
          <p:cNvSpPr txBox="1"/>
          <p:nvPr/>
        </p:nvSpPr>
        <p:spPr>
          <a:xfrm>
            <a:off x="2768315" y="3246950"/>
            <a:ext cx="1573200" cy="475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Bandwidth</a:t>
            </a:r>
          </a:p>
        </p:txBody>
      </p:sp>
      <p:sp>
        <p:nvSpPr>
          <p:cNvPr id="2262" name="Google Shape;2262;p59"/>
          <p:cNvSpPr txBox="1"/>
          <p:nvPr/>
        </p:nvSpPr>
        <p:spPr>
          <a:xfrm>
            <a:off x="2768315" y="3646300"/>
            <a:ext cx="1573200" cy="914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vi-VN">
                <a:solidFill>
                  <a:srgbClr val="191919"/>
                </a:solidFill>
                <a:latin typeface="Be Vietnam Pro"/>
                <a:ea typeface="Be Vietnam Pro"/>
                <a:cs typeface="Be Vietnam Pro"/>
                <a:sym typeface="Be Vietnam Pro"/>
              </a:rPr>
              <a:t>Thử tăng gấp đôi hoặc giảm một nửa weight của từng link</a:t>
            </a:r>
          </a:p>
        </p:txBody>
      </p:sp>
      <p:sp>
        <p:nvSpPr>
          <p:cNvPr id="2263" name="Google Shape;2263;p59"/>
          <p:cNvSpPr txBox="1"/>
          <p:nvPr/>
        </p:nvSpPr>
        <p:spPr>
          <a:xfrm>
            <a:off x="734163" y="1243875"/>
            <a:ext cx="1573200" cy="48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000" b="1">
                <a:solidFill>
                  <a:schemeClr val="lt2"/>
                </a:solidFill>
                <a:latin typeface="Be Vietnam Pro"/>
                <a:ea typeface="Be Vietnam Pro"/>
                <a:cs typeface="Be Vietnam Pro"/>
                <a:sym typeface="Be Vietnam Pro"/>
              </a:rPr>
              <a:t>01</a:t>
            </a:r>
            <a:endParaRPr sz="3000" b="1">
              <a:solidFill>
                <a:schemeClr val="lt2"/>
              </a:solidFill>
              <a:latin typeface="Be Vietnam Pro"/>
              <a:ea typeface="Be Vietnam Pro"/>
              <a:cs typeface="Be Vietnam Pro"/>
              <a:sym typeface="Be Vietnam Pro"/>
            </a:endParaRPr>
          </a:p>
        </p:txBody>
      </p:sp>
      <p:sp>
        <p:nvSpPr>
          <p:cNvPr id="2264" name="Google Shape;2264;p59"/>
          <p:cNvSpPr txBox="1"/>
          <p:nvPr/>
        </p:nvSpPr>
        <p:spPr>
          <a:xfrm>
            <a:off x="4802510" y="3246950"/>
            <a:ext cx="1573200" cy="475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Trajectory</a:t>
            </a:r>
          </a:p>
        </p:txBody>
      </p:sp>
      <p:sp>
        <p:nvSpPr>
          <p:cNvPr id="2265" name="Google Shape;2265;p59"/>
          <p:cNvSpPr txBox="1"/>
          <p:nvPr/>
        </p:nvSpPr>
        <p:spPr>
          <a:xfrm>
            <a:off x="4802510" y="3646300"/>
            <a:ext cx="1573200" cy="914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Kéo một đoạn quỹ đạo về phía link UAV đang nghẽn</a:t>
            </a:r>
          </a:p>
        </p:txBody>
      </p:sp>
      <p:sp>
        <p:nvSpPr>
          <p:cNvPr id="2266" name="Google Shape;2266;p59"/>
          <p:cNvSpPr txBox="1"/>
          <p:nvPr/>
        </p:nvSpPr>
        <p:spPr>
          <a:xfrm>
            <a:off x="6836648" y="3246950"/>
            <a:ext cx="1573200" cy="475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Repair</a:t>
            </a:r>
          </a:p>
        </p:txBody>
      </p:sp>
      <p:sp>
        <p:nvSpPr>
          <p:cNvPr id="2267" name="Google Shape;2267;p59"/>
          <p:cNvSpPr txBox="1"/>
          <p:nvPr/>
        </p:nvSpPr>
        <p:spPr>
          <a:xfrm>
            <a:off x="6836645" y="3646300"/>
            <a:ext cx="1573200" cy="914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Chỉ có ở SBS-R: ưu tiên các alert sắp trễ hạn</a:t>
            </a:r>
          </a:p>
        </p:txBody>
      </p:sp>
      <p:sp>
        <p:nvSpPr>
          <p:cNvPr id="2268" name="Google Shape;2268;p59"/>
          <p:cNvSpPr txBox="1"/>
          <p:nvPr/>
        </p:nvSpPr>
        <p:spPr>
          <a:xfrm>
            <a:off x="2768315" y="1243875"/>
            <a:ext cx="1573200" cy="48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000" b="1">
                <a:solidFill>
                  <a:schemeClr val="lt2"/>
                </a:solidFill>
                <a:latin typeface="Be Vietnam Pro"/>
                <a:ea typeface="Be Vietnam Pro"/>
                <a:cs typeface="Be Vietnam Pro"/>
                <a:sym typeface="Be Vietnam Pro"/>
              </a:rPr>
              <a:t>02</a:t>
            </a:r>
            <a:endParaRPr sz="3000" b="1">
              <a:solidFill>
                <a:schemeClr val="lt2"/>
              </a:solidFill>
              <a:latin typeface="Be Vietnam Pro"/>
              <a:ea typeface="Be Vietnam Pro"/>
              <a:cs typeface="Be Vietnam Pro"/>
              <a:sym typeface="Be Vietnam Pro"/>
            </a:endParaRPr>
          </a:p>
        </p:txBody>
      </p:sp>
      <p:sp>
        <p:nvSpPr>
          <p:cNvPr id="2269" name="Google Shape;2269;p59"/>
          <p:cNvSpPr txBox="1"/>
          <p:nvPr/>
        </p:nvSpPr>
        <p:spPr>
          <a:xfrm>
            <a:off x="4802461" y="1243875"/>
            <a:ext cx="1573200" cy="48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000" b="1">
                <a:solidFill>
                  <a:schemeClr val="lt2"/>
                </a:solidFill>
                <a:latin typeface="Be Vietnam Pro"/>
                <a:ea typeface="Be Vietnam Pro"/>
                <a:cs typeface="Be Vietnam Pro"/>
                <a:sym typeface="Be Vietnam Pro"/>
              </a:rPr>
              <a:t>03</a:t>
            </a:r>
            <a:endParaRPr sz="3000" b="1">
              <a:solidFill>
                <a:schemeClr val="lt2"/>
              </a:solidFill>
              <a:latin typeface="Be Vietnam Pro"/>
              <a:ea typeface="Be Vietnam Pro"/>
              <a:cs typeface="Be Vietnam Pro"/>
              <a:sym typeface="Be Vietnam Pro"/>
            </a:endParaRPr>
          </a:p>
        </p:txBody>
      </p:sp>
      <p:sp>
        <p:nvSpPr>
          <p:cNvPr id="2270" name="Google Shape;2270;p59"/>
          <p:cNvSpPr txBox="1"/>
          <p:nvPr/>
        </p:nvSpPr>
        <p:spPr>
          <a:xfrm>
            <a:off x="6836640" y="1243875"/>
            <a:ext cx="1573200" cy="48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000" b="1">
                <a:solidFill>
                  <a:schemeClr val="lt2"/>
                </a:solidFill>
                <a:latin typeface="Be Vietnam Pro"/>
                <a:ea typeface="Be Vietnam Pro"/>
                <a:cs typeface="Be Vietnam Pro"/>
                <a:sym typeface="Be Vietnam Pro"/>
              </a:rPr>
              <a:t>04</a:t>
            </a:r>
            <a:endParaRPr sz="3000" b="1">
              <a:solidFill>
                <a:schemeClr val="lt2"/>
              </a:solidFill>
              <a:latin typeface="Be Vietnam Pro"/>
              <a:ea typeface="Be Vietnam Pro"/>
              <a:cs typeface="Be Vietnam Pro"/>
              <a:sym typeface="Be Vietnam Pro"/>
            </a:endParaRPr>
          </a:p>
        </p:txBody>
      </p:sp>
      <p:sp>
        <p:nvSpPr>
          <p:cNvPr id="2271" name="Google Shape;2271;p59"/>
          <p:cNvSpPr/>
          <p:nvPr/>
        </p:nvSpPr>
        <p:spPr>
          <a:xfrm>
            <a:off x="5224112" y="2205250"/>
            <a:ext cx="729900" cy="5727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9"/>
          <p:cNvSpPr/>
          <p:nvPr/>
        </p:nvSpPr>
        <p:spPr>
          <a:xfrm>
            <a:off x="7258295" y="2205250"/>
            <a:ext cx="729900" cy="5727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3" name="Google Shape;2273;p59"/>
          <p:cNvCxnSpPr>
            <a:stCxn id="2263" idx="2"/>
            <a:endCxn id="2227" idx="0"/>
          </p:cNvCxnSpPr>
          <p:nvPr/>
        </p:nvCxnSpPr>
        <p:spPr>
          <a:xfrm rot="-5400000" flipH="1">
            <a:off x="1283313" y="1967325"/>
            <a:ext cx="475500" cy="600"/>
          </a:xfrm>
          <a:prstGeom prst="bentConnector3">
            <a:avLst>
              <a:gd name="adj1" fmla="val 49987"/>
            </a:avLst>
          </a:prstGeom>
          <a:noFill/>
          <a:ln w="9525" cap="flat" cmpd="sng">
            <a:solidFill>
              <a:schemeClr val="lt2"/>
            </a:solidFill>
            <a:prstDash val="solid"/>
            <a:round/>
            <a:headEnd type="none" w="med" len="med"/>
            <a:tailEnd type="none" w="med" len="med"/>
          </a:ln>
        </p:spPr>
      </p:cxnSp>
      <p:cxnSp>
        <p:nvCxnSpPr>
          <p:cNvPr id="2274" name="Google Shape;2274;p59"/>
          <p:cNvCxnSpPr>
            <a:stCxn id="2227" idx="2"/>
            <a:endCxn id="2259" idx="0"/>
          </p:cNvCxnSpPr>
          <p:nvPr/>
        </p:nvCxnSpPr>
        <p:spPr>
          <a:xfrm rot="-5400000" flipH="1">
            <a:off x="1286600" y="3012100"/>
            <a:ext cx="468900" cy="600"/>
          </a:xfrm>
          <a:prstGeom prst="bentConnector3">
            <a:avLst>
              <a:gd name="adj1" fmla="val 50011"/>
            </a:avLst>
          </a:prstGeom>
          <a:noFill/>
          <a:ln w="9525" cap="flat" cmpd="sng">
            <a:solidFill>
              <a:schemeClr val="lt2"/>
            </a:solidFill>
            <a:prstDash val="solid"/>
            <a:round/>
            <a:headEnd type="none" w="med" len="med"/>
            <a:tailEnd type="oval" w="med" len="med"/>
          </a:ln>
        </p:spPr>
      </p:cxnSp>
      <p:cxnSp>
        <p:nvCxnSpPr>
          <p:cNvPr id="2275" name="Google Shape;2275;p59"/>
          <p:cNvCxnSpPr>
            <a:stCxn id="2226" idx="2"/>
            <a:endCxn id="2261" idx="0"/>
          </p:cNvCxnSpPr>
          <p:nvPr/>
        </p:nvCxnSpPr>
        <p:spPr>
          <a:xfrm rot="-5400000" flipH="1">
            <a:off x="3320765" y="3012100"/>
            <a:ext cx="468900" cy="600"/>
          </a:xfrm>
          <a:prstGeom prst="bentConnector3">
            <a:avLst>
              <a:gd name="adj1" fmla="val 50011"/>
            </a:avLst>
          </a:prstGeom>
          <a:noFill/>
          <a:ln w="9525" cap="flat" cmpd="sng">
            <a:solidFill>
              <a:schemeClr val="lt2"/>
            </a:solidFill>
            <a:prstDash val="solid"/>
            <a:round/>
            <a:headEnd type="none" w="med" len="med"/>
            <a:tailEnd type="oval" w="med" len="med"/>
          </a:ln>
        </p:spPr>
      </p:cxnSp>
      <p:cxnSp>
        <p:nvCxnSpPr>
          <p:cNvPr id="2276" name="Google Shape;2276;p59"/>
          <p:cNvCxnSpPr>
            <a:stCxn id="2271" idx="2"/>
            <a:endCxn id="2264" idx="0"/>
          </p:cNvCxnSpPr>
          <p:nvPr/>
        </p:nvCxnSpPr>
        <p:spPr>
          <a:xfrm rot="-5400000" flipH="1">
            <a:off x="5354912" y="3012100"/>
            <a:ext cx="468900" cy="600"/>
          </a:xfrm>
          <a:prstGeom prst="bentConnector3">
            <a:avLst>
              <a:gd name="adj1" fmla="val 50011"/>
            </a:avLst>
          </a:prstGeom>
          <a:noFill/>
          <a:ln w="9525" cap="flat" cmpd="sng">
            <a:solidFill>
              <a:schemeClr val="lt2"/>
            </a:solidFill>
            <a:prstDash val="solid"/>
            <a:round/>
            <a:headEnd type="none" w="med" len="med"/>
            <a:tailEnd type="oval" w="med" len="med"/>
          </a:ln>
        </p:spPr>
      </p:cxnSp>
      <p:cxnSp>
        <p:nvCxnSpPr>
          <p:cNvPr id="2277" name="Google Shape;2277;p59"/>
          <p:cNvCxnSpPr>
            <a:stCxn id="2272" idx="2"/>
            <a:endCxn id="2266" idx="0"/>
          </p:cNvCxnSpPr>
          <p:nvPr/>
        </p:nvCxnSpPr>
        <p:spPr>
          <a:xfrm rot="-5400000" flipH="1">
            <a:off x="7389095" y="3012100"/>
            <a:ext cx="468900" cy="600"/>
          </a:xfrm>
          <a:prstGeom prst="bentConnector3">
            <a:avLst>
              <a:gd name="adj1" fmla="val 50011"/>
            </a:avLst>
          </a:prstGeom>
          <a:noFill/>
          <a:ln w="9525" cap="flat" cmpd="sng">
            <a:solidFill>
              <a:schemeClr val="lt2"/>
            </a:solidFill>
            <a:prstDash val="solid"/>
            <a:round/>
            <a:headEnd type="none" w="med" len="med"/>
            <a:tailEnd type="oval" w="med" len="med"/>
          </a:ln>
        </p:spPr>
      </p:cxnSp>
      <p:cxnSp>
        <p:nvCxnSpPr>
          <p:cNvPr id="2278" name="Google Shape;2278;p59"/>
          <p:cNvCxnSpPr>
            <a:stCxn id="2268" idx="2"/>
            <a:endCxn id="2226" idx="0"/>
          </p:cNvCxnSpPr>
          <p:nvPr/>
        </p:nvCxnSpPr>
        <p:spPr>
          <a:xfrm rot="-5400000" flipH="1">
            <a:off x="3317465" y="1967325"/>
            <a:ext cx="475500" cy="600"/>
          </a:xfrm>
          <a:prstGeom prst="bentConnector3">
            <a:avLst>
              <a:gd name="adj1" fmla="val 49987"/>
            </a:avLst>
          </a:prstGeom>
          <a:noFill/>
          <a:ln w="9525" cap="flat" cmpd="sng">
            <a:solidFill>
              <a:schemeClr val="lt2"/>
            </a:solidFill>
            <a:prstDash val="solid"/>
            <a:round/>
            <a:headEnd type="none" w="med" len="med"/>
            <a:tailEnd type="none" w="med" len="med"/>
          </a:ln>
        </p:spPr>
      </p:cxnSp>
      <p:cxnSp>
        <p:nvCxnSpPr>
          <p:cNvPr id="2279" name="Google Shape;2279;p59"/>
          <p:cNvCxnSpPr>
            <a:stCxn id="2269" idx="2"/>
            <a:endCxn id="2271" idx="0"/>
          </p:cNvCxnSpPr>
          <p:nvPr/>
        </p:nvCxnSpPr>
        <p:spPr>
          <a:xfrm rot="-5400000" flipH="1">
            <a:off x="5351611" y="1967325"/>
            <a:ext cx="475500" cy="600"/>
          </a:xfrm>
          <a:prstGeom prst="bentConnector3">
            <a:avLst>
              <a:gd name="adj1" fmla="val 49987"/>
            </a:avLst>
          </a:prstGeom>
          <a:noFill/>
          <a:ln w="9525" cap="flat" cmpd="sng">
            <a:solidFill>
              <a:schemeClr val="lt2"/>
            </a:solidFill>
            <a:prstDash val="solid"/>
            <a:round/>
            <a:headEnd type="none" w="med" len="med"/>
            <a:tailEnd type="none" w="med" len="med"/>
          </a:ln>
        </p:spPr>
      </p:cxnSp>
      <p:cxnSp>
        <p:nvCxnSpPr>
          <p:cNvPr id="2280" name="Google Shape;2280;p59"/>
          <p:cNvCxnSpPr>
            <a:stCxn id="2270" idx="2"/>
            <a:endCxn id="2272" idx="0"/>
          </p:cNvCxnSpPr>
          <p:nvPr/>
        </p:nvCxnSpPr>
        <p:spPr>
          <a:xfrm rot="-5400000" flipH="1">
            <a:off x="7385790" y="1967325"/>
            <a:ext cx="475500" cy="600"/>
          </a:xfrm>
          <a:prstGeom prst="bentConnector3">
            <a:avLst>
              <a:gd name="adj1" fmla="val 49987"/>
            </a:avLst>
          </a:prstGeom>
          <a:noFill/>
          <a:ln w="9525" cap="flat" cmpd="sng">
            <a:solidFill>
              <a:schemeClr val="lt2"/>
            </a:solidFill>
            <a:prstDash val="solid"/>
            <a:round/>
            <a:headEnd type="none" w="med" len="med"/>
            <a:tailEnd type="none" w="med" len="med"/>
          </a:ln>
        </p:spPr>
      </p:cxnSp>
      <p:sp>
        <p:nvSpPr>
          <p:cNvPr id="2281" name="TextBox 2280"/>
          <p:cNvSpPr txBox="1"/>
          <p:nvPr/>
        </p:nvSpPr>
        <p:spPr>
          <a:xfrm>
            <a:off x="722376" y="1005840"/>
            <a:ext cx="7708392" cy="228600"/>
          </a:xfrm>
          <a:prstGeom prst="rect">
            <a:avLst/>
          </a:prstGeom>
          <a:noFill/>
        </p:spPr>
        <p:txBody>
          <a:bodyPr wrap="square" lIns="36576" tIns="18288" rIns="36576" bIns="18288" anchor="t">
            <a:spAutoFit/>
          </a:bodyPr>
          <a:lstStyle/>
          <a:p>
            <a:pPr algn="l">
              <a:spcAft>
                <a:spcPts val="400"/>
              </a:spcAft>
            </a:pPr>
            <a:r>
              <a:rPr sz="900" b="0">
                <a:solidFill>
                  <a:srgbClr val="8208D5"/>
                </a:solidFill>
                <a:latin typeface="Be Vietnam Pro"/>
              </a:rPr>
              <a:t>Mỗi lời giải mới được chấm bằng simulation trên 5 realization và chỉ được giữ nếu tốt hơn lời giải hiện tại. Tối đa 10 vòng, budget E = 2000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6"/>
        <p:cNvGrpSpPr/>
        <p:nvPr/>
      </p:nvGrpSpPr>
      <p:grpSpPr>
        <a:xfrm>
          <a:off x="0" y="0"/>
          <a:ext cx="0" cy="0"/>
          <a:chOff x="0" y="0"/>
          <a:chExt cx="0" cy="0"/>
        </a:xfrm>
      </p:grpSpPr>
      <p:sp>
        <p:nvSpPr>
          <p:cNvPr id="2224" name="Rounded Rectangle 1530"/>
          <p:cNvSpPr/>
          <p:nvPr/>
        </p:nvSpPr>
        <p:spPr>
          <a:xfrm>
            <a:off x="722376" y="1371600"/>
            <a:ext cx="3749039" cy="2286000"/>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7" name="Google Shape;2217;p58"/>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algn="l"/>
            <a:r>
              <a:rPr lang="vi-VN"/>
              <a:t>Neighbour Candidate: Path</a:t>
            </a:r>
          </a:p>
        </p:txBody>
      </p:sp>
      <p:pic>
        <p:nvPicPr>
          <p:cNvPr id="2222" name="Picture 2221" descr="moves_a.png"/>
          <p:cNvPicPr>
            <a:picLocks noChangeAspect="1"/>
          </p:cNvPicPr>
          <p:nvPr/>
        </p:nvPicPr>
        <p:blipFill>
          <a:blip r:embed="rId3"/>
          <a:stretch>
            <a:fillRect/>
          </a:stretch>
        </p:blipFill>
        <p:spPr>
          <a:xfrm>
            <a:off x="859536" y="1417320"/>
            <a:ext cx="3474720" cy="2195220"/>
          </a:xfrm>
          <a:prstGeom prst="rect">
            <a:avLst/>
          </a:prstGeom>
        </p:spPr>
      </p:pic>
      <p:sp>
        <p:nvSpPr>
          <p:cNvPr id="2223" name="TextBox 2222"/>
          <p:cNvSpPr txBox="1"/>
          <p:nvPr/>
        </p:nvSpPr>
        <p:spPr>
          <a:xfrm>
            <a:off x="722376" y="1024128"/>
            <a:ext cx="7708392" cy="274320"/>
          </a:xfrm>
          <a:prstGeom prst="rect">
            <a:avLst/>
          </a:prstGeom>
          <a:noFill/>
        </p:spPr>
        <p:txBody>
          <a:bodyPr wrap="square" anchor="t">
            <a:noAutofit/>
          </a:bodyPr>
          <a:lstStyle/>
          <a:p>
            <a:pPr algn="l" marL="0" indent="0">
              <a:spcAft>
                <a:spcPts val="0"/>
              </a:spcAft>
              <a:buNone/>
            </a:pPr>
            <a:r>
              <a:rPr sz="950" b="0" i="0">
                <a:solidFill>
                  <a:srgbClr val="8208D5"/>
                </a:solidFill>
                <a:latin typeface="Be Vietnam Pro"/>
                <a:ea typeface="Be Vietnam Pro"/>
                <a:cs typeface="Be Vietnam Pro"/>
                <a:sym typeface="Be Vietnam Pro"/>
              </a:rPr>
              <a:t>Xét từng alert theo thứ tự ngẫu nhiên (alert gấp hay được xét trước), mỗi lần chỉ đổi path của 1 alert</a:t>
            </a:r>
          </a:p>
        </p:txBody>
      </p:sp>
      <p:pic>
        <p:nvPicPr>
          <p:cNvPr id="2225" name="Formula" descr="f_entry.png"/>
          <p:cNvPicPr>
            <a:picLocks noChangeAspect="1"/>
          </p:cNvPicPr>
          <p:nvPr/>
        </p:nvPicPr>
        <p:blipFill>
          <a:blip r:embed="rId5"/>
          <a:stretch>
            <a:fillRect/>
          </a:stretch>
        </p:blipFill>
        <p:spPr>
          <a:xfrm>
            <a:off x="813816" y="3767328"/>
            <a:ext cx="2468880" cy="290343"/>
          </a:xfrm>
          <a:prstGeom prst="rect">
            <a:avLst/>
          </a:prstGeom>
        </p:spPr>
      </p:pic>
      <p:sp>
        <p:nvSpPr>
          <p:cNvPr id="2226" name="TextBox 2225"/>
          <p:cNvSpPr txBox="1"/>
          <p:nvPr/>
        </p:nvSpPr>
        <p:spPr>
          <a:xfrm>
            <a:off x="722376" y="4094247"/>
            <a:ext cx="3749039" cy="706353"/>
          </a:xfrm>
          <a:prstGeom prst="rect">
            <a:avLst/>
          </a:prstGeom>
          <a:noFill/>
        </p:spPr>
        <p:txBody>
          <a:bodyPr wrap="square" anchor="t">
            <a:noAutofit/>
          </a:bodyPr>
          <a:lstStyle/>
          <a:p>
            <a:pPr algn="l" marL="0" indent="0">
              <a:spcAft>
                <a:spcPts val="0"/>
              </a:spcAft>
              <a:buNone/>
            </a:pPr>
            <a:r>
              <a:rPr sz="900" b="0" i="0">
                <a:solidFill>
                  <a:srgbClr val="5A5A6E"/>
                </a:solidFill>
                <a:latin typeface="Be Vietnam Pro"/>
                <a:ea typeface="Be Vietnam Pro"/>
                <a:cs typeface="Be Vietnam Pro"/>
                <a:sym typeface="Be Vietnam Pro"/>
              </a:rPr>
              <a:t>T^acc: thời gian để alert vào được node v (đi đất: thời gian truyền alert; qua UAV: thời gian UAV bay tới v). </a:t>
            </a:r>
            <a:r>
              <a:rPr sz="900" b="0" i="0">
                <a:solidFill>
                  <a:srgbClr val="5A5A6E"/>
                </a:solidFill>
                <a:latin typeface="Be Vietnam Pro"/>
                <a:ea typeface="Be Vietnam Pro"/>
                <a:cs typeface="Be Vietnam Pro"/>
                <a:sym typeface="Be Vietnam Pro"/>
              </a:rPr>
              <a:t>Ĉ_e: capacity còn trống của cạnh e.</a:t>
            </a:r>
          </a:p>
        </p:txBody>
      </p:sp>
      <p:sp>
        <p:nvSpPr>
          <p:cNvPr id="2227" name="Oval 2226"/>
          <p:cNvSpPr/>
          <p:nvPr/>
        </p:nvSpPr>
        <p:spPr>
          <a:xfrm>
            <a:off x="4754880" y="1389888"/>
            <a:ext cx="310896" cy="310896"/>
          </a:xfrm>
          <a:prstGeom prst="ellipse">
            <a:avLst/>
          </a:prstGeom>
          <a:solidFill>
            <a:srgbClr val="1A1AB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marL="0" indent="0">
              <a:spcAft>
                <a:spcPts val="0"/>
              </a:spcAft>
              <a:buNone/>
            </a:pPr>
            <a:r>
              <a:rPr sz="1100" b="1" i="0">
                <a:solidFill>
                  <a:srgbClr val="FFFFFF"/>
                </a:solidFill>
                <a:latin typeface="IBM Plex Mono"/>
                <a:ea typeface="IBM Plex Mono"/>
                <a:cs typeface="IBM Plex Mono"/>
                <a:sym typeface="IBM Plex Mono"/>
              </a:rPr>
              <a:t>1</a:t>
            </a:r>
          </a:p>
        </p:txBody>
      </p:sp>
      <p:sp>
        <p:nvSpPr>
          <p:cNvPr id="2228" name="TextBox 2227"/>
          <p:cNvSpPr txBox="1"/>
          <p:nvPr/>
        </p:nvSpPr>
        <p:spPr>
          <a:xfrm>
            <a:off x="5138928" y="1335024"/>
            <a:ext cx="3246120" cy="274320"/>
          </a:xfrm>
          <a:prstGeom prst="rect">
            <a:avLst/>
          </a:prstGeom>
          <a:noFill/>
        </p:spPr>
        <p:txBody>
          <a:bodyPr wrap="square" anchor="t">
            <a:noAutofit/>
          </a:bodyPr>
          <a:lstStyle/>
          <a:p>
            <a:pPr algn="l" marL="0" indent="0">
              <a:spcAft>
                <a:spcPts val="0"/>
              </a:spcAft>
              <a:buNone/>
            </a:pPr>
            <a:r>
              <a:rPr sz="1100" b="1" i="0">
                <a:solidFill>
                  <a:srgbClr val="1A1AB0"/>
                </a:solidFill>
                <a:latin typeface="IBM Plex Mono"/>
                <a:ea typeface="IBM Plex Mono"/>
                <a:cs typeface="IBM Plex Mono"/>
                <a:sym typeface="IBM Plex Mono"/>
              </a:rPr>
              <a:t>Đổi giữa đi đất và qua UAV</a:t>
            </a:r>
          </a:p>
        </p:txBody>
      </p:sp>
      <p:sp>
        <p:nvSpPr>
          <p:cNvPr id="2229" name="TextBox 2228"/>
          <p:cNvSpPr txBox="1"/>
          <p:nvPr/>
        </p:nvSpPr>
        <p:spPr>
          <a:xfrm>
            <a:off x="5138928" y="1591056"/>
            <a:ext cx="3246120" cy="530352"/>
          </a:xfrm>
          <a:prstGeom prst="rect">
            <a:avLst/>
          </a:prstGeom>
          <a:noFill/>
        </p:spPr>
        <p:txBody>
          <a:bodyPr wrap="square" anchor="t">
            <a:noAutofit/>
          </a:bodyPr>
          <a:lstStyle/>
          <a:p>
            <a:pPr algn="l" marL="0" indent="0">
              <a:spcAft>
                <a:spcPts val="0"/>
              </a:spcAft>
              <a:buNone/>
            </a:pPr>
            <a:r>
              <a:rPr sz="950" b="0" i="0">
                <a:solidFill>
                  <a:srgbClr val="1D1D1D"/>
                </a:solidFill>
                <a:latin typeface="Be Vietnam Pro"/>
                <a:ea typeface="Be Vietnam Pro"/>
                <a:cs typeface="Be Vietnam Pro"/>
                <a:sym typeface="Be Vietnam Pro"/>
              </a:rPr>
              <a:t>Giữ node vào mạng đất, chỉ đổi chặng đầu: qua UAV hoặc đi thẳng vào relay (nếu trong tầm phủ sóng).</a:t>
            </a:r>
          </a:p>
        </p:txBody>
      </p:sp>
      <p:sp>
        <p:nvSpPr>
          <p:cNvPr id="2230" name="Oval 2229"/>
          <p:cNvSpPr/>
          <p:nvPr/>
        </p:nvSpPr>
        <p:spPr>
          <a:xfrm>
            <a:off x="4754880" y="2157984"/>
            <a:ext cx="310896" cy="310896"/>
          </a:xfrm>
          <a:prstGeom prst="ellipse">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marL="0" indent="0">
              <a:spcAft>
                <a:spcPts val="0"/>
              </a:spcAft>
              <a:buNone/>
            </a:pPr>
            <a:r>
              <a:rPr sz="1100" b="1" i="0">
                <a:solidFill>
                  <a:srgbClr val="FFFFFF"/>
                </a:solidFill>
                <a:latin typeface="IBM Plex Mono"/>
                <a:ea typeface="IBM Plex Mono"/>
                <a:cs typeface="IBM Plex Mono"/>
                <a:sym typeface="IBM Plex Mono"/>
              </a:rPr>
              <a:t>2</a:t>
            </a:r>
          </a:p>
        </p:txBody>
      </p:sp>
      <p:sp>
        <p:nvSpPr>
          <p:cNvPr id="2231" name="TextBox 2230"/>
          <p:cNvSpPr txBox="1"/>
          <p:nvPr/>
        </p:nvSpPr>
        <p:spPr>
          <a:xfrm>
            <a:off x="5138928" y="2103120"/>
            <a:ext cx="3246120" cy="274320"/>
          </a:xfrm>
          <a:prstGeom prst="rect">
            <a:avLst/>
          </a:prstGeom>
          <a:noFill/>
        </p:spPr>
        <p:txBody>
          <a:bodyPr wrap="square" anchor="t">
            <a:noAutofit/>
          </a:bodyPr>
          <a:lstStyle/>
          <a:p>
            <a:pPr algn="l" marL="0" indent="0">
              <a:spcAft>
                <a:spcPts val="0"/>
              </a:spcAft>
              <a:buNone/>
            </a:pPr>
            <a:r>
              <a:rPr sz="1100" b="1" i="0">
                <a:solidFill>
                  <a:srgbClr val="6A1B9A"/>
                </a:solidFill>
                <a:latin typeface="IBM Plex Mono"/>
                <a:ea typeface="IBM Plex Mono"/>
                <a:cs typeface="IBM Plex Mono"/>
                <a:sym typeface="IBM Plex Mono"/>
              </a:rPr>
              <a:t>Đổi node vào mạng</a:t>
            </a:r>
          </a:p>
        </p:txBody>
      </p:sp>
      <p:sp>
        <p:nvSpPr>
          <p:cNvPr id="2232" name="TextBox 2231"/>
          <p:cNvSpPr txBox="1"/>
          <p:nvPr/>
        </p:nvSpPr>
        <p:spPr>
          <a:xfrm>
            <a:off x="5138928" y="2359152"/>
            <a:ext cx="3246120" cy="530352"/>
          </a:xfrm>
          <a:prstGeom prst="rect">
            <a:avLst/>
          </a:prstGeom>
          <a:noFill/>
        </p:spPr>
        <p:txBody>
          <a:bodyPr wrap="square" anchor="t">
            <a:noAutofit/>
          </a:bodyPr>
          <a:lstStyle/>
          <a:p>
            <a:pPr algn="l" marL="0" indent="0">
              <a:spcAft>
                <a:spcPts val="0"/>
              </a:spcAft>
              <a:buNone/>
            </a:pPr>
            <a:r>
              <a:rPr sz="950" b="0" i="0">
                <a:solidFill>
                  <a:srgbClr val="1D1D1D"/>
                </a:solidFill>
                <a:latin typeface="Be Vietnam Pro"/>
                <a:ea typeface="Be Vietnam Pro"/>
                <a:cs typeface="Be Vietnam Pro"/>
                <a:sym typeface="Be Vietnam Pro"/>
              </a:rPr>
              <a:t>Thử ngẫu nhiên 3 node khác, ưu tiên node tới c nhanh (T_a nhỏ), rồi đi đường ít hop nhất tới c.</a:t>
            </a:r>
          </a:p>
        </p:txBody>
      </p:sp>
      <p:sp>
        <p:nvSpPr>
          <p:cNvPr id="2233" name="Oval 2232"/>
          <p:cNvSpPr/>
          <p:nvPr/>
        </p:nvSpPr>
        <p:spPr>
          <a:xfrm>
            <a:off x="4754880" y="2926079"/>
            <a:ext cx="310896" cy="31089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marL="0" indent="0">
              <a:spcAft>
                <a:spcPts val="0"/>
              </a:spcAft>
              <a:buNone/>
            </a:pPr>
            <a:r>
              <a:rPr sz="1100" b="1" i="0">
                <a:solidFill>
                  <a:srgbClr val="FFFFFF"/>
                </a:solidFill>
                <a:latin typeface="IBM Plex Mono"/>
                <a:ea typeface="IBM Plex Mono"/>
                <a:cs typeface="IBM Plex Mono"/>
                <a:sym typeface="IBM Plex Mono"/>
              </a:rPr>
              <a:t>3</a:t>
            </a:r>
          </a:p>
        </p:txBody>
      </p:sp>
      <p:sp>
        <p:nvSpPr>
          <p:cNvPr id="2234" name="TextBox 2233"/>
          <p:cNvSpPr txBox="1"/>
          <p:nvPr/>
        </p:nvSpPr>
        <p:spPr>
          <a:xfrm>
            <a:off x="5138928" y="2871215"/>
            <a:ext cx="3246120" cy="274320"/>
          </a:xfrm>
          <a:prstGeom prst="rect">
            <a:avLst/>
          </a:prstGeom>
          <a:noFill/>
        </p:spPr>
        <p:txBody>
          <a:bodyPr wrap="square" anchor="t">
            <a:noAutofit/>
          </a:bodyPr>
          <a:lstStyle/>
          <a:p>
            <a:pPr algn="l" marL="0" indent="0">
              <a:spcAft>
                <a:spcPts val="0"/>
              </a:spcAft>
              <a:buNone/>
            </a:pPr>
            <a:r>
              <a:rPr sz="1100" b="1" i="0">
                <a:solidFill>
                  <a:srgbClr val="2E7D32"/>
                </a:solidFill>
                <a:latin typeface="IBM Plex Mono"/>
                <a:ea typeface="IBM Plex Mono"/>
                <a:cs typeface="IBM Plex Mono"/>
                <a:sym typeface="IBM Plex Mono"/>
              </a:rPr>
              <a:t>Đi vòng qua cạnh nghẽn</a:t>
            </a:r>
          </a:p>
        </p:txBody>
      </p:sp>
      <p:sp>
        <p:nvSpPr>
          <p:cNvPr id="2235" name="TextBox 2234"/>
          <p:cNvSpPr txBox="1"/>
          <p:nvPr/>
        </p:nvSpPr>
        <p:spPr>
          <a:xfrm>
            <a:off x="5138928" y="3127248"/>
            <a:ext cx="3246120" cy="530352"/>
          </a:xfrm>
          <a:prstGeom prst="rect">
            <a:avLst/>
          </a:prstGeom>
          <a:noFill/>
        </p:spPr>
        <p:txBody>
          <a:bodyPr wrap="square" anchor="t">
            <a:noAutofit/>
          </a:bodyPr>
          <a:lstStyle/>
          <a:p>
            <a:pPr algn="l" marL="0" indent="0">
              <a:spcAft>
                <a:spcPts val="0"/>
              </a:spcAft>
              <a:buNone/>
            </a:pPr>
            <a:r>
              <a:rPr sz="950" b="0" i="0">
                <a:solidFill>
                  <a:srgbClr val="1D1D1D"/>
                </a:solidFill>
                <a:latin typeface="Be Vietnam Pro"/>
                <a:ea typeface="Be Vietnam Pro"/>
                <a:cs typeface="Be Vietnam Pro"/>
                <a:sym typeface="Be Vietnam Pro"/>
              </a:rPr>
              <a:t>Tìm cạnh nghẽn nhiều nhất trên path, giữ phần path phía trước cạnh đó rồi tìm đường khác tới c.</a:t>
            </a:r>
          </a:p>
        </p:txBody>
      </p:sp>
      <p:sp>
        <p:nvSpPr>
          <p:cNvPr id="2236" name="Oval 2235"/>
          <p:cNvSpPr/>
          <p:nvPr/>
        </p:nvSpPr>
        <p:spPr>
          <a:xfrm>
            <a:off x="4754880" y="3694175"/>
            <a:ext cx="310896" cy="310896"/>
          </a:xfrm>
          <a:prstGeom prst="ellipse">
            <a:avLst/>
          </a:prstGeom>
          <a:solidFill>
            <a:srgbClr val="6B6B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marL="0" indent="0">
              <a:spcAft>
                <a:spcPts val="0"/>
              </a:spcAft>
              <a:buNone/>
            </a:pPr>
            <a:r>
              <a:rPr sz="1100" b="1" i="0">
                <a:solidFill>
                  <a:srgbClr val="FFFFFF"/>
                </a:solidFill>
                <a:latin typeface="IBM Plex Mono"/>
                <a:ea typeface="IBM Plex Mono"/>
                <a:cs typeface="IBM Plex Mono"/>
                <a:sym typeface="IBM Plex Mono"/>
              </a:rPr>
              <a:t>4</a:t>
            </a:r>
          </a:p>
        </p:txBody>
      </p:sp>
      <p:sp>
        <p:nvSpPr>
          <p:cNvPr id="2237" name="TextBox 2236"/>
          <p:cNvSpPr txBox="1"/>
          <p:nvPr/>
        </p:nvSpPr>
        <p:spPr>
          <a:xfrm>
            <a:off x="5138928" y="3639311"/>
            <a:ext cx="3246120" cy="274320"/>
          </a:xfrm>
          <a:prstGeom prst="rect">
            <a:avLst/>
          </a:prstGeom>
          <a:noFill/>
        </p:spPr>
        <p:txBody>
          <a:bodyPr wrap="square" anchor="t">
            <a:noAutofit/>
          </a:bodyPr>
          <a:lstStyle/>
          <a:p>
            <a:pPr algn="l" marL="0" indent="0">
              <a:spcAft>
                <a:spcPts val="0"/>
              </a:spcAft>
              <a:buNone/>
            </a:pPr>
            <a:r>
              <a:rPr sz="1100" b="1" i="0">
                <a:solidFill>
                  <a:srgbClr val="6B6B78"/>
                </a:solidFill>
                <a:latin typeface="IBM Plex Mono"/>
                <a:ea typeface="IBM Plex Mono"/>
                <a:cs typeface="IBM Plex Mono"/>
                <a:sym typeface="IBM Plex Mono"/>
              </a:rPr>
              <a:t>Bỏ alert</a:t>
            </a:r>
          </a:p>
        </p:txBody>
      </p:sp>
      <p:sp>
        <p:nvSpPr>
          <p:cNvPr id="2238" name="TextBox 2237"/>
          <p:cNvSpPr txBox="1"/>
          <p:nvPr/>
        </p:nvSpPr>
        <p:spPr>
          <a:xfrm>
            <a:off x="5138928" y="3895344"/>
            <a:ext cx="3246120" cy="530352"/>
          </a:xfrm>
          <a:prstGeom prst="rect">
            <a:avLst/>
          </a:prstGeom>
          <a:noFill/>
        </p:spPr>
        <p:txBody>
          <a:bodyPr wrap="square" anchor="t">
            <a:noAutofit/>
          </a:bodyPr>
          <a:lstStyle/>
          <a:p>
            <a:pPr algn="l" marL="0" indent="0">
              <a:spcAft>
                <a:spcPts val="0"/>
              </a:spcAft>
              <a:buNone/>
            </a:pPr>
            <a:r>
              <a:rPr sz="950" b="0" i="0">
                <a:solidFill>
                  <a:srgbClr val="1D1D1D"/>
                </a:solidFill>
                <a:latin typeface="Be Vietnam Pro"/>
                <a:ea typeface="Be Vietnam Pro"/>
                <a:cs typeface="Be Vietnam Pro"/>
                <a:sym typeface="Be Vietnam Pro"/>
              </a:rPr>
              <a:t>Không gửi alert này để nhường capacity cho alert khác. Alert đang bị bỏ thì thử gán lại path.</a:t>
            </a:r>
          </a:p>
        </p:txBody>
      </p:sp>
      <p:sp>
        <p:nvSpPr>
          <p:cNvPr id="2239" name="TextBox 2238"/>
          <p:cNvSpPr txBox="1"/>
          <p:nvPr/>
        </p:nvSpPr>
        <p:spPr>
          <a:xfrm>
            <a:off x="4754880" y="4480560"/>
            <a:ext cx="3611880" cy="274320"/>
          </a:xfrm>
          <a:prstGeom prst="rect">
            <a:avLst/>
          </a:prstGeom>
          <a:noFill/>
        </p:spPr>
        <p:txBody>
          <a:bodyPr wrap="square" anchor="t">
            <a:noAutofit/>
          </a:bodyPr>
          <a:lstStyle/>
          <a:p>
            <a:pPr algn="l" marL="0" indent="0">
              <a:spcAft>
                <a:spcPts val="0"/>
              </a:spcAft>
              <a:buNone/>
            </a:pPr>
            <a:r>
              <a:rPr sz="900" b="0" i="0">
                <a:solidFill>
                  <a:srgbClr val="5A5A6E"/>
                </a:solidFill>
                <a:latin typeface="Be Vietnam Pro"/>
                <a:ea typeface="Be Vietnam Pro"/>
                <a:cs typeface="Be Vietnam Pro"/>
                <a:sym typeface="Be Vietnam Pro"/>
              </a:rPr>
              <a:t>Mỗi vòng tối đa 1 + 6|A| lần đánh giá. Path sinh ra luôn hợp lệ và không đi vòng.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6">
          <a:extLst>
            <a:ext uri="{FF2B5EF4-FFF2-40B4-BE49-F238E27FC236}">
              <a16:creationId xmlns:a16="http://schemas.microsoft.com/office/drawing/2014/main" id="{CA7CA71C-CDF1-4AF7-4BB2-9125107EB740}"/>
            </a:ext>
          </a:extLst>
        </p:cNvPr>
        <p:cNvGrpSpPr/>
        <p:nvPr/>
      </p:nvGrpSpPr>
      <p:grpSpPr>
        <a:xfrm>
          <a:off x="0" y="0"/>
          <a:ext cx="0" cy="0"/>
          <a:chOff x="0" y="0"/>
          <a:chExt cx="0" cy="0"/>
        </a:xfrm>
      </p:grpSpPr>
      <p:sp>
        <p:nvSpPr>
          <p:cNvPr id="2225" name="Rounded Rectangle 1530"/>
          <p:cNvSpPr/>
          <p:nvPr/>
        </p:nvSpPr>
        <p:spPr>
          <a:xfrm>
            <a:off x="722376" y="1371600"/>
            <a:ext cx="3749039" cy="2286000"/>
          </a:xfrm>
          <a:prstGeom prst="roundRect">
            <a:avLst>
              <a:gd name="adj" fmla="val 6000"/>
            </a:avLst>
          </a:prstGeom>
          <a:solidFill>
            <a:srgbClr val="FFFFFF"/>
          </a:solidFill>
          <a:ln w="12700">
            <a:solidFill>
              <a:srgbClr val="BFBE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7" name="Google Shape;2217;p58">
            <a:extLst>
              <a:ext uri="{FF2B5EF4-FFF2-40B4-BE49-F238E27FC236}">
                <a16:creationId xmlns:a16="http://schemas.microsoft.com/office/drawing/2014/main" id="{8B6E7785-0145-0421-A6B0-78DB6A7E4B97}"/>
              </a:ext>
            </a:extLst>
          </p:cNvPr>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algn="l"/>
            <a:r>
              <a:rPr lang="vi-VN"/>
              <a:t>Neighbour Candidate: Trajectory</a:t>
            </a:r>
          </a:p>
        </p:txBody>
      </p:sp>
      <p:pic>
        <p:nvPicPr>
          <p:cNvPr id="2223" name="Picture 2222" descr="moves_b.png">
            <a:extLst>
              <a:ext uri="{FF2B5EF4-FFF2-40B4-BE49-F238E27FC236}">
                <a16:creationId xmlns:a16="http://schemas.microsoft.com/office/drawing/2014/main" id="{B546487E-378F-86D2-CFDA-25104893FBEA}"/>
              </a:ext>
            </a:extLst>
          </p:cNvPr>
          <p:cNvPicPr>
            <a:picLocks noChangeAspect="1"/>
          </p:cNvPicPr>
          <p:nvPr/>
        </p:nvPicPr>
        <p:blipFill>
          <a:blip r:embed="rId4"/>
          <a:stretch>
            <a:fillRect/>
          </a:stretch>
        </p:blipFill>
        <p:spPr>
          <a:xfrm>
            <a:off x="859536" y="1417320"/>
            <a:ext cx="3474720" cy="2195220"/>
          </a:xfrm>
          <a:prstGeom prst="rect">
            <a:avLst/>
          </a:prstGeom>
        </p:spPr>
      </p:pic>
      <p:sp>
        <p:nvSpPr>
          <p:cNvPr id="2224" name="TextBox 2223"/>
          <p:cNvSpPr txBox="1"/>
          <p:nvPr/>
        </p:nvSpPr>
        <p:spPr>
          <a:xfrm>
            <a:off x="722376" y="1024128"/>
            <a:ext cx="7708392" cy="274320"/>
          </a:xfrm>
          <a:prstGeom prst="rect">
            <a:avLst/>
          </a:prstGeom>
          <a:noFill/>
        </p:spPr>
        <p:txBody>
          <a:bodyPr wrap="square" anchor="t">
            <a:noAutofit/>
          </a:bodyPr>
          <a:lstStyle/>
          <a:p>
            <a:pPr algn="l" marL="0" indent="0">
              <a:spcAft>
                <a:spcPts val="0"/>
              </a:spcAft>
              <a:buNone/>
            </a:pPr>
            <a:r>
              <a:rPr sz="950" b="0" i="0">
                <a:solidFill>
                  <a:srgbClr val="8208D5"/>
                </a:solidFill>
                <a:latin typeface="Be Vietnam Pro"/>
                <a:ea typeface="Be Vietnam Pro"/>
                <a:cs typeface="Be Vietnam Pro"/>
                <a:sym typeface="Be Vietnam Pro"/>
              </a:rPr>
              <a:t>Kéo một đoạn quỹ đạo về phía link UAV đang nghẽn, vẫn giữ tốc độ không vượt V_max</a:t>
            </a:r>
          </a:p>
        </p:txBody>
      </p:sp>
      <p:pic>
        <p:nvPicPr>
          <p:cNvPr id="2226" name="Formula" descr="f_lambda.png"/>
          <p:cNvPicPr>
            <a:picLocks noChangeAspect="1"/>
          </p:cNvPicPr>
          <p:nvPr/>
        </p:nvPicPr>
        <p:blipFill>
          <a:blip r:embed="rId5"/>
          <a:stretch>
            <a:fillRect/>
          </a:stretch>
        </p:blipFill>
        <p:spPr>
          <a:xfrm>
            <a:off x="813816" y="3767328"/>
            <a:ext cx="3566160" cy="424471"/>
          </a:xfrm>
          <a:prstGeom prst="rect">
            <a:avLst/>
          </a:prstGeom>
        </p:spPr>
      </p:pic>
      <p:sp>
        <p:nvSpPr>
          <p:cNvPr id="2227" name="TextBox 2226"/>
          <p:cNvSpPr txBox="1"/>
          <p:nvPr/>
        </p:nvSpPr>
        <p:spPr>
          <a:xfrm>
            <a:off x="722376" y="4228375"/>
            <a:ext cx="3749039" cy="572224"/>
          </a:xfrm>
          <a:prstGeom prst="rect">
            <a:avLst/>
          </a:prstGeom>
          <a:noFill/>
        </p:spPr>
        <p:txBody>
          <a:bodyPr wrap="square" anchor="t">
            <a:noAutofit/>
          </a:bodyPr>
          <a:lstStyle/>
          <a:p>
            <a:pPr algn="l" marL="0" indent="0">
              <a:spcAft>
                <a:spcPts val="0"/>
              </a:spcAft>
              <a:buNone/>
            </a:pPr>
            <a:r>
              <a:rPr sz="900" b="0" i="0">
                <a:solidFill>
                  <a:srgbClr val="5A5A6E"/>
                </a:solidFill>
                <a:latin typeface="Be Vietnam Pro"/>
                <a:ea typeface="Be Vietnam Pro"/>
                <a:cs typeface="Be Vietnam Pro"/>
                <a:sym typeface="Be Vietnam Pro"/>
              </a:rPr>
              <a:t>Cả đoạn dịch cùng một vector nên chỉ 2 bước ở hai đầu đoạn bị giới hạn tốc độ. λ* là bước lớn nhất thỏa cả hai. Nếu λ* = 0 thì mở rộng đoạn thêm 1 slot mỗi bên (tối đa 10 lần).</a:t>
            </a:r>
          </a:p>
        </p:txBody>
      </p:sp>
      <p:sp>
        <p:nvSpPr>
          <p:cNvPr id="2228" name="Oval 2227"/>
          <p:cNvSpPr/>
          <p:nvPr/>
        </p:nvSpPr>
        <p:spPr>
          <a:xfrm>
            <a:off x="4754880" y="1389888"/>
            <a:ext cx="310896" cy="310896"/>
          </a:xfrm>
          <a:prstGeom prst="ellipse">
            <a:avLst/>
          </a:prstGeom>
          <a:solidFill>
            <a:srgbClr val="0C0A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marL="0" indent="0">
              <a:spcAft>
                <a:spcPts val="0"/>
              </a:spcAft>
              <a:buNone/>
            </a:pPr>
            <a:r>
              <a:rPr sz="1100" b="1" i="0">
                <a:solidFill>
                  <a:srgbClr val="FFFFFF"/>
                </a:solidFill>
                <a:latin typeface="IBM Plex Mono"/>
                <a:ea typeface="IBM Plex Mono"/>
                <a:cs typeface="IBM Plex Mono"/>
                <a:sym typeface="IBM Plex Mono"/>
              </a:rPr>
              <a:t>1</a:t>
            </a:r>
          </a:p>
        </p:txBody>
      </p:sp>
      <p:sp>
        <p:nvSpPr>
          <p:cNvPr id="2229" name="TextBox 2228"/>
          <p:cNvSpPr txBox="1"/>
          <p:nvPr/>
        </p:nvSpPr>
        <p:spPr>
          <a:xfrm>
            <a:off x="5138928" y="1335024"/>
            <a:ext cx="3246120" cy="274320"/>
          </a:xfrm>
          <a:prstGeom prst="rect">
            <a:avLst/>
          </a:prstGeom>
          <a:noFill/>
        </p:spPr>
        <p:txBody>
          <a:bodyPr wrap="square" anchor="t">
            <a:noAutofit/>
          </a:bodyPr>
          <a:lstStyle/>
          <a:p>
            <a:pPr algn="l" marL="0" indent="0">
              <a:spcAft>
                <a:spcPts val="0"/>
              </a:spcAft>
              <a:buNone/>
            </a:pPr>
            <a:r>
              <a:rPr sz="1100" b="1" i="0">
                <a:solidFill>
                  <a:srgbClr val="0C0A9E"/>
                </a:solidFill>
                <a:latin typeface="IBM Plex Mono"/>
                <a:ea typeface="IBM Plex Mono"/>
                <a:cs typeface="IBM Plex Mono"/>
                <a:sym typeface="IBM Plex Mono"/>
              </a:rPr>
              <a:t>Tìm link nghẽn</a:t>
            </a:r>
          </a:p>
        </p:txBody>
      </p:sp>
      <p:sp>
        <p:nvSpPr>
          <p:cNvPr id="2230" name="TextBox 2229"/>
          <p:cNvSpPr txBox="1"/>
          <p:nvPr/>
        </p:nvSpPr>
        <p:spPr>
          <a:xfrm>
            <a:off x="5138928" y="1591056"/>
            <a:ext cx="3246120" cy="530352"/>
          </a:xfrm>
          <a:prstGeom prst="rect">
            <a:avLst/>
          </a:prstGeom>
          <a:noFill/>
        </p:spPr>
        <p:txBody>
          <a:bodyPr wrap="square" anchor="t">
            <a:noAutofit/>
          </a:bodyPr>
          <a:lstStyle/>
          <a:p>
            <a:pPr algn="l" marL="0" indent="0">
              <a:spcAft>
                <a:spcPts val="0"/>
              </a:spcAft>
              <a:buNone/>
            </a:pPr>
            <a:r>
              <a:rPr sz="950" b="0" i="0">
                <a:solidFill>
                  <a:srgbClr val="1D1D1D"/>
                </a:solidFill>
                <a:latin typeface="Be Vietnam Pro"/>
                <a:ea typeface="Be Vietnam Pro"/>
                <a:cs typeface="Be Vietnam Pro"/>
                <a:sym typeface="Be Vietnam Pro"/>
              </a:rPr>
              <a:t>Chạy simulation lời giải hiện tại trên 5 realization, ghi lại link UAV nào bị đầy ở slot nào.</a:t>
            </a:r>
          </a:p>
        </p:txBody>
      </p:sp>
      <p:sp>
        <p:nvSpPr>
          <p:cNvPr id="2231" name="Oval 2230"/>
          <p:cNvSpPr/>
          <p:nvPr/>
        </p:nvSpPr>
        <p:spPr>
          <a:xfrm>
            <a:off x="4754880" y="2157984"/>
            <a:ext cx="310896" cy="310896"/>
          </a:xfrm>
          <a:prstGeom prst="ellipse">
            <a:avLst/>
          </a:prstGeom>
          <a:solidFill>
            <a:srgbClr val="0C0A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marL="0" indent="0">
              <a:spcAft>
                <a:spcPts val="0"/>
              </a:spcAft>
              <a:buNone/>
            </a:pPr>
            <a:r>
              <a:rPr sz="1100" b="1" i="0">
                <a:solidFill>
                  <a:srgbClr val="FFFFFF"/>
                </a:solidFill>
                <a:latin typeface="IBM Plex Mono"/>
                <a:ea typeface="IBM Plex Mono"/>
                <a:cs typeface="IBM Plex Mono"/>
                <a:sym typeface="IBM Plex Mono"/>
              </a:rPr>
              <a:t>2</a:t>
            </a:r>
          </a:p>
        </p:txBody>
      </p:sp>
      <p:sp>
        <p:nvSpPr>
          <p:cNvPr id="2232" name="TextBox 2231"/>
          <p:cNvSpPr txBox="1"/>
          <p:nvPr/>
        </p:nvSpPr>
        <p:spPr>
          <a:xfrm>
            <a:off x="5138928" y="2103120"/>
            <a:ext cx="3246120" cy="274320"/>
          </a:xfrm>
          <a:prstGeom prst="rect">
            <a:avLst/>
          </a:prstGeom>
          <a:noFill/>
        </p:spPr>
        <p:txBody>
          <a:bodyPr wrap="square" anchor="t">
            <a:noAutofit/>
          </a:bodyPr>
          <a:lstStyle/>
          <a:p>
            <a:pPr algn="l" marL="0" indent="0">
              <a:spcAft>
                <a:spcPts val="0"/>
              </a:spcAft>
              <a:buNone/>
            </a:pPr>
            <a:r>
              <a:rPr sz="1100" b="1" i="0">
                <a:solidFill>
                  <a:srgbClr val="0C0A9E"/>
                </a:solidFill>
                <a:latin typeface="IBM Plex Mono"/>
                <a:ea typeface="IBM Plex Mono"/>
                <a:cs typeface="IBM Plex Mono"/>
                <a:sym typeface="IBM Plex Mono"/>
              </a:rPr>
              <a:t>Chấm điểm từng slot</a:t>
            </a:r>
          </a:p>
        </p:txBody>
      </p:sp>
      <p:sp>
        <p:nvSpPr>
          <p:cNvPr id="2233" name="TextBox 2232"/>
          <p:cNvSpPr txBox="1"/>
          <p:nvPr/>
        </p:nvSpPr>
        <p:spPr>
          <a:xfrm>
            <a:off x="5138928" y="2359152"/>
            <a:ext cx="3246120" cy="530352"/>
          </a:xfrm>
          <a:prstGeom prst="rect">
            <a:avLst/>
          </a:prstGeom>
          <a:noFill/>
        </p:spPr>
        <p:txBody>
          <a:bodyPr wrap="square" anchor="t">
            <a:noAutofit/>
          </a:bodyPr>
          <a:lstStyle/>
          <a:p>
            <a:pPr algn="l" marL="0" indent="0">
              <a:spcAft>
                <a:spcPts val="0"/>
              </a:spcAft>
              <a:buNone/>
            </a:pPr>
            <a:r>
              <a:rPr sz="950" b="0" i="0">
                <a:solidFill>
                  <a:srgbClr val="1D1D1D"/>
                </a:solidFill>
                <a:latin typeface="Be Vietnam Pro"/>
                <a:ea typeface="Be Vietnam Pro"/>
                <a:cs typeface="Be Vietnam Pro"/>
                <a:sym typeface="Be Vietnam Pro"/>
              </a:rPr>
              <a:t>Slot càng nhiều lần bị nghẽn, alert trên link càng lớn hoặc càng gấp thì điểm ρ càng cao.</a:t>
            </a:r>
          </a:p>
        </p:txBody>
      </p:sp>
      <p:sp>
        <p:nvSpPr>
          <p:cNvPr id="2234" name="Oval 2233"/>
          <p:cNvSpPr/>
          <p:nvPr/>
        </p:nvSpPr>
        <p:spPr>
          <a:xfrm>
            <a:off x="4754880" y="2926079"/>
            <a:ext cx="310896" cy="310896"/>
          </a:xfrm>
          <a:prstGeom prst="ellipse">
            <a:avLst/>
          </a:prstGeom>
          <a:solidFill>
            <a:srgbClr val="0C0A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marL="0" indent="0">
              <a:spcAft>
                <a:spcPts val="0"/>
              </a:spcAft>
              <a:buNone/>
            </a:pPr>
            <a:r>
              <a:rPr sz="1100" b="1" i="0">
                <a:solidFill>
                  <a:srgbClr val="FFFFFF"/>
                </a:solidFill>
                <a:latin typeface="IBM Plex Mono"/>
                <a:ea typeface="IBM Plex Mono"/>
                <a:cs typeface="IBM Plex Mono"/>
                <a:sym typeface="IBM Plex Mono"/>
              </a:rPr>
              <a:t>3</a:t>
            </a:r>
          </a:p>
        </p:txBody>
      </p:sp>
      <p:sp>
        <p:nvSpPr>
          <p:cNvPr id="2235" name="TextBox 2234"/>
          <p:cNvSpPr txBox="1"/>
          <p:nvPr/>
        </p:nvSpPr>
        <p:spPr>
          <a:xfrm>
            <a:off x="5138928" y="2871215"/>
            <a:ext cx="3246120" cy="274320"/>
          </a:xfrm>
          <a:prstGeom prst="rect">
            <a:avLst/>
          </a:prstGeom>
          <a:noFill/>
        </p:spPr>
        <p:txBody>
          <a:bodyPr wrap="square" anchor="t">
            <a:noAutofit/>
          </a:bodyPr>
          <a:lstStyle/>
          <a:p>
            <a:pPr algn="l" marL="0" indent="0">
              <a:spcAft>
                <a:spcPts val="0"/>
              </a:spcAft>
              <a:buNone/>
            </a:pPr>
            <a:r>
              <a:rPr sz="1100" b="1" i="0">
                <a:solidFill>
                  <a:srgbClr val="0C0A9E"/>
                </a:solidFill>
                <a:latin typeface="IBM Plex Mono"/>
                <a:ea typeface="IBM Plex Mono"/>
                <a:cs typeface="IBM Plex Mono"/>
                <a:sym typeface="IBM Plex Mono"/>
              </a:rPr>
              <a:t>Chọn đoạn cần dịch</a:t>
            </a:r>
          </a:p>
        </p:txBody>
      </p:sp>
      <p:sp>
        <p:nvSpPr>
          <p:cNvPr id="2236" name="TextBox 2235"/>
          <p:cNvSpPr txBox="1"/>
          <p:nvPr/>
        </p:nvSpPr>
        <p:spPr>
          <a:xfrm>
            <a:off x="5138928" y="3127248"/>
            <a:ext cx="3246120" cy="530352"/>
          </a:xfrm>
          <a:prstGeom prst="rect">
            <a:avLst/>
          </a:prstGeom>
          <a:noFill/>
        </p:spPr>
        <p:txBody>
          <a:bodyPr wrap="square" anchor="t">
            <a:noAutofit/>
          </a:bodyPr>
          <a:lstStyle/>
          <a:p>
            <a:pPr algn="l" marL="0" indent="0">
              <a:spcAft>
                <a:spcPts val="0"/>
              </a:spcAft>
              <a:buNone/>
            </a:pPr>
            <a:r>
              <a:rPr sz="950" b="0" i="0">
                <a:solidFill>
                  <a:srgbClr val="1D1D1D"/>
                </a:solidFill>
                <a:latin typeface="Be Vietnam Pro"/>
                <a:ea typeface="Be Vietnam Pro"/>
                <a:cs typeface="Be Vietnam Pro"/>
                <a:sym typeface="Be Vietnam Pro"/>
              </a:rPr>
              <a:t>Slot nghẽn liền nhau gộp thành một đoạn. Chọn ngẫu nhiên W = 5 đoạn, ưu tiên đoạn điểm cao.</a:t>
            </a:r>
          </a:p>
        </p:txBody>
      </p:sp>
      <p:sp>
        <p:nvSpPr>
          <p:cNvPr id="2237" name="Oval 2236"/>
          <p:cNvSpPr/>
          <p:nvPr/>
        </p:nvSpPr>
        <p:spPr>
          <a:xfrm>
            <a:off x="4754880" y="3694175"/>
            <a:ext cx="310896" cy="31089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marL="0" indent="0">
              <a:spcAft>
                <a:spcPts val="0"/>
              </a:spcAft>
              <a:buNone/>
            </a:pPr>
            <a:r>
              <a:rPr sz="1100" b="1" i="0">
                <a:solidFill>
                  <a:srgbClr val="FFFFFF"/>
                </a:solidFill>
                <a:latin typeface="IBM Plex Mono"/>
                <a:ea typeface="IBM Plex Mono"/>
                <a:cs typeface="IBM Plex Mono"/>
                <a:sym typeface="IBM Plex Mono"/>
              </a:rPr>
              <a:t>4</a:t>
            </a:r>
          </a:p>
        </p:txBody>
      </p:sp>
      <p:sp>
        <p:nvSpPr>
          <p:cNvPr id="2238" name="TextBox 2237"/>
          <p:cNvSpPr txBox="1"/>
          <p:nvPr/>
        </p:nvSpPr>
        <p:spPr>
          <a:xfrm>
            <a:off x="5138928" y="3639311"/>
            <a:ext cx="3246120" cy="274320"/>
          </a:xfrm>
          <a:prstGeom prst="rect">
            <a:avLst/>
          </a:prstGeom>
          <a:noFill/>
        </p:spPr>
        <p:txBody>
          <a:bodyPr wrap="square" anchor="t">
            <a:noAutofit/>
          </a:bodyPr>
          <a:lstStyle/>
          <a:p>
            <a:pPr algn="l" marL="0" indent="0">
              <a:spcAft>
                <a:spcPts val="0"/>
              </a:spcAft>
              <a:buNone/>
            </a:pPr>
            <a:r>
              <a:rPr sz="1100" b="1" i="0">
                <a:solidFill>
                  <a:srgbClr val="2E7D32"/>
                </a:solidFill>
                <a:latin typeface="IBM Plex Mono"/>
                <a:ea typeface="IBM Plex Mono"/>
                <a:cs typeface="IBM Plex Mono"/>
                <a:sym typeface="IBM Plex Mono"/>
              </a:rPr>
              <a:t>Dịch và thử</a:t>
            </a:r>
          </a:p>
        </p:txBody>
      </p:sp>
      <p:sp>
        <p:nvSpPr>
          <p:cNvPr id="2239" name="TextBox 2238"/>
          <p:cNvSpPr txBox="1"/>
          <p:nvPr/>
        </p:nvSpPr>
        <p:spPr>
          <a:xfrm>
            <a:off x="5138928" y="3895344"/>
            <a:ext cx="3246120" cy="530352"/>
          </a:xfrm>
          <a:prstGeom prst="rect">
            <a:avLst/>
          </a:prstGeom>
          <a:noFill/>
        </p:spPr>
        <p:txBody>
          <a:bodyPr wrap="square" anchor="t">
            <a:noAutofit/>
          </a:bodyPr>
          <a:lstStyle/>
          <a:p>
            <a:pPr algn="l" marL="0" indent="0">
              <a:spcAft>
                <a:spcPts val="0"/>
              </a:spcAft>
              <a:buNone/>
            </a:pPr>
            <a:r>
              <a:rPr sz="950" b="0" i="0">
                <a:solidFill>
                  <a:srgbClr val="1D1D1D"/>
                </a:solidFill>
                <a:latin typeface="Be Vietnam Pro"/>
                <a:ea typeface="Be Vietnam Pro"/>
                <a:cs typeface="Be Vietnam Pro"/>
                <a:sym typeface="Be Vietnam Pro"/>
              </a:rPr>
              <a:t>Dịch đoạn về phía điểm nghẽn với bước λ*, rồi λ*/2. Xác suất 0.1: thử thêm 1 tour khác như lúc tạo B1.</a:t>
            </a:r>
          </a:p>
        </p:txBody>
      </p:sp>
      <p:sp>
        <p:nvSpPr>
          <p:cNvPr id="2240" name="TextBox 2239"/>
          <p:cNvSpPr txBox="1"/>
          <p:nvPr/>
        </p:nvSpPr>
        <p:spPr>
          <a:xfrm>
            <a:off x="4754880" y="4480560"/>
            <a:ext cx="3611880" cy="274320"/>
          </a:xfrm>
          <a:prstGeom prst="rect">
            <a:avLst/>
          </a:prstGeom>
          <a:noFill/>
        </p:spPr>
        <p:txBody>
          <a:bodyPr wrap="square" anchor="t">
            <a:noAutofit/>
          </a:bodyPr>
          <a:lstStyle/>
          <a:p>
            <a:pPr algn="l" marL="0" indent="0">
              <a:spcAft>
                <a:spcPts val="0"/>
              </a:spcAft>
              <a:buNone/>
            </a:pPr>
            <a:r>
              <a:rPr sz="900" b="0" i="0">
                <a:solidFill>
                  <a:srgbClr val="5A5A6E"/>
                </a:solidFill>
                <a:latin typeface="Be Vietnam Pro"/>
                <a:ea typeface="Be Vietnam Pro"/>
                <a:cs typeface="Be Vietnam Pro"/>
                <a:sym typeface="Be Vietnam Pro"/>
              </a:rPr>
              <a:t>Mỗi vòng tối đa 2 + 2W lần đánh giá. Quỹ đạo luôn thỏa giới hạn tốc độ.</a:t>
            </a:r>
          </a:p>
        </p:txBody>
      </p:sp>
    </p:spTree>
    <p:extLst>
      <p:ext uri="{BB962C8B-B14F-4D97-AF65-F5344CB8AC3E}">
        <p14:creationId xmlns:p14="http://schemas.microsoft.com/office/powerpoint/2010/main" val="2007655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16">
          <a:extLst>
            <a:ext uri="{FF2B5EF4-FFF2-40B4-BE49-F238E27FC236}">
              <a16:creationId xmlns:a16="http://schemas.microsoft.com/office/drawing/2014/main" id="{F7DEBDD1-82FB-A43D-BD6E-9D09AA6C08CD}"/>
            </a:ext>
          </a:extLst>
        </p:cNvPr>
        <p:cNvGrpSpPr/>
        <p:nvPr/>
      </p:nvGrpSpPr>
      <p:grpSpPr>
        <a:xfrm>
          <a:off x="0" y="0"/>
          <a:ext cx="0" cy="0"/>
          <a:chOff x="0" y="0"/>
          <a:chExt cx="0" cy="0"/>
        </a:xfrm>
      </p:grpSpPr>
      <p:sp>
        <p:nvSpPr>
          <p:cNvPr id="2217" name="Google Shape;2217;p58">
            <a:extLst>
              <a:ext uri="{FF2B5EF4-FFF2-40B4-BE49-F238E27FC236}">
                <a16:creationId xmlns:a16="http://schemas.microsoft.com/office/drawing/2014/main" id="{5B421640-0167-B4BB-EAA1-7D3C5D91238B}"/>
              </a:ext>
            </a:extLst>
          </p:cNvPr>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algn="l"/>
            <a:r>
              <a:rPr lang="vi-VN"/>
              <a:t>Khối Repair</a:t>
            </a:r>
            <a:endParaRPr lang="en-US"/>
          </a:p>
        </p:txBody>
      </p:sp>
      <p:sp>
        <p:nvSpPr>
          <p:cNvPr id="2218" name="Google Shape;2218;p58">
            <a:extLst>
              <a:ext uri="{FF2B5EF4-FFF2-40B4-BE49-F238E27FC236}">
                <a16:creationId xmlns:a16="http://schemas.microsoft.com/office/drawing/2014/main" id="{6399CA45-369A-9B9C-D5D8-BF13A8DF11BE}"/>
              </a:ext>
            </a:extLst>
          </p:cNvPr>
          <p:cNvSpPr txBox="1">
            <a:spLocks noGrp="1"/>
          </p:cNvSpPr>
          <p:nvPr>
            <p:ph type="subTitle" idx="1"/>
          </p:nvPr>
        </p:nvSpPr>
        <p:spPr>
          <a:xfrm>
            <a:off x="896112" y="4114800"/>
            <a:ext cx="3474720" cy="365760"/>
          </a:xfrm>
          <a:prstGeom prst="rect">
            <a:avLst/>
          </a:prstGeom>
        </p:spPr>
        <p:txBody>
          <a:bodyPr spcFirstLastPara="1" wrap="square" lIns="91425" tIns="91425" rIns="91425" bIns="91425" anchor="t" anchorCtr="0">
            <a:noAutofit/>
          </a:bodyPr>
          <a:lstStyle/>
          <a:p>
            <a:pPr algn="ctr" marL="0" indent="0">
              <a:spcAft>
                <a:spcPts val="400"/>
              </a:spcAft>
              <a:buNone/>
            </a:pPr>
            <a:r>
              <a:rPr sz="1100" b="0" i="0">
                <a:solidFill>
                  <a:srgbClr val="1D1D1D"/>
                </a:solidFill>
                <a:latin typeface="Be Vietnam Pro"/>
                <a:ea typeface="Be Vietnam Pro"/>
                <a:cs typeface="Be Vietnam Pro"/>
                <a:sym typeface="Be Vietnam Pro"/>
              </a:rPr>
              <a:t>Phát hiện risky alert bằng cách đo slack</a:t>
            </a:r>
          </a:p>
        </p:txBody>
      </p:sp>
      <p:sp>
        <p:nvSpPr>
          <p:cNvPr id="2219" name="Google Shape;2219;p58">
            <a:extLst>
              <a:ext uri="{FF2B5EF4-FFF2-40B4-BE49-F238E27FC236}">
                <a16:creationId xmlns:a16="http://schemas.microsoft.com/office/drawing/2014/main" id="{87789F64-7A1E-34F6-1436-747F322E8911}"/>
              </a:ext>
            </a:extLst>
          </p:cNvPr>
          <p:cNvSpPr txBox="1">
            <a:spLocks noGrp="1"/>
          </p:cNvSpPr>
          <p:nvPr>
            <p:ph type="subTitle" idx="2"/>
          </p:nvPr>
        </p:nvSpPr>
        <p:spPr>
          <a:xfrm>
            <a:off x="4370832" y="4114800"/>
            <a:ext cx="3474720" cy="365760"/>
          </a:xfrm>
          <a:prstGeom prst="rect">
            <a:avLst/>
          </a:prstGeom>
        </p:spPr>
        <p:txBody>
          <a:bodyPr spcFirstLastPara="1" wrap="square" lIns="91425" tIns="91425" rIns="91425" bIns="91425" anchor="t" anchorCtr="0">
            <a:noAutofit/>
          </a:bodyPr>
          <a:lstStyle/>
          <a:p>
            <a:pPr algn="ctr" marL="0" indent="0">
              <a:spcAft>
                <a:spcPts val="400"/>
              </a:spcAft>
              <a:buNone/>
            </a:pPr>
            <a:r>
              <a:rPr sz="1100" b="0" i="0">
                <a:solidFill>
                  <a:srgbClr val="1D1D1D"/>
                </a:solidFill>
                <a:latin typeface="Be Vietnam Pro"/>
                <a:ea typeface="Be Vietnam Pro"/>
                <a:cs typeface="Be Vietnam Pro"/>
                <a:sym typeface="Be Vietnam Pro"/>
              </a:rPr>
              <a:t>2 operator để tăng độ ưu tiên truyền alert đó</a:t>
            </a:r>
          </a:p>
        </p:txBody>
      </p:sp>
      <p:pic>
        <p:nvPicPr>
          <p:cNvPr id="2" name="Picture 1">
            <a:extLst>
              <a:ext uri="{FF2B5EF4-FFF2-40B4-BE49-F238E27FC236}">
                <a16:creationId xmlns:a16="http://schemas.microsoft.com/office/drawing/2014/main" id="{648FE1DD-F0C1-D4C8-329B-DCD9F4EDE54F}"/>
              </a:ext>
            </a:extLst>
          </p:cNvPr>
          <p:cNvPicPr>
            <a:picLocks noChangeAspect="1"/>
          </p:cNvPicPr>
          <p:nvPr/>
        </p:nvPicPr>
        <p:blipFill>
          <a:blip r:embed="rId3"/>
          <a:stretch>
            <a:fillRect/>
          </a:stretch>
        </p:blipFill>
        <p:spPr>
          <a:xfrm>
            <a:off x="896112" y="1188720"/>
            <a:ext cx="6949440" cy="2826451"/>
          </a:xfrm>
          <a:prstGeom prst="rect">
            <a:avLst/>
          </a:prstGeom>
        </p:spPr>
      </p:pic>
    </p:spTree>
    <p:extLst>
      <p:ext uri="{BB962C8B-B14F-4D97-AF65-F5344CB8AC3E}">
        <p14:creationId xmlns:p14="http://schemas.microsoft.com/office/powerpoint/2010/main" val="1725902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FED38-7982-3DC3-2EA9-09F629F77831}"/>
              </a:ext>
            </a:extLst>
          </p:cNvPr>
          <p:cNvSpPr>
            <a:spLocks noGrp="1"/>
          </p:cNvSpPr>
          <p:nvPr>
            <p:ph type="title"/>
          </p:nvPr>
        </p:nvSpPr>
        <p:spPr>
          <a:xfrm>
            <a:off x="722376" y="448056"/>
            <a:ext cx="7708392" cy="576072"/>
          </a:xfrm>
        </p:spPr>
        <p:txBody>
          <a:bodyPr/>
          <a:lstStyle/>
          <a:p>
            <a:pPr algn="l"/>
            <a:r>
              <a:rPr lang="en-US" err="1"/>
              <a:t>Độ</a:t>
            </a:r>
            <a:r>
              <a:rPr lang="en-US"/>
              <a:t> </a:t>
            </a:r>
            <a:r>
              <a:rPr lang="en-US" err="1"/>
              <a:t>phức</a:t>
            </a:r>
            <a:r>
              <a:rPr lang="en-US"/>
              <a:t> </a:t>
            </a:r>
            <a:r>
              <a:rPr lang="en-US" err="1"/>
              <a:t>tạp</a:t>
            </a:r>
            <a:r>
              <a:rPr lang="en-US"/>
              <a:t> </a:t>
            </a:r>
            <a:r>
              <a:rPr lang="en-US" err="1"/>
              <a:t>thuật</a:t>
            </a:r>
            <a:r>
              <a:rPr lang="en-US"/>
              <a:t> </a:t>
            </a:r>
            <a:r>
              <a:rPr lang="en-US" err="1"/>
              <a:t>toán</a:t>
            </a:r>
          </a:p>
        </p:txBody>
      </p:sp>
      <p:pic>
        <p:nvPicPr>
          <p:cNvPr id="7" name="Picture 6" descr="A diagram of a block search&#10;&#10;AI-generated content may be incorrect.">
            <a:extLst>
              <a:ext uri="{FF2B5EF4-FFF2-40B4-BE49-F238E27FC236}">
                <a16:creationId xmlns:a16="http://schemas.microsoft.com/office/drawing/2014/main" id="{D68A16B5-79E7-7227-8015-0E0EFD527346}"/>
              </a:ext>
            </a:extLst>
          </p:cNvPr>
          <p:cNvPicPr>
            <a:picLocks noChangeAspect="1"/>
          </p:cNvPicPr>
          <p:nvPr/>
        </p:nvPicPr>
        <p:blipFill>
          <a:blip r:embed="rId2"/>
          <a:srcRect l="26575" r="161" b="9642"/>
          <a:stretch>
            <a:fillRect/>
          </a:stretch>
        </p:blipFill>
        <p:spPr>
          <a:xfrm>
            <a:off x="1987890" y="1189570"/>
            <a:ext cx="4657830" cy="3367602"/>
          </a:xfrm>
          <a:prstGeom prst="rect">
            <a:avLst/>
          </a:prstGeom>
        </p:spPr>
      </p:pic>
      <p:pic>
        <p:nvPicPr>
          <p:cNvPr id="8" name="Picture 7">
            <a:extLst>
              <a:ext uri="{FF2B5EF4-FFF2-40B4-BE49-F238E27FC236}">
                <a16:creationId xmlns:a16="http://schemas.microsoft.com/office/drawing/2014/main" id="{D66E1932-7855-F1B9-2E7A-B55B7FA94E2C}"/>
              </a:ext>
            </a:extLst>
          </p:cNvPr>
          <p:cNvPicPr>
            <a:picLocks noChangeAspect="1"/>
          </p:cNvPicPr>
          <p:nvPr/>
        </p:nvPicPr>
        <p:blipFill>
          <a:blip r:embed="rId3"/>
          <a:stretch>
            <a:fillRect/>
          </a:stretch>
        </p:blipFill>
        <p:spPr>
          <a:xfrm>
            <a:off x="6972536" y="1981524"/>
            <a:ext cx="1475982" cy="272290"/>
          </a:xfrm>
          <a:prstGeom prst="rect">
            <a:avLst/>
          </a:prstGeom>
        </p:spPr>
      </p:pic>
      <p:pic>
        <p:nvPicPr>
          <p:cNvPr id="9" name="Picture 8">
            <a:extLst>
              <a:ext uri="{FF2B5EF4-FFF2-40B4-BE49-F238E27FC236}">
                <a16:creationId xmlns:a16="http://schemas.microsoft.com/office/drawing/2014/main" id="{1650ECE0-710A-DC68-F96A-103265738F29}"/>
              </a:ext>
            </a:extLst>
          </p:cNvPr>
          <p:cNvPicPr>
            <a:picLocks noChangeAspect="1"/>
          </p:cNvPicPr>
          <p:nvPr/>
        </p:nvPicPr>
        <p:blipFill>
          <a:blip r:embed="rId4"/>
          <a:stretch>
            <a:fillRect/>
          </a:stretch>
        </p:blipFill>
        <p:spPr>
          <a:xfrm>
            <a:off x="7321459" y="2429945"/>
            <a:ext cx="778138" cy="324795"/>
          </a:xfrm>
          <a:prstGeom prst="rect">
            <a:avLst/>
          </a:prstGeom>
        </p:spPr>
      </p:pic>
      <p:pic>
        <p:nvPicPr>
          <p:cNvPr id="10" name="Picture 9">
            <a:extLst>
              <a:ext uri="{FF2B5EF4-FFF2-40B4-BE49-F238E27FC236}">
                <a16:creationId xmlns:a16="http://schemas.microsoft.com/office/drawing/2014/main" id="{C01F2BAE-55B0-4C5B-DC43-04E2340844DD}"/>
              </a:ext>
            </a:extLst>
          </p:cNvPr>
          <p:cNvPicPr>
            <a:picLocks noChangeAspect="1"/>
          </p:cNvPicPr>
          <p:nvPr/>
        </p:nvPicPr>
        <p:blipFill>
          <a:blip r:embed="rId5"/>
          <a:stretch>
            <a:fillRect/>
          </a:stretch>
        </p:blipFill>
        <p:spPr>
          <a:xfrm>
            <a:off x="7321931" y="2874432"/>
            <a:ext cx="885825" cy="314325"/>
          </a:xfrm>
          <a:prstGeom prst="rect">
            <a:avLst/>
          </a:prstGeom>
        </p:spPr>
      </p:pic>
      <p:pic>
        <p:nvPicPr>
          <p:cNvPr id="11" name="Picture 10">
            <a:extLst>
              <a:ext uri="{FF2B5EF4-FFF2-40B4-BE49-F238E27FC236}">
                <a16:creationId xmlns:a16="http://schemas.microsoft.com/office/drawing/2014/main" id="{F0643E77-ED8F-4C19-40B7-762EEF8200C8}"/>
              </a:ext>
            </a:extLst>
          </p:cNvPr>
          <p:cNvPicPr>
            <a:picLocks noChangeAspect="1"/>
          </p:cNvPicPr>
          <p:nvPr/>
        </p:nvPicPr>
        <p:blipFill>
          <a:blip r:embed="rId6"/>
          <a:srcRect l="1435" r="-143" b="24"/>
          <a:stretch>
            <a:fillRect/>
          </a:stretch>
        </p:blipFill>
        <p:spPr>
          <a:xfrm>
            <a:off x="5257800" y="3163824"/>
            <a:ext cx="3255264" cy="384048"/>
          </a:xfrm>
          <a:prstGeom prst="rect">
            <a:avLst/>
          </a:prstGeom>
        </p:spPr>
      </p:pic>
      <p:cxnSp>
        <p:nvCxnSpPr>
          <p:cNvPr id="13" name="Straight Arrow Connector 12">
            <a:extLst>
              <a:ext uri="{FF2B5EF4-FFF2-40B4-BE49-F238E27FC236}">
                <a16:creationId xmlns:a16="http://schemas.microsoft.com/office/drawing/2014/main" id="{E5F88CDC-ED46-BE66-13B4-0C14E1CA39DA}"/>
              </a:ext>
            </a:extLst>
          </p:cNvPr>
          <p:cNvCxnSpPr/>
          <p:nvPr/>
        </p:nvCxnSpPr>
        <p:spPr>
          <a:xfrm>
            <a:off x="6000749" y="2516453"/>
            <a:ext cx="1421027" cy="710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8669534-5209-7D57-CF0E-82AAD03A463A}"/>
              </a:ext>
            </a:extLst>
          </p:cNvPr>
          <p:cNvSpPr txBox="1"/>
          <p:nvPr/>
        </p:nvSpPr>
        <p:spPr>
          <a:xfrm>
            <a:off x="6290393" y="3736173"/>
            <a:ext cx="214187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a:solidFill>
                  <a:srgbClr val="1D1D1D"/>
                </a:solidFill>
                <a:latin typeface="Be Vietnam Pro"/>
                <a:ea typeface="Be Vietnam Pro"/>
                <a:cs typeface="Be Vietnam Pro"/>
                <a:sym typeface="Be Vietnam Pro"/>
              </a:rPr>
              <a:t>E: Evaluation Budget</a:t>
            </a:r>
          </a:p>
          <a:p>
            <a:pPr algn="ctr"/>
            <a:r>
              <a:rPr lang="en-US" err="1" sz="1100">
                <a:solidFill>
                  <a:srgbClr val="1D1D1D"/>
                </a:solidFill>
                <a:latin typeface="Be Vietnam Pro"/>
                <a:ea typeface="Be Vietnam Pro"/>
                <a:cs typeface="Be Vietnam Pro"/>
                <a:sym typeface="Be Vietnam Pro"/>
              </a:rPr>
              <a:t>Số</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lời</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giải</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mới</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được</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đánh</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giá</a:t>
            </a:r>
            <a:endParaRPr lang="en-US"/>
          </a:p>
        </p:txBody>
      </p:sp>
      <p:sp>
        <p:nvSpPr>
          <p:cNvPr id="15" name="TextBox 14">
            <a:extLst>
              <a:ext uri="{FF2B5EF4-FFF2-40B4-BE49-F238E27FC236}">
                <a16:creationId xmlns:a16="http://schemas.microsoft.com/office/drawing/2014/main" id="{261381C3-FB90-CC51-B94D-59F460C87E4A}"/>
              </a:ext>
            </a:extLst>
          </p:cNvPr>
          <p:cNvSpPr txBox="1"/>
          <p:nvPr/>
        </p:nvSpPr>
        <p:spPr>
          <a:xfrm>
            <a:off x="384936" y="3472378"/>
            <a:ext cx="177692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sz="1100">
                <a:solidFill>
                  <a:srgbClr val="1D1D1D"/>
                </a:solidFill>
                <a:latin typeface="Be Vietnam Pro"/>
                <a:ea typeface="Be Vietnam Pro"/>
                <a:cs typeface="Be Vietnam Pro"/>
                <a:sym typeface="Be Vietnam Pro"/>
              </a:rPr>
              <a:t>Thời</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gian</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cho</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mỗi</a:t>
            </a:r>
            <a:r>
              <a:rPr lang="en-US" sz="1100">
                <a:solidFill>
                  <a:srgbClr val="1D1D1D"/>
                </a:solidFill>
                <a:latin typeface="Be Vietnam Pro"/>
                <a:ea typeface="Be Vietnam Pro"/>
                <a:cs typeface="Be Vietnam Pro"/>
                <a:sym typeface="Be Vietnam Pro"/>
              </a:rPr>
              <a:t> block </a:t>
            </a:r>
            <a:r>
              <a:rPr lang="en-US" err="1" sz="1100">
                <a:solidFill>
                  <a:srgbClr val="1D1D1D"/>
                </a:solidFill>
                <a:latin typeface="Be Vietnam Pro"/>
                <a:ea typeface="Be Vietnam Pro"/>
                <a:cs typeface="Be Vietnam Pro"/>
                <a:sym typeface="Be Vietnam Pro"/>
              </a:rPr>
              <a:t>là</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rất</a:t>
            </a:r>
            <a:r>
              <a:rPr lang="en-US" sz="1100">
                <a:solidFill>
                  <a:srgbClr val="1D1D1D"/>
                </a:solidFill>
                <a:latin typeface="Be Vietnam Pro"/>
                <a:ea typeface="Be Vietnam Pro"/>
                <a:cs typeface="Be Vietnam Pro"/>
                <a:sym typeface="Be Vietnam Pro"/>
              </a:rPr>
              <a:t> </a:t>
            </a:r>
            <a:r>
              <a:rPr lang="en-US" err="1" sz="1100">
                <a:solidFill>
                  <a:srgbClr val="1D1D1D"/>
                </a:solidFill>
                <a:latin typeface="Be Vietnam Pro"/>
                <a:ea typeface="Be Vietnam Pro"/>
                <a:cs typeface="Be Vietnam Pro"/>
                <a:sym typeface="Be Vietnam Pro"/>
              </a:rPr>
              <a:t>nhỏ</a:t>
            </a:r>
            <a:r>
              <a:rPr lang="en-US" sz="1100">
                <a:solidFill>
                  <a:srgbClr val="1D1D1D"/>
                </a:solidFill>
                <a:latin typeface="Be Vietnam Pro"/>
                <a:ea typeface="Be Vietnam Pro"/>
                <a:cs typeface="Be Vietnam Pro"/>
                <a:sym typeface="Be Vietnam Pro"/>
              </a:rPr>
              <a:t> !</a:t>
            </a:r>
          </a:p>
        </p:txBody>
      </p:sp>
      <p:pic>
        <p:nvPicPr>
          <p:cNvPr id="17" name="Picture 16">
            <a:extLst>
              <a:ext uri="{FF2B5EF4-FFF2-40B4-BE49-F238E27FC236}">
                <a16:creationId xmlns:a16="http://schemas.microsoft.com/office/drawing/2014/main" id="{96903201-4D37-7BD5-4754-64813BD61D91}"/>
              </a:ext>
            </a:extLst>
          </p:cNvPr>
          <p:cNvPicPr>
            <a:picLocks noChangeAspect="1"/>
          </p:cNvPicPr>
          <p:nvPr/>
        </p:nvPicPr>
        <p:blipFill>
          <a:blip r:embed="rId7"/>
          <a:stretch>
            <a:fillRect/>
          </a:stretch>
        </p:blipFill>
        <p:spPr>
          <a:xfrm>
            <a:off x="402176" y="1981641"/>
            <a:ext cx="1755591" cy="272053"/>
          </a:xfrm>
          <a:prstGeom prst="rect">
            <a:avLst/>
          </a:prstGeom>
        </p:spPr>
      </p:pic>
      <p:pic>
        <p:nvPicPr>
          <p:cNvPr id="18" name="Picture 17">
            <a:extLst>
              <a:ext uri="{FF2B5EF4-FFF2-40B4-BE49-F238E27FC236}">
                <a16:creationId xmlns:a16="http://schemas.microsoft.com/office/drawing/2014/main" id="{F76FA868-1D8F-52CF-1B90-C5343E3EF8B7}"/>
              </a:ext>
            </a:extLst>
          </p:cNvPr>
          <p:cNvPicPr>
            <a:picLocks noChangeAspect="1"/>
          </p:cNvPicPr>
          <p:nvPr/>
        </p:nvPicPr>
        <p:blipFill>
          <a:blip r:embed="rId8"/>
          <a:stretch>
            <a:fillRect/>
          </a:stretch>
        </p:blipFill>
        <p:spPr>
          <a:xfrm>
            <a:off x="464482" y="3086738"/>
            <a:ext cx="1626256" cy="352583"/>
          </a:xfrm>
          <a:prstGeom prst="rect">
            <a:avLst/>
          </a:prstGeom>
        </p:spPr>
      </p:pic>
      <p:sp>
        <p:nvSpPr>
          <p:cNvPr id="19" name="TextBox 18">
            <a:extLst>
              <a:ext uri="{FF2B5EF4-FFF2-40B4-BE49-F238E27FC236}">
                <a16:creationId xmlns:a16="http://schemas.microsoft.com/office/drawing/2014/main" id="{1B8FDCC0-F88B-CD75-E784-D29C98C2AA7D}"/>
              </a:ext>
            </a:extLst>
          </p:cNvPr>
          <p:cNvSpPr txBox="1"/>
          <p:nvPr/>
        </p:nvSpPr>
        <p:spPr>
          <a:xfrm>
            <a:off x="6773494" y="1512212"/>
            <a:ext cx="1985186" cy="466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err="1">
                <a:solidFill>
                  <a:srgbClr val="1D1D1D"/>
                </a:solidFill>
                <a:latin typeface="Be Vietnam Pro"/>
                <a:ea typeface="Be Vietnam Pro"/>
                <a:cs typeface="Be Vietnam Pro"/>
                <a:sym typeface="Be Vietnam Pro"/>
              </a:rPr>
              <a:t>Số</a:t>
            </a:r>
            <a:r>
              <a:rPr lang="en-US" sz="1100">
                <a:solidFill>
                  <a:srgbClr val="1D1D1D"/>
                </a:solidFill>
                <a:latin typeface="Be Vietnam Pro"/>
                <a:ea typeface="Be Vietnam Pro"/>
                <a:cs typeface="Be Vietnam Pro"/>
                <a:sym typeface="Be Vietnam Pro"/>
              </a:rPr>
              <a:t> </a:t>
            </a:r>
            <a:r>
              <a:rPr lang="en-US" sz="1100" err="1">
                <a:solidFill>
                  <a:srgbClr val="1D1D1D"/>
                </a:solidFill>
                <a:latin typeface="Be Vietnam Pro"/>
                <a:ea typeface="Be Vietnam Pro"/>
                <a:cs typeface="Be Vietnam Pro"/>
                <a:sym typeface="Be Vietnam Pro"/>
              </a:rPr>
              <a:t>lần</a:t>
            </a:r>
            <a:r>
              <a:rPr lang="en-US" sz="1100">
                <a:solidFill>
                  <a:srgbClr val="1D1D1D"/>
                </a:solidFill>
                <a:latin typeface="Be Vietnam Pro"/>
                <a:ea typeface="Be Vietnam Pro"/>
                <a:cs typeface="Be Vietnam Pro"/>
                <a:sym typeface="Be Vietnam Pro"/>
              </a:rPr>
              <a:t> call Evaluation </a:t>
            </a:r>
            <a:r>
              <a:rPr lang="en-US" sz="1100" err="1">
                <a:solidFill>
                  <a:srgbClr val="1D1D1D"/>
                </a:solidFill>
                <a:latin typeface="Be Vietnam Pro"/>
                <a:ea typeface="Be Vietnam Pro"/>
                <a:cs typeface="Be Vietnam Pro"/>
                <a:sym typeface="Be Vietnam Pro"/>
              </a:rPr>
              <a:t>tối</a:t>
            </a:r>
            <a:r>
              <a:rPr lang="en-US" sz="1100">
                <a:solidFill>
                  <a:srgbClr val="1D1D1D"/>
                </a:solidFill>
                <a:latin typeface="Be Vietnam Pro"/>
                <a:ea typeface="Be Vietnam Pro"/>
                <a:cs typeface="Be Vietnam Pro"/>
                <a:sym typeface="Be Vietnam Pro"/>
              </a:rPr>
              <a:t> </a:t>
            </a:r>
            <a:r>
              <a:rPr lang="en-US" sz="1100" err="1">
                <a:solidFill>
                  <a:srgbClr val="1D1D1D"/>
                </a:solidFill>
                <a:latin typeface="Be Vietnam Pro"/>
                <a:ea typeface="Be Vietnam Pro"/>
                <a:cs typeface="Be Vietnam Pro"/>
                <a:sym typeface="Be Vietnam Pro"/>
              </a:rPr>
              <a:t>đa</a:t>
            </a:r>
            <a:r>
              <a:rPr lang="en-US" sz="1100">
                <a:solidFill>
                  <a:srgbClr val="1D1D1D"/>
                </a:solidFill>
                <a:latin typeface="Be Vietnam Pro"/>
                <a:ea typeface="Be Vietnam Pro"/>
                <a:cs typeface="Be Vietnam Pro"/>
                <a:sym typeface="Be Vietnam Pro"/>
              </a:rPr>
              <a:t> </a:t>
            </a:r>
            <a:r>
              <a:rPr lang="en-US" sz="1100" err="1">
                <a:solidFill>
                  <a:srgbClr val="1D1D1D"/>
                </a:solidFill>
                <a:latin typeface="Be Vietnam Pro"/>
                <a:ea typeface="Be Vietnam Pro"/>
                <a:cs typeface="Be Vietnam Pro"/>
                <a:sym typeface="Be Vietnam Pro"/>
              </a:rPr>
              <a:t>mỗi</a:t>
            </a:r>
            <a:r>
              <a:rPr lang="en-US" sz="1100">
                <a:solidFill>
                  <a:srgbClr val="1D1D1D"/>
                </a:solidFill>
                <a:latin typeface="Be Vietnam Pro"/>
                <a:ea typeface="Be Vietnam Pro"/>
                <a:cs typeface="Be Vietnam Pro"/>
                <a:sym typeface="Be Vietnam Pro"/>
              </a:rPr>
              <a:t> block</a:t>
            </a:r>
            <a:endParaRPr lang="en-US"/>
          </a:p>
        </p:txBody>
      </p:sp>
    </p:spTree>
    <p:extLst>
      <p:ext uri="{BB962C8B-B14F-4D97-AF65-F5344CB8AC3E}">
        <p14:creationId xmlns:p14="http://schemas.microsoft.com/office/powerpoint/2010/main" val="2376374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82"/>
        <p:cNvGrpSpPr/>
        <p:nvPr/>
      </p:nvGrpSpPr>
      <p:grpSpPr>
        <a:xfrm>
          <a:off x="0" y="0"/>
          <a:ext cx="0" cy="0"/>
          <a:chOff x="0" y="0"/>
          <a:chExt cx="0" cy="0"/>
        </a:xfrm>
      </p:grpSpPr>
      <p:sp>
        <p:nvSpPr>
          <p:cNvPr id="1483" name="Google Shape;1483;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04</a:t>
            </a:r>
          </a:p>
        </p:txBody>
      </p:sp>
      <p:sp>
        <p:nvSpPr>
          <p:cNvPr id="1484" name="Google Shape;1484;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Wide &amp; Narrow (Topology Zoo + SNDlib), case study RescueNet</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l="16960" t="24719" r="7121" b="26177"/>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1" name="Google Shape;1491;p38"/>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Kết quả</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8" name="Google Shape;1498;p38"/>
            <p:cNvPicPr preferRelativeResize="0"/>
            <p:nvPr/>
          </p:nvPicPr>
          <p:blipFill rotWithShape="1">
            <a:blip r:embed="rId3">
              <a:alphaModFix/>
            </a:blip>
            <a:srcRect l="16960" t="24719" r="7121" b="26177"/>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4" name="Google Shape;1524;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5" name="Google Shape;1525;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8A767-C28A-CAB6-E42C-EDD82D9D6831}"/>
              </a:ext>
            </a:extLst>
          </p:cNvPr>
          <p:cNvSpPr>
            <a:spLocks noGrp="1"/>
          </p:cNvSpPr>
          <p:nvPr>
            <p:ph type="title"/>
          </p:nvPr>
        </p:nvSpPr>
        <p:spPr>
          <a:xfrm>
            <a:off x="722376" y="448056"/>
            <a:ext cx="7708392" cy="576072"/>
          </a:xfrm>
        </p:spPr>
        <p:txBody>
          <a:bodyPr/>
          <a:lstStyle/>
          <a:p>
            <a:pPr algn="l"/>
            <a:r>
              <a:rPr lang="en-US"/>
              <a:t>Tran-IA (Tran et al., 2022)</a:t>
            </a:r>
          </a:p>
        </p:txBody>
      </p:sp>
      <p:sp>
        <p:nvSpPr>
          <p:cNvPr id="3" name="Subtitle 2">
            <a:extLst>
              <a:ext uri="{FF2B5EF4-FFF2-40B4-BE49-F238E27FC236}">
                <a16:creationId xmlns:a16="http://schemas.microsoft.com/office/drawing/2014/main" id="{0F7AF8D6-3AED-8FDE-0ACB-AF7B8F0CA8EA}"/>
              </a:ext>
            </a:extLst>
          </p:cNvPr>
          <p:cNvSpPr>
            <a:spLocks noGrp="1"/>
          </p:cNvSpPr>
          <p:nvPr>
            <p:ph type="subTitle" idx="1"/>
          </p:nvPr>
        </p:nvSpPr>
        <p:spPr>
          <a:xfrm>
            <a:off x="722376" y="1005840"/>
            <a:ext cx="7708392" cy="320040"/>
          </a:xfrm>
        </p:spPr>
        <p:txBody>
          <a:bodyPr wrap="square" anchor="t">
            <a:noAutofit/>
          </a:bodyPr>
          <a:lstStyle/>
          <a:p>
            <a:pPr algn="l" marL="0" indent="0">
              <a:spcAft>
                <a:spcPts val="400"/>
              </a:spcAft>
              <a:buNone/>
            </a:pPr>
            <a:r>
              <a:rPr sz="1200" b="0" i="0">
                <a:solidFill>
                  <a:srgbClr val="1D1D1D"/>
                </a:solidFill>
                <a:latin typeface="Be Vietnam Pro"/>
                <a:ea typeface="Be Vietnam Pro"/>
                <a:cs typeface="Be Vietnam Pro"/>
                <a:sym typeface="Be Vietnam Pro"/>
              </a:rPr>
              <a:t>Bài gần nhất cũng đếm số yêu cầu tới kịp: UAV thu dữ liệu, lưu lại rồi chuyển về gateway</a:t>
            </a:r>
          </a:p>
        </p:txBody>
      </p:sp>
      <p:pic>
        <p:nvPicPr>
          <p:cNvPr id="7" name="Picture 6" descr="A close-up of a sign&#10;&#10;AI-generated content may be incorrect.">
            <a:extLst>
              <a:ext uri="{FF2B5EF4-FFF2-40B4-BE49-F238E27FC236}">
                <a16:creationId xmlns:a16="http://schemas.microsoft.com/office/drawing/2014/main" id="{2FA0B749-D5F6-0D54-B290-F22EF023390E}"/>
              </a:ext>
            </a:extLst>
          </p:cNvPr>
          <p:cNvPicPr>
            <a:picLocks noChangeAspect="1"/>
          </p:cNvPicPr>
          <p:nvPr/>
        </p:nvPicPr>
        <p:blipFill>
          <a:blip r:embed="rId2"/>
          <a:stretch>
            <a:fillRect/>
          </a:stretch>
        </p:blipFill>
        <p:spPr>
          <a:xfrm>
            <a:off x="4754880" y="1417320"/>
            <a:ext cx="3666744" cy="987552"/>
          </a:xfrm>
          <a:prstGeom prst="rect">
            <a:avLst/>
          </a:prstGeom>
        </p:spPr>
      </p:pic>
      <p:pic>
        <p:nvPicPr>
          <p:cNvPr id="8" name="Picture 7" descr="A diagram of a drone&#10;&#10;AI-generated content may be incorrect.">
            <a:extLst>
              <a:ext uri="{FF2B5EF4-FFF2-40B4-BE49-F238E27FC236}">
                <a16:creationId xmlns:a16="http://schemas.microsoft.com/office/drawing/2014/main" id="{41E341B7-2803-536E-59BE-160642FC0BD8}"/>
              </a:ext>
            </a:extLst>
          </p:cNvPr>
          <p:cNvPicPr>
            <a:picLocks noChangeAspect="1"/>
          </p:cNvPicPr>
          <p:nvPr/>
        </p:nvPicPr>
        <p:blipFill>
          <a:blip r:embed="rId3"/>
          <a:stretch>
            <a:fillRect/>
          </a:stretch>
        </p:blipFill>
        <p:spPr>
          <a:xfrm>
            <a:off x="722376" y="1417320"/>
            <a:ext cx="3624722" cy="3291840"/>
          </a:xfrm>
          <a:prstGeom prst="rect">
            <a:avLst/>
          </a:prstGeom>
        </p:spPr>
      </p:pic>
      <p:pic>
        <p:nvPicPr>
          <p:cNvPr id="9" name="Picture 8" descr="A text on a white background&#10;&#10;AI-generated content may be incorrect.">
            <a:extLst>
              <a:ext uri="{FF2B5EF4-FFF2-40B4-BE49-F238E27FC236}">
                <a16:creationId xmlns:a16="http://schemas.microsoft.com/office/drawing/2014/main" id="{EFFE42E9-1C9E-75C8-F285-76BDAE5FE110}"/>
              </a:ext>
            </a:extLst>
          </p:cNvPr>
          <p:cNvPicPr>
            <a:picLocks noChangeAspect="1"/>
          </p:cNvPicPr>
          <p:nvPr/>
        </p:nvPicPr>
        <p:blipFill>
          <a:blip r:embed="rId4"/>
          <a:stretch>
            <a:fillRect/>
          </a:stretch>
        </p:blipFill>
        <p:spPr>
          <a:xfrm>
            <a:off x="4526280" y="2514600"/>
            <a:ext cx="4114800" cy="1813161"/>
          </a:xfrm>
          <a:prstGeom prst="rect">
            <a:avLst/>
          </a:prstGeom>
        </p:spPr>
      </p:pic>
      <p:sp>
        <p:nvSpPr>
          <p:cNvPr id="10" name="TextBox 9">
            <a:extLst>
              <a:ext uri="{FF2B5EF4-FFF2-40B4-BE49-F238E27FC236}">
                <a16:creationId xmlns:a16="http://schemas.microsoft.com/office/drawing/2014/main" id="{9ED7E120-4A9B-C3BD-1B5E-DE28E4E3E076}"/>
              </a:ext>
            </a:extLst>
          </p:cNvPr>
          <p:cNvSpPr txBox="1"/>
          <p:nvPr/>
        </p:nvSpPr>
        <p:spPr>
          <a:xfrm>
            <a:off x="4526280" y="4434840"/>
            <a:ext cx="4114800" cy="274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ctr" marL="0" indent="0">
              <a:spcAft>
                <a:spcPts val="400"/>
              </a:spcAft>
              <a:buNone/>
            </a:pPr>
            <a:r>
              <a:rPr sz="1000" b="0" i="0">
                <a:solidFill>
                  <a:srgbClr val="5A5A6E"/>
                </a:solidFill>
                <a:latin typeface="Be Vietnam Pro"/>
                <a:ea typeface="Be Vietnam Pro"/>
                <a:cs typeface="Be Vietnam Pro"/>
                <a:sym typeface="Be Vietnam Pro"/>
              </a:rPr>
              <a:t>Cách nhóm chỉnh Tran-IA cho bài toán của mình</a:t>
            </a:r>
          </a:p>
        </p:txBody>
      </p:sp>
    </p:spTree>
    <p:extLst>
      <p:ext uri="{BB962C8B-B14F-4D97-AF65-F5344CB8AC3E}">
        <p14:creationId xmlns:p14="http://schemas.microsoft.com/office/powerpoint/2010/main" val="4004595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1A748-DAC8-B675-8755-AA4B857E3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3B342-D426-C97C-3EBD-AA4A7C53F590}"/>
              </a:ext>
            </a:extLst>
          </p:cNvPr>
          <p:cNvSpPr>
            <a:spLocks noGrp="1"/>
          </p:cNvSpPr>
          <p:nvPr>
            <p:ph type="title"/>
          </p:nvPr>
        </p:nvSpPr>
        <p:spPr>
          <a:xfrm>
            <a:off x="722376" y="448056"/>
            <a:ext cx="7708392" cy="576072"/>
          </a:xfrm>
        </p:spPr>
        <p:txBody>
          <a:bodyPr/>
          <a:lstStyle/>
          <a:p>
            <a:pPr algn="l"/>
            <a:r>
              <a:rPr lang="en-US"/>
              <a:t>Tran IA</a:t>
            </a:r>
          </a:p>
        </p:txBody>
      </p:sp>
      <p:sp>
        <p:nvSpPr>
          <p:cNvPr id="3" name="Subtitle 2">
            <a:extLst>
              <a:ext uri="{FF2B5EF4-FFF2-40B4-BE49-F238E27FC236}">
                <a16:creationId xmlns:a16="http://schemas.microsoft.com/office/drawing/2014/main" id="{2AF71217-D263-8C52-8BA0-ABF1FADD3A3F}"/>
              </a:ext>
            </a:extLst>
          </p:cNvPr>
          <p:cNvSpPr>
            <a:spLocks noGrp="1"/>
          </p:cNvSpPr>
          <p:nvPr>
            <p:ph type="subTitle" idx="1"/>
          </p:nvPr>
        </p:nvSpPr>
        <p:spPr>
          <a:xfrm>
            <a:off x="722376" y="987552"/>
            <a:ext cx="4846320" cy="594360"/>
          </a:xfrm>
        </p:spPr>
        <p:txBody>
          <a:bodyPr wrap="square" anchor="t">
            <a:noAutofit/>
          </a:bodyPr>
          <a:lstStyle/>
          <a:p>
            <a:pPr algn="l" marL="0" indent="0">
              <a:spcAft>
                <a:spcPts val="400"/>
              </a:spcAft>
              <a:buNone/>
            </a:pPr>
            <a:r>
              <a:rPr sz="1100" b="0" i="0">
                <a:solidFill>
                  <a:srgbClr val="1D1D1D"/>
                </a:solidFill>
                <a:latin typeface="Be Vietnam Pro"/>
                <a:ea typeface="Be Vietnam Pro"/>
                <a:cs typeface="Be Vietnam Pro"/>
                <a:sym typeface="Be Vietnam Pro"/>
              </a:rPr>
              <a:t>Tư tưởng Inner Approximation: ở mỗi bước, chặn các thành phần không lồi của hàm mục tiêu / ràng buộc trong không gian nghiệm xấp xỉ nhỏ quanh nghiệm hiện tại</a:t>
            </a:r>
          </a:p>
        </p:txBody>
      </p:sp>
      <p:pic>
        <p:nvPicPr>
          <p:cNvPr id="11" name="Picture 10" descr="A math equations on a white background&#10;&#10;AI-generated content may be incorrect.">
            <a:extLst>
              <a:ext uri="{FF2B5EF4-FFF2-40B4-BE49-F238E27FC236}">
                <a16:creationId xmlns:a16="http://schemas.microsoft.com/office/drawing/2014/main" id="{F32B0A21-7F5A-D0E5-2BB7-B8EB2148410A}"/>
              </a:ext>
            </a:extLst>
          </p:cNvPr>
          <p:cNvPicPr>
            <a:picLocks noChangeAspect="1"/>
          </p:cNvPicPr>
          <p:nvPr/>
        </p:nvPicPr>
        <p:blipFill>
          <a:blip r:embed="rId2"/>
          <a:srcRect l="21567" t="8633" r="20281" b="416"/>
          <a:stretch>
            <a:fillRect/>
          </a:stretch>
        </p:blipFill>
        <p:spPr>
          <a:xfrm>
            <a:off x="1532081" y="1895128"/>
            <a:ext cx="2946807" cy="649733"/>
          </a:xfrm>
          <a:prstGeom prst="rect">
            <a:avLst/>
          </a:prstGeom>
        </p:spPr>
      </p:pic>
      <p:pic>
        <p:nvPicPr>
          <p:cNvPr id="4" name="Picture 3">
            <a:extLst>
              <a:ext uri="{FF2B5EF4-FFF2-40B4-BE49-F238E27FC236}">
                <a16:creationId xmlns:a16="http://schemas.microsoft.com/office/drawing/2014/main" id="{F215597A-6C99-0B27-28EE-EF49EBAAA676}"/>
              </a:ext>
            </a:extLst>
          </p:cNvPr>
          <p:cNvPicPr>
            <a:picLocks noChangeAspect="1"/>
          </p:cNvPicPr>
          <p:nvPr/>
        </p:nvPicPr>
        <p:blipFill>
          <a:blip r:embed="rId3"/>
          <a:stretch>
            <a:fillRect/>
          </a:stretch>
        </p:blipFill>
        <p:spPr>
          <a:xfrm>
            <a:off x="722376" y="3108960"/>
            <a:ext cx="4023360" cy="1579724"/>
          </a:xfrm>
          <a:prstGeom prst="rect">
            <a:avLst/>
          </a:prstGeom>
        </p:spPr>
      </p:pic>
      <p:sp>
        <p:nvSpPr>
          <p:cNvPr id="5" name="TextBox 4">
            <a:extLst>
              <a:ext uri="{FF2B5EF4-FFF2-40B4-BE49-F238E27FC236}">
                <a16:creationId xmlns:a16="http://schemas.microsoft.com/office/drawing/2014/main" id="{9FC704FD-AA59-C462-E78C-9E1CB5FE42CB}"/>
              </a:ext>
            </a:extLst>
          </p:cNvPr>
          <p:cNvSpPr txBox="1"/>
          <p:nvPr/>
        </p:nvSpPr>
        <p:spPr>
          <a:xfrm>
            <a:off x="722376" y="1993392"/>
            <a:ext cx="914400" cy="274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err="1">
                <a:solidFill>
                  <a:srgbClr val="5A5A6E"/>
                </a:solidFill>
                <a:latin typeface="Be Vietnam Pro"/>
                <a:ea typeface="Be Vietnam Pro"/>
                <a:cs typeface="Be Vietnam Pro"/>
                <a:sym typeface="Be Vietnam Pro"/>
              </a:rPr>
              <a:t>Bài</a:t>
            </a:r>
            <a:r>
              <a:rPr lang="en-US" sz="1100">
                <a:solidFill>
                  <a:srgbClr val="5A5A6E"/>
                </a:solidFill>
                <a:latin typeface="Be Vietnam Pro"/>
                <a:ea typeface="Be Vietnam Pro"/>
                <a:cs typeface="Be Vietnam Pro"/>
                <a:sym typeface="Be Vietnam Pro"/>
              </a:rPr>
              <a:t> </a:t>
            </a:r>
            <a:r>
              <a:rPr lang="en-US" sz="1100" err="1">
                <a:solidFill>
                  <a:srgbClr val="5A5A6E"/>
                </a:solidFill>
                <a:latin typeface="Be Vietnam Pro"/>
                <a:ea typeface="Be Vietnam Pro"/>
                <a:cs typeface="Be Vietnam Pro"/>
                <a:sym typeface="Be Vietnam Pro"/>
              </a:rPr>
              <a:t>toán</a:t>
            </a:r>
            <a:r>
              <a:rPr lang="en-US" sz="1100">
                <a:solidFill>
                  <a:srgbClr val="5A5A6E"/>
                </a:solidFill>
                <a:latin typeface="Be Vietnam Pro"/>
                <a:ea typeface="Be Vietnam Pro"/>
                <a:cs typeface="Be Vietnam Pro"/>
                <a:sym typeface="Be Vietnam Pro"/>
              </a:rPr>
              <a:t> </a:t>
            </a:r>
            <a:r>
              <a:rPr lang="en-US" sz="1100" err="1">
                <a:solidFill>
                  <a:srgbClr val="5A5A6E"/>
                </a:solidFill>
                <a:latin typeface="Be Vietnam Pro"/>
                <a:ea typeface="Be Vietnam Pro"/>
                <a:cs typeface="Be Vietnam Pro"/>
                <a:sym typeface="Be Vietnam Pro"/>
              </a:rPr>
              <a:t>gốc</a:t>
            </a:r>
          </a:p>
        </p:txBody>
      </p:sp>
      <p:sp>
        <p:nvSpPr>
          <p:cNvPr id="6" name="TextBox 5">
            <a:extLst>
              <a:ext uri="{FF2B5EF4-FFF2-40B4-BE49-F238E27FC236}">
                <a16:creationId xmlns:a16="http://schemas.microsoft.com/office/drawing/2014/main" id="{80A1FB56-0168-FA35-4770-3E7AD2A5CE40}"/>
              </a:ext>
            </a:extLst>
          </p:cNvPr>
          <p:cNvSpPr txBox="1"/>
          <p:nvPr/>
        </p:nvSpPr>
        <p:spPr>
          <a:xfrm>
            <a:off x="5760720" y="987552"/>
            <a:ext cx="2926080" cy="54864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0" indent="0">
              <a:spcAft>
                <a:spcPts val="200"/>
              </a:spcAft>
              <a:buNone/>
            </a:pPr>
            <a:r>
              <a:rPr sz="1100" b="0" i="0">
                <a:solidFill>
                  <a:srgbClr val="1D1D1D"/>
                </a:solidFill>
                <a:latin typeface="Be Vietnam Pro"/>
                <a:ea typeface="Be Vietnam Pro"/>
                <a:cs typeface="Be Vietnam Pro"/>
                <a:sym typeface="Be Vietnam Pro"/>
              </a:rPr>
              <a:t>λ: biến quyết định truyền alert ∈ {0, 1}</a:t>
            </a:r>
          </a:p>
          <a:p>
            <a:pPr algn="l" marL="0" indent="0">
              <a:spcAft>
                <a:spcPts val="200"/>
              </a:spcAft>
              <a:buNone/>
            </a:pPr>
            <a:r>
              <a:rPr sz="1100" b="0" i="0">
                <a:solidFill>
                  <a:srgbClr val="1D1D1D"/>
                </a:solidFill>
                <a:latin typeface="Be Vietnam Pro"/>
                <a:ea typeface="Be Vietnam Pro"/>
                <a:cs typeface="Be Vietnam Pro"/>
                <a:sym typeface="Be Vietnam Pro"/>
              </a:rPr>
              <a:t>→ liên tục hóa [0, 1]; penalty Σ λ(λ − 1)</a:t>
            </a:r>
          </a:p>
        </p:txBody>
      </p:sp>
      <p:cxnSp>
        <p:nvCxnSpPr>
          <p:cNvPr id="12" name="Straight Arrow Connector 11">
            <a:extLst>
              <a:ext uri="{FF2B5EF4-FFF2-40B4-BE49-F238E27FC236}">
                <a16:creationId xmlns:a16="http://schemas.microsoft.com/office/drawing/2014/main" id="{99FF1075-BAFE-BD2C-0A2E-1C41A661ED57}"/>
              </a:ext>
            </a:extLst>
          </p:cNvPr>
          <p:cNvCxnSpPr/>
          <p:nvPr/>
        </p:nvCxnSpPr>
        <p:spPr>
          <a:xfrm flipH="1">
            <a:off x="2471351" y="2537151"/>
            <a:ext cx="7722" cy="5406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AA7C474B-5D6A-8493-6C6E-79E88305D451}"/>
              </a:ext>
            </a:extLst>
          </p:cNvPr>
          <p:cNvSpPr txBox="1"/>
          <p:nvPr/>
        </p:nvSpPr>
        <p:spPr>
          <a:xfrm>
            <a:off x="2605216" y="2671015"/>
            <a:ext cx="11275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err="1">
                <a:solidFill>
                  <a:srgbClr val="5A5A6E"/>
                </a:solidFill>
                <a:latin typeface="Be Vietnam Pro"/>
                <a:ea typeface="Be Vietnam Pro"/>
                <a:cs typeface="Be Vietnam Pro"/>
                <a:sym typeface="Be Vietnam Pro"/>
              </a:rPr>
              <a:t>Chặn</a:t>
            </a:r>
            <a:endParaRPr lang="en-US" err="1"/>
          </a:p>
        </p:txBody>
      </p:sp>
      <p:pic>
        <p:nvPicPr>
          <p:cNvPr id="14" name="Picture 13" descr="A group of mathematical symbols&#10;&#10;AI-generated content may be incorrect.">
            <a:extLst>
              <a:ext uri="{FF2B5EF4-FFF2-40B4-BE49-F238E27FC236}">
                <a16:creationId xmlns:a16="http://schemas.microsoft.com/office/drawing/2014/main" id="{6FBDB543-5258-F9D2-CE35-601BF6C341E2}"/>
              </a:ext>
            </a:extLst>
          </p:cNvPr>
          <p:cNvPicPr>
            <a:picLocks noChangeAspect="1"/>
          </p:cNvPicPr>
          <p:nvPr/>
        </p:nvPicPr>
        <p:blipFill>
          <a:blip r:embed="rId4"/>
          <a:srcRect l="22050" t="-3608" r="10660" b="-685"/>
          <a:stretch>
            <a:fillRect/>
          </a:stretch>
        </p:blipFill>
        <p:spPr>
          <a:xfrm>
            <a:off x="5637641" y="3019364"/>
            <a:ext cx="2903467" cy="784773"/>
          </a:xfrm>
          <a:prstGeom prst="rect">
            <a:avLst/>
          </a:prstGeom>
        </p:spPr>
      </p:pic>
      <p:cxnSp>
        <p:nvCxnSpPr>
          <p:cNvPr id="15" name="Straight Arrow Connector 14">
            <a:extLst>
              <a:ext uri="{FF2B5EF4-FFF2-40B4-BE49-F238E27FC236}">
                <a16:creationId xmlns:a16="http://schemas.microsoft.com/office/drawing/2014/main" id="{ECC41AA2-29DC-0320-9B56-5043F380F553}"/>
              </a:ext>
            </a:extLst>
          </p:cNvPr>
          <p:cNvCxnSpPr/>
          <p:nvPr/>
        </p:nvCxnSpPr>
        <p:spPr>
          <a:xfrm flipV="1">
            <a:off x="4754776" y="3414996"/>
            <a:ext cx="872696" cy="4247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0E68411F-77CB-3C1D-9B96-6A2F27089BD4}"/>
              </a:ext>
            </a:extLst>
          </p:cNvPr>
          <p:cNvSpPr txBox="1"/>
          <p:nvPr/>
        </p:nvSpPr>
        <p:spPr>
          <a:xfrm>
            <a:off x="4906662" y="3865501"/>
            <a:ext cx="11275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err="1">
                <a:solidFill>
                  <a:srgbClr val="5A5A6E"/>
                </a:solidFill>
                <a:latin typeface="Be Vietnam Pro"/>
                <a:ea typeface="Be Vietnam Pro"/>
                <a:cs typeface="Be Vietnam Pro"/>
                <a:sym typeface="Be Vietnam Pro"/>
              </a:rPr>
              <a:t>Giải</a:t>
            </a:r>
            <a:endParaRPr lang="en-US" err="1"/>
          </a:p>
        </p:txBody>
      </p:sp>
      <p:sp>
        <p:nvSpPr>
          <p:cNvPr id="18" name="TextBox 17">
            <a:extLst>
              <a:ext uri="{FF2B5EF4-FFF2-40B4-BE49-F238E27FC236}">
                <a16:creationId xmlns:a16="http://schemas.microsoft.com/office/drawing/2014/main" id="{62364F35-B6D7-43B1-EB95-82E33D4B3722}"/>
              </a:ext>
            </a:extLst>
          </p:cNvPr>
          <p:cNvSpPr txBox="1"/>
          <p:nvPr/>
        </p:nvSpPr>
        <p:spPr>
          <a:xfrm>
            <a:off x="5776783" y="2127833"/>
            <a:ext cx="310463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0" indent="0">
              <a:spcAft>
                <a:spcPts val="400"/>
              </a:spcAft>
              <a:buNone/>
            </a:pPr>
            <a:r>
              <a:rPr sz="1100" b="0" i="0">
                <a:solidFill>
                  <a:srgbClr val="1D1D1D"/>
                </a:solidFill>
                <a:latin typeface="Be Vietnam Pro"/>
                <a:ea typeface="Be Vietnam Pro"/>
                <a:cs typeface="Be Vietnam Pro"/>
                <a:sym typeface="Be Vietnam Pro"/>
              </a:rPr>
              <a:t>Liên tục lặp lại, giải bài toán mới → nghiệm tối ưu</a:t>
            </a:r>
          </a:p>
        </p:txBody>
      </p:sp>
      <p:cxnSp>
        <p:nvCxnSpPr>
          <p:cNvPr id="19" name="Straight Arrow Connector 18">
            <a:extLst>
              <a:ext uri="{FF2B5EF4-FFF2-40B4-BE49-F238E27FC236}">
                <a16:creationId xmlns:a16="http://schemas.microsoft.com/office/drawing/2014/main" id="{F0726B4C-BA1A-934B-D0D2-FBC857E6C106}"/>
              </a:ext>
            </a:extLst>
          </p:cNvPr>
          <p:cNvCxnSpPr/>
          <p:nvPr/>
        </p:nvCxnSpPr>
        <p:spPr>
          <a:xfrm flipH="1" flipV="1">
            <a:off x="4456155" y="2243677"/>
            <a:ext cx="1220229" cy="7877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07393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21523-DCA3-8D76-4C27-992E1C37FCBA}"/>
              </a:ext>
            </a:extLst>
          </p:cNvPr>
          <p:cNvSpPr>
            <a:spLocks noGrp="1"/>
          </p:cNvSpPr>
          <p:nvPr>
            <p:ph type="title"/>
          </p:nvPr>
        </p:nvSpPr>
        <p:spPr>
          <a:xfrm>
            <a:off x="722376" y="448056"/>
            <a:ext cx="7708392" cy="576072"/>
          </a:xfrm>
        </p:spPr>
        <p:txBody>
          <a:bodyPr/>
          <a:lstStyle/>
          <a:p>
            <a:pPr algn="l"/>
            <a:r>
              <a:rPr lang="en-US"/>
              <a:t>Scenario </a:t>
            </a:r>
            <a:r>
              <a:rPr lang="en-US" err="1"/>
              <a:t>và</a:t>
            </a:r>
            <a:r>
              <a:rPr lang="en-US"/>
              <a:t> </a:t>
            </a:r>
            <a:r>
              <a:rPr lang="en-US" err="1"/>
              <a:t>sinh</a:t>
            </a:r>
            <a:r>
              <a:rPr lang="en-US"/>
              <a:t> Test</a:t>
            </a:r>
          </a:p>
        </p:txBody>
      </p:sp>
      <p:sp>
        <p:nvSpPr>
          <p:cNvPr id="3" name="Subtitle 2">
            <a:extLst>
              <a:ext uri="{FF2B5EF4-FFF2-40B4-BE49-F238E27FC236}">
                <a16:creationId xmlns:a16="http://schemas.microsoft.com/office/drawing/2014/main" id="{5B6DA64A-682D-B79E-6A79-F771CDE8088E}"/>
              </a:ext>
            </a:extLst>
          </p:cNvPr>
          <p:cNvSpPr>
            <a:spLocks noGrp="1"/>
          </p:cNvSpPr>
          <p:nvPr>
            <p:ph type="subTitle" idx="1"/>
          </p:nvPr>
        </p:nvSpPr>
        <p:spPr>
          <a:xfrm>
            <a:off x="722376" y="1508760"/>
            <a:ext cx="5486400" cy="1463040"/>
          </a:xfrm>
        </p:spPr>
        <p:txBody>
          <a:bodyPr wrap="square" anchor="t">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Quy định topology gốc</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Quy định các tham số môi trường</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Quy định băng thông</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Mỗi scenario sinh 30 test trên 10 topology, khác biệt nằm ở tỉ lệ source có thể kết nối đến ground network</a:t>
            </a:r>
          </a:p>
        </p:txBody>
      </p:sp>
      <p:sp>
        <p:nvSpPr>
          <p:cNvPr id="4" name="Subtitle 3">
            <a:extLst>
              <a:ext uri="{FF2B5EF4-FFF2-40B4-BE49-F238E27FC236}">
                <a16:creationId xmlns:a16="http://schemas.microsoft.com/office/drawing/2014/main" id="{A0824CB0-2230-339A-C3D4-6A73CA5DE50D}"/>
              </a:ext>
            </a:extLst>
          </p:cNvPr>
          <p:cNvSpPr>
            <a:spLocks noGrp="1"/>
          </p:cNvSpPr>
          <p:nvPr>
            <p:ph type="subTitle" idx="2"/>
          </p:nvPr>
        </p:nvSpPr>
        <p:spPr>
          <a:xfrm>
            <a:off x="722376" y="3200400"/>
            <a:ext cx="5486400" cy="731520"/>
          </a:xfrm>
        </p:spPr>
        <p:txBody>
          <a:bodyPr wrap="square" anchor="t">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Sinh các source phát alert trong zone định trước</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Damage zone → sources → thông tin alert</a:t>
            </a:r>
          </a:p>
        </p:txBody>
      </p:sp>
      <p:sp>
        <p:nvSpPr>
          <p:cNvPr id="5" name="Subtitle 4">
            <a:extLst>
              <a:ext uri="{FF2B5EF4-FFF2-40B4-BE49-F238E27FC236}">
                <a16:creationId xmlns:a16="http://schemas.microsoft.com/office/drawing/2014/main" id="{46603F15-F839-833E-3539-93E84C9A6214}"/>
              </a:ext>
            </a:extLst>
          </p:cNvPr>
          <p:cNvSpPr>
            <a:spLocks noGrp="1"/>
          </p:cNvSpPr>
          <p:nvPr>
            <p:ph type="subTitle" idx="3"/>
          </p:nvPr>
        </p:nvSpPr>
        <p:spPr>
          <a:xfrm>
            <a:off x="722376" y="1097280"/>
            <a:ext cx="5486400" cy="402336"/>
          </a:xfrm>
        </p:spPr>
        <p:txBody>
          <a:bodyPr wrap="square" anchor="t">
            <a:noAutofit/>
          </a:bodyPr>
          <a:lstStyle/>
          <a:p>
            <a:pPr algn="l" marL="0" indent="0">
              <a:spcAft>
                <a:spcPts val="400"/>
              </a:spcAft>
              <a:buNone/>
            </a:pPr>
            <a:r>
              <a:rPr sz="1500" b="1" i="0">
                <a:solidFill>
                  <a:srgbClr val="0C0A9E"/>
                </a:solidFill>
                <a:latin typeface="IBM Plex Mono"/>
                <a:ea typeface="IBM Plex Mono"/>
                <a:cs typeface="IBM Plex Mono"/>
                <a:sym typeface="IBM Plex Mono"/>
              </a:rPr>
              <a:t>Scenario: kịch bản sinh test</a:t>
            </a:r>
          </a:p>
        </p:txBody>
      </p:sp>
      <p:pic>
        <p:nvPicPr>
          <p:cNvPr id="7" name="Picture 6" descr="A screen shot of a computer program&#10;&#10;AI-generated content may be incorrect.">
            <a:extLst>
              <a:ext uri="{FF2B5EF4-FFF2-40B4-BE49-F238E27FC236}">
                <a16:creationId xmlns:a16="http://schemas.microsoft.com/office/drawing/2014/main" id="{F4331DEA-0A57-2F9A-C09F-B3DE687B5E47}"/>
              </a:ext>
            </a:extLst>
          </p:cNvPr>
          <p:cNvPicPr>
            <a:picLocks noChangeAspect="1"/>
          </p:cNvPicPr>
          <p:nvPr/>
        </p:nvPicPr>
        <p:blipFill>
          <a:blip r:embed="rId2"/>
          <a:stretch>
            <a:fillRect/>
          </a:stretch>
        </p:blipFill>
        <p:spPr>
          <a:xfrm>
            <a:off x="6675120" y="1143000"/>
            <a:ext cx="1597166" cy="3566160"/>
          </a:xfrm>
          <a:prstGeom prst="rect">
            <a:avLst/>
          </a:prstGeom>
        </p:spPr>
      </p:pic>
    </p:spTree>
    <p:extLst>
      <p:ext uri="{BB962C8B-B14F-4D97-AF65-F5344CB8AC3E}">
        <p14:creationId xmlns:p14="http://schemas.microsoft.com/office/powerpoint/2010/main" val="1231167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15"/>
        <p:cNvGrpSpPr/>
        <p:nvPr/>
      </p:nvGrpSpPr>
      <p:grpSpPr>
        <a:xfrm>
          <a:off x="0" y="0"/>
          <a:ext cx="0" cy="0"/>
          <a:chOff x="0" y="0"/>
          <a:chExt cx="0" cy="0"/>
        </a:xfrm>
      </p:grpSpPr>
      <p:sp>
        <p:nvSpPr>
          <p:cNvPr id="1916" name="Google Shape;1916;p48"/>
          <p:cNvSpPr txBox="1">
            <a:spLocks noGrp="1"/>
          </p:cNvSpPr>
          <p:nvPr>
            <p:ph type="title"/>
          </p:nvPr>
        </p:nvSpPr>
        <p:spPr>
          <a:xfrm>
            <a:off x="2358450" y="664988"/>
            <a:ext cx="4696800" cy="76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30 × 2 scenarios</a:t>
            </a:r>
          </a:p>
        </p:txBody>
      </p:sp>
      <p:sp>
        <p:nvSpPr>
          <p:cNvPr id="1917" name="Google Shape;1917;p48"/>
          <p:cNvSpPr txBox="1">
            <a:spLocks noGrp="1"/>
          </p:cNvSpPr>
          <p:nvPr>
            <p:ph type="subTitle" idx="1"/>
          </p:nvPr>
        </p:nvSpPr>
        <p:spPr>
          <a:xfrm>
            <a:off x="2358450" y="1282313"/>
            <a:ext cx="4696800" cy="59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Wide: backhaul 1000 kbit/s, Narrow: 50 kbit/s, hai bộ dùng chung seed</a:t>
            </a:r>
          </a:p>
        </p:txBody>
      </p:sp>
      <p:sp>
        <p:nvSpPr>
          <p:cNvPr id="1918" name="Google Shape;1918;p48"/>
          <p:cNvSpPr txBox="1">
            <a:spLocks noGrp="1"/>
          </p:cNvSpPr>
          <p:nvPr>
            <p:ph type="title" idx="2"/>
          </p:nvPr>
        </p:nvSpPr>
        <p:spPr>
          <a:xfrm>
            <a:off x="2358450" y="2027244"/>
            <a:ext cx="4696800" cy="76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10 topologies</a:t>
            </a:r>
          </a:p>
        </p:txBody>
      </p:sp>
      <p:sp>
        <p:nvSpPr>
          <p:cNvPr id="1919" name="Google Shape;1919;p48"/>
          <p:cNvSpPr txBox="1">
            <a:spLocks noGrp="1"/>
          </p:cNvSpPr>
          <p:nvPr>
            <p:ph type="subTitle" idx="3"/>
          </p:nvPr>
        </p:nvSpPr>
        <p:spPr>
          <a:xfrm>
            <a:off x="2358450" y="2645558"/>
            <a:ext cx="4696800" cy="59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Từ Topology Zoo, kích thước alert theo SNDlib abilene, đánh giá trên 30 realization</a:t>
            </a:r>
          </a:p>
        </p:txBody>
      </p:sp>
      <p:sp>
        <p:nvSpPr>
          <p:cNvPr id="1920" name="Google Shape;1920;p48"/>
          <p:cNvSpPr txBox="1">
            <a:spLocks noGrp="1"/>
          </p:cNvSpPr>
          <p:nvPr>
            <p:ph type="title" idx="4"/>
          </p:nvPr>
        </p:nvSpPr>
        <p:spPr>
          <a:xfrm>
            <a:off x="2358450" y="3390475"/>
            <a:ext cx="4696800" cy="76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63 targets</a:t>
            </a:r>
          </a:p>
        </p:txBody>
      </p:sp>
      <p:sp>
        <p:nvSpPr>
          <p:cNvPr id="1921" name="Google Shape;1921;p48"/>
          <p:cNvSpPr txBox="1">
            <a:spLocks noGrp="1"/>
          </p:cNvSpPr>
          <p:nvPr>
            <p:ph type="subTitle" idx="5"/>
          </p:nvPr>
        </p:nvSpPr>
        <p:spPr>
          <a:xfrm>
            <a:off x="2358450" y="4009779"/>
            <a:ext cx="4696800" cy="59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Case study: source đặt tại các nhà bị hư hại trong ảnh RescueNet</a:t>
            </a:r>
          </a:p>
        </p:txBody>
      </p:sp>
      <p:grpSp>
        <p:nvGrpSpPr>
          <p:cNvPr id="1922" name="Google Shape;1922;p48"/>
          <p:cNvGrpSpPr/>
          <p:nvPr/>
        </p:nvGrpSpPr>
        <p:grpSpPr>
          <a:xfrm>
            <a:off x="7143188" y="-2762276"/>
            <a:ext cx="4028179" cy="6346320"/>
            <a:chOff x="6914588" y="-2762276"/>
            <a:chExt cx="4028179" cy="6346320"/>
          </a:xfrm>
        </p:grpSpPr>
        <p:sp>
          <p:nvSpPr>
            <p:cNvPr id="1923" name="Google Shape;1923;p48"/>
            <p:cNvSpPr/>
            <p:nvPr/>
          </p:nvSpPr>
          <p:spPr>
            <a:xfrm>
              <a:off x="6914588" y="-276227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8"/>
            <p:cNvSpPr/>
            <p:nvPr/>
          </p:nvSpPr>
          <p:spPr>
            <a:xfrm>
              <a:off x="7191305" y="-124437"/>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8"/>
            <p:cNvSpPr/>
            <p:nvPr/>
          </p:nvSpPr>
          <p:spPr>
            <a:xfrm>
              <a:off x="7867013" y="75068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8"/>
            <p:cNvSpPr/>
            <p:nvPr/>
          </p:nvSpPr>
          <p:spPr>
            <a:xfrm>
              <a:off x="7789451" y="-2619788"/>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7" name="Google Shape;1927;p48"/>
          <p:cNvGrpSpPr/>
          <p:nvPr/>
        </p:nvGrpSpPr>
        <p:grpSpPr>
          <a:xfrm rot="-5400000">
            <a:off x="8884618" y="480749"/>
            <a:ext cx="88142" cy="1137387"/>
            <a:chOff x="3054755" y="4367024"/>
            <a:chExt cx="88142" cy="1137387"/>
          </a:xfrm>
        </p:grpSpPr>
        <p:sp>
          <p:nvSpPr>
            <p:cNvPr id="1928" name="Google Shape;1928;p48"/>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8"/>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0" name="Google Shape;1930;p48"/>
          <p:cNvGrpSpPr/>
          <p:nvPr/>
        </p:nvGrpSpPr>
        <p:grpSpPr>
          <a:xfrm>
            <a:off x="-1402325" y="1246899"/>
            <a:ext cx="2992224" cy="3549051"/>
            <a:chOff x="-1325700" y="1246899"/>
            <a:chExt cx="2992224" cy="3549051"/>
          </a:xfrm>
        </p:grpSpPr>
        <p:pic>
          <p:nvPicPr>
            <p:cNvPr id="1931" name="Google Shape;1931;p48"/>
            <p:cNvPicPr preferRelativeResize="0"/>
            <p:nvPr/>
          </p:nvPicPr>
          <p:blipFill rotWithShape="1">
            <a:blip r:embed="rId3">
              <a:alphaModFix/>
            </a:blip>
            <a:srcRect l="16960" t="24719" r="7121" b="26177"/>
            <a:stretch/>
          </p:blipFill>
          <p:spPr>
            <a:xfrm rot="-5400000">
              <a:off x="-1604113" y="1525312"/>
              <a:ext cx="3549051" cy="2992224"/>
            </a:xfrm>
            <a:prstGeom prst="rect">
              <a:avLst/>
            </a:prstGeom>
            <a:noFill/>
            <a:ln>
              <a:noFill/>
            </a:ln>
          </p:spPr>
        </p:pic>
        <p:grpSp>
          <p:nvGrpSpPr>
            <p:cNvPr id="1932" name="Google Shape;1932;p48"/>
            <p:cNvGrpSpPr/>
            <p:nvPr/>
          </p:nvGrpSpPr>
          <p:grpSpPr>
            <a:xfrm>
              <a:off x="-369917" y="2704683"/>
              <a:ext cx="906953" cy="1517787"/>
              <a:chOff x="79748" y="2808602"/>
              <a:chExt cx="906953" cy="1517787"/>
            </a:xfrm>
          </p:grpSpPr>
          <p:sp>
            <p:nvSpPr>
              <p:cNvPr id="1933" name="Google Shape;1933;p48"/>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8"/>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8"/>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8"/>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37" name="Google Shape;1937;p48"/>
          <p:cNvGrpSpPr/>
          <p:nvPr/>
        </p:nvGrpSpPr>
        <p:grpSpPr>
          <a:xfrm rot="10800000">
            <a:off x="-181052" y="1778576"/>
            <a:ext cx="1421047" cy="2833357"/>
            <a:chOff x="334358" y="2186737"/>
            <a:chExt cx="1421047" cy="2833357"/>
          </a:xfrm>
        </p:grpSpPr>
        <p:sp>
          <p:nvSpPr>
            <p:cNvPr id="1938" name="Google Shape;1938;p48"/>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8"/>
            <p:cNvGrpSpPr/>
            <p:nvPr/>
          </p:nvGrpSpPr>
          <p:grpSpPr>
            <a:xfrm rot="5400000">
              <a:off x="1046250" y="3181856"/>
              <a:ext cx="161977" cy="161940"/>
              <a:chOff x="1101075" y="2142375"/>
              <a:chExt cx="439200" cy="439100"/>
            </a:xfrm>
          </p:grpSpPr>
          <p:sp>
            <p:nvSpPr>
              <p:cNvPr id="1940" name="Google Shape;1940;p4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2" name="Google Shape;1942;p48"/>
            <p:cNvGrpSpPr/>
            <p:nvPr/>
          </p:nvGrpSpPr>
          <p:grpSpPr>
            <a:xfrm rot="-5400000">
              <a:off x="628029" y="4564272"/>
              <a:ext cx="161977" cy="161940"/>
              <a:chOff x="1101075" y="2142375"/>
              <a:chExt cx="439200" cy="439100"/>
            </a:xfrm>
          </p:grpSpPr>
          <p:sp>
            <p:nvSpPr>
              <p:cNvPr id="1943" name="Google Shape;1943;p4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78078B-EFB3-ED00-4338-5EFCFEBE278D}"/>
              </a:ext>
            </a:extLst>
          </p:cNvPr>
          <p:cNvSpPr>
            <a:spLocks noGrp="1"/>
          </p:cNvSpPr>
          <p:nvPr>
            <p:ph type="title" idx="4"/>
          </p:nvPr>
        </p:nvSpPr>
        <p:spPr>
          <a:xfrm>
            <a:off x="722376" y="448056"/>
            <a:ext cx="7708392" cy="576072"/>
          </a:xfrm>
        </p:spPr>
        <p:txBody>
          <a:bodyPr/>
          <a:lstStyle/>
          <a:p>
            <a:pPr algn="l"/>
            <a:r>
              <a:rPr lang="en-US" sz="3000" b="1">
                <a:solidFill>
                  <a:srgbClr val="0C0A9E"/>
                </a:solidFill>
                <a:latin typeface="IBM Plex Mono"/>
                <a:ea typeface="IBM Plex Mono"/>
                <a:cs typeface="IBM Plex Mono"/>
                <a:sym typeface="IBM Plex Mono"/>
              </a:rPr>
              <a:t>Tham </a:t>
            </a:r>
            <a:r>
              <a:rPr lang="en-US" err="1" sz="3000" b="1">
                <a:solidFill>
                  <a:srgbClr val="0C0A9E"/>
                </a:solidFill>
                <a:latin typeface="IBM Plex Mono"/>
                <a:ea typeface="IBM Plex Mono"/>
                <a:cs typeface="IBM Plex Mono"/>
                <a:sym typeface="IBM Plex Mono"/>
              </a:rPr>
              <a:t>số</a:t>
            </a:r>
            <a:r>
              <a:rPr lang="en-US" sz="3000" b="1">
                <a:solidFill>
                  <a:srgbClr val="0C0A9E"/>
                </a:solidFill>
                <a:latin typeface="IBM Plex Mono"/>
                <a:ea typeface="IBM Plex Mono"/>
                <a:cs typeface="IBM Plex Mono"/>
                <a:sym typeface="IBM Plex Mono"/>
              </a:rPr>
              <a:t> </a:t>
            </a:r>
            <a:r>
              <a:rPr lang="en-US" err="1" sz="3000" b="1">
                <a:solidFill>
                  <a:srgbClr val="0C0A9E"/>
                </a:solidFill>
                <a:latin typeface="IBM Plex Mono"/>
                <a:ea typeface="IBM Plex Mono"/>
                <a:cs typeface="IBM Plex Mono"/>
                <a:sym typeface="IBM Plex Mono"/>
              </a:rPr>
              <a:t>thực</a:t>
            </a:r>
            <a:r>
              <a:rPr lang="en-US" sz="3000" b="1">
                <a:solidFill>
                  <a:srgbClr val="0C0A9E"/>
                </a:solidFill>
                <a:latin typeface="IBM Plex Mono"/>
                <a:ea typeface="IBM Plex Mono"/>
                <a:cs typeface="IBM Plex Mono"/>
                <a:sym typeface="IBM Plex Mono"/>
              </a:rPr>
              <a:t> </a:t>
            </a:r>
            <a:r>
              <a:rPr lang="en-US" err="1" sz="3000" b="1">
                <a:solidFill>
                  <a:srgbClr val="0C0A9E"/>
                </a:solidFill>
                <a:latin typeface="IBM Plex Mono"/>
                <a:ea typeface="IBM Plex Mono"/>
                <a:cs typeface="IBM Plex Mono"/>
                <a:sym typeface="IBM Plex Mono"/>
              </a:rPr>
              <a:t>nghiệm</a:t>
            </a:r>
          </a:p>
        </p:txBody>
      </p:sp>
      <p:pic>
        <p:nvPicPr>
          <p:cNvPr id="8" name="Picture 7">
            <a:extLst>
              <a:ext uri="{FF2B5EF4-FFF2-40B4-BE49-F238E27FC236}">
                <a16:creationId xmlns:a16="http://schemas.microsoft.com/office/drawing/2014/main" id="{F6800478-EF1C-0A81-0F5A-A659CF218E0F}"/>
              </a:ext>
            </a:extLst>
          </p:cNvPr>
          <p:cNvPicPr>
            <a:picLocks noChangeAspect="1"/>
          </p:cNvPicPr>
          <p:nvPr/>
        </p:nvPicPr>
        <p:blipFill>
          <a:blip r:embed="rId2"/>
          <a:stretch>
            <a:fillRect/>
          </a:stretch>
        </p:blipFill>
        <p:spPr>
          <a:xfrm>
            <a:off x="2042267" y="1143000"/>
            <a:ext cx="5059465" cy="3703320"/>
          </a:xfrm>
          <a:prstGeom prst="rect">
            <a:avLst/>
          </a:prstGeom>
        </p:spPr>
      </p:pic>
    </p:spTree>
    <p:extLst>
      <p:ext uri="{BB962C8B-B14F-4D97-AF65-F5344CB8AC3E}">
        <p14:creationId xmlns:p14="http://schemas.microsoft.com/office/powerpoint/2010/main" val="2775215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00"/>
        <p:cNvGrpSpPr/>
        <p:nvPr/>
      </p:nvGrpSpPr>
      <p:grpSpPr>
        <a:xfrm>
          <a:off x="0" y="0"/>
          <a:ext cx="0" cy="0"/>
          <a:chOff x="0" y="0"/>
          <a:chExt cx="0" cy="0"/>
        </a:xfrm>
      </p:grpSpPr>
      <p:sp>
        <p:nvSpPr>
          <p:cNvPr id="2301" name="Google Shape;2301;p61"/>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Timely-delivery ratio</a:t>
            </a:r>
          </a:p>
        </p:txBody>
      </p:sp>
      <p:sp>
        <p:nvSpPr>
          <p:cNvPr id="2303" name="Google Shape;2303;p61"/>
          <p:cNvSpPr txBox="1"/>
          <p:nvPr/>
        </p:nvSpPr>
        <p:spPr>
          <a:xfrm>
            <a:off x="5973520" y="1213988"/>
            <a:ext cx="2280000" cy="405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SBS: 0.559</a:t>
            </a:r>
          </a:p>
        </p:txBody>
      </p:sp>
      <p:sp>
        <p:nvSpPr>
          <p:cNvPr id="2304" name="Google Shape;2304;p61"/>
          <p:cNvSpPr txBox="1"/>
          <p:nvPr/>
        </p:nvSpPr>
        <p:spPr>
          <a:xfrm>
            <a:off x="5973513" y="1543438"/>
            <a:ext cx="2280000" cy="60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Cao nhất ở Wide. FixedTour 0.494, NoUAV 0.413</a:t>
            </a:r>
          </a:p>
        </p:txBody>
      </p:sp>
      <p:grpSp>
        <p:nvGrpSpPr>
          <p:cNvPr id="2305" name="Google Shape;2305;p61"/>
          <p:cNvGrpSpPr/>
          <p:nvPr/>
        </p:nvGrpSpPr>
        <p:grpSpPr>
          <a:xfrm>
            <a:off x="5568459" y="1213992"/>
            <a:ext cx="285579" cy="285597"/>
            <a:chOff x="5204821" y="1321454"/>
            <a:chExt cx="285579" cy="285597"/>
          </a:xfrm>
        </p:grpSpPr>
        <p:sp>
          <p:nvSpPr>
            <p:cNvPr id="2306" name="Google Shape;2306;p61"/>
            <p:cNvSpPr/>
            <p:nvPr/>
          </p:nvSpPr>
          <p:spPr>
            <a:xfrm>
              <a:off x="5204821" y="1321454"/>
              <a:ext cx="285579" cy="285597"/>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61"/>
            <p:cNvSpPr/>
            <p:nvPr/>
          </p:nvSpPr>
          <p:spPr>
            <a:xfrm>
              <a:off x="5261536" y="1378160"/>
              <a:ext cx="172110" cy="172121"/>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8" name="Google Shape;2308;p61"/>
          <p:cNvSpPr txBox="1"/>
          <p:nvPr/>
        </p:nvSpPr>
        <p:spPr>
          <a:xfrm>
            <a:off x="5973520" y="2441763"/>
            <a:ext cx="2280000" cy="405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Backhaul hẹp</a:t>
            </a:r>
          </a:p>
        </p:txBody>
      </p:sp>
      <p:sp>
        <p:nvSpPr>
          <p:cNvPr id="2309" name="Google Shape;2309;p61"/>
          <p:cNvSpPr txBox="1"/>
          <p:nvPr/>
        </p:nvSpPr>
        <p:spPr>
          <a:xfrm>
            <a:off x="5973513" y="2771213"/>
            <a:ext cx="2280000" cy="60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Hơn FixedTour +0.064 ở Wide, +0.087 ở Narrow</a:t>
            </a:r>
          </a:p>
        </p:txBody>
      </p:sp>
      <p:grpSp>
        <p:nvGrpSpPr>
          <p:cNvPr id="2310" name="Google Shape;2310;p61"/>
          <p:cNvGrpSpPr/>
          <p:nvPr/>
        </p:nvGrpSpPr>
        <p:grpSpPr>
          <a:xfrm>
            <a:off x="5568459" y="2441767"/>
            <a:ext cx="285579" cy="285597"/>
            <a:chOff x="5204821" y="2495492"/>
            <a:chExt cx="285579" cy="285597"/>
          </a:xfrm>
        </p:grpSpPr>
        <p:sp>
          <p:nvSpPr>
            <p:cNvPr id="2311" name="Google Shape;2311;p61"/>
            <p:cNvSpPr/>
            <p:nvPr/>
          </p:nvSpPr>
          <p:spPr>
            <a:xfrm>
              <a:off x="5204821" y="2495492"/>
              <a:ext cx="285579" cy="285597"/>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61"/>
            <p:cNvSpPr/>
            <p:nvPr/>
          </p:nvSpPr>
          <p:spPr>
            <a:xfrm>
              <a:off x="5261536" y="2552197"/>
              <a:ext cx="172110" cy="172121"/>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3" name="Google Shape;2313;p61"/>
          <p:cNvSpPr txBox="1"/>
          <p:nvPr/>
        </p:nvSpPr>
        <p:spPr>
          <a:xfrm>
            <a:off x="5973520" y="3669513"/>
            <a:ext cx="2280000" cy="405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vi-VN" sz="1300" b="1">
                <a:solidFill>
                  <a:schemeClr val="dk1"/>
                </a:solidFill>
                <a:latin typeface="IBM Plex Mono"/>
                <a:ea typeface="IBM Plex Mono"/>
                <a:cs typeface="IBM Plex Mono"/>
                <a:sym typeface="IBM Plex Mono"/>
              </a:rPr>
              <a:t>SBS-Lex: 0.369</a:t>
            </a:r>
          </a:p>
        </p:txBody>
      </p:sp>
      <p:sp>
        <p:nvSpPr>
          <p:cNvPr id="2314" name="Google Shape;2314;p61"/>
          <p:cNvSpPr txBox="1"/>
          <p:nvPr/>
        </p:nvSpPr>
        <p:spPr>
          <a:xfrm>
            <a:off x="5973513" y="3998963"/>
            <a:ext cx="2280000" cy="60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a:solidFill>
                  <a:schemeClr val="dk1"/>
                </a:solidFill>
                <a:latin typeface="Be Vietnam Pro"/>
                <a:ea typeface="Be Vietnam Pro"/>
                <a:cs typeface="Be Vietnam Pro"/>
                <a:sym typeface="Be Vietnam Pro"/>
              </a:rPr>
              <a:t>Dùng objective max-min: thua cả FixedTour</a:t>
            </a:r>
          </a:p>
        </p:txBody>
      </p:sp>
      <p:grpSp>
        <p:nvGrpSpPr>
          <p:cNvPr id="2315" name="Google Shape;2315;p61"/>
          <p:cNvGrpSpPr/>
          <p:nvPr/>
        </p:nvGrpSpPr>
        <p:grpSpPr>
          <a:xfrm>
            <a:off x="5568459" y="3669517"/>
            <a:ext cx="285579" cy="285597"/>
            <a:chOff x="5204821" y="3669529"/>
            <a:chExt cx="285579" cy="285597"/>
          </a:xfrm>
        </p:grpSpPr>
        <p:sp>
          <p:nvSpPr>
            <p:cNvPr id="2316" name="Google Shape;2316;p61"/>
            <p:cNvSpPr/>
            <p:nvPr/>
          </p:nvSpPr>
          <p:spPr>
            <a:xfrm>
              <a:off x="5204821" y="3669529"/>
              <a:ext cx="285579" cy="285597"/>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61"/>
            <p:cNvSpPr/>
            <p:nvPr/>
          </p:nvSpPr>
          <p:spPr>
            <a:xfrm>
              <a:off x="5261536" y="3726235"/>
              <a:ext cx="172110" cy="172121"/>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318" name="Chart 2317"/>
          <p:cNvGraphicFramePr>
            <a:graphicFrameLocks noGrp="1"/>
          </p:cNvGraphicFramePr>
          <p:nvPr/>
        </p:nvGraphicFramePr>
        <p:xfrm>
          <a:off x="640080" y="1143000"/>
          <a:ext cx="4754880" cy="35204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p47"/>
          <p:cNvSpPr txBox="1">
            <a:spLocks noGrp="1"/>
          </p:cNvSpPr>
          <p:nvPr>
            <p:ph type="title"/>
          </p:nvPr>
        </p:nvSpPr>
        <p:spPr>
          <a:xfrm>
            <a:off x="713225" y="1766475"/>
            <a:ext cx="6576000" cy="103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+0.064</a:t>
            </a:r>
            <a:endParaRPr lang="en-US"/>
          </a:p>
        </p:txBody>
      </p:sp>
      <p:sp>
        <p:nvSpPr>
          <p:cNvPr id="1857" name="Google Shape;1857;p47"/>
          <p:cNvSpPr txBox="1">
            <a:spLocks noGrp="1"/>
          </p:cNvSpPr>
          <p:nvPr>
            <p:ph type="subTitle" idx="1"/>
          </p:nvPr>
        </p:nvSpPr>
        <p:spPr>
          <a:xfrm>
            <a:off x="713225" y="3118375"/>
            <a:ext cx="6576000" cy="7315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SBS hơn FixedTour trên cả 10/10 topologies và +0.087 khi backhaul hẹp</a:t>
            </a:r>
          </a:p>
          <a:p>
            <a:pPr marL="0" indent="0"/>
            <a:r>
              <a:rPr lang="vi-VN"/>
              <a:t>SBS-R chỉ thể hiện tác dụng khối repair khi backhaul capacity của ground network thấp</a:t>
            </a:r>
          </a:p>
        </p:txBody>
      </p:sp>
      <p:grpSp>
        <p:nvGrpSpPr>
          <p:cNvPr id="1858" name="Google Shape;1858;p47"/>
          <p:cNvGrpSpPr/>
          <p:nvPr/>
        </p:nvGrpSpPr>
        <p:grpSpPr>
          <a:xfrm>
            <a:off x="6527600" y="-628478"/>
            <a:ext cx="5128253" cy="6694378"/>
            <a:chOff x="6222800" y="-628478"/>
            <a:chExt cx="5128253" cy="6694378"/>
          </a:xfrm>
        </p:grpSpPr>
        <p:pic>
          <p:nvPicPr>
            <p:cNvPr id="1859" name="Google Shape;1859;p47"/>
            <p:cNvPicPr preferRelativeResize="0"/>
            <p:nvPr/>
          </p:nvPicPr>
          <p:blipFill rotWithShape="1">
            <a:blip r:embed="rId3">
              <a:alphaModFix/>
            </a:blip>
            <a:srcRect t="17657" b="17664"/>
            <a:stretch/>
          </p:blipFill>
          <p:spPr>
            <a:xfrm>
              <a:off x="7517168" y="-628478"/>
              <a:ext cx="3082266" cy="2352450"/>
            </a:xfrm>
            <a:prstGeom prst="rect">
              <a:avLst/>
            </a:prstGeom>
            <a:noFill/>
            <a:ln>
              <a:noFill/>
            </a:ln>
          </p:spPr>
        </p:pic>
        <p:pic>
          <p:nvPicPr>
            <p:cNvPr id="1860" name="Google Shape;1860;p47"/>
            <p:cNvPicPr preferRelativeResize="0"/>
            <p:nvPr/>
          </p:nvPicPr>
          <p:blipFill rotWithShape="1">
            <a:blip r:embed="rId4">
              <a:alphaModFix/>
            </a:blip>
            <a:srcRect l="16960" t="24719" r="7121" b="26177"/>
            <a:stretch/>
          </p:blipFill>
          <p:spPr>
            <a:xfrm>
              <a:off x="6714900" y="3028141"/>
              <a:ext cx="3980176" cy="3037760"/>
            </a:xfrm>
            <a:prstGeom prst="rect">
              <a:avLst/>
            </a:prstGeom>
            <a:noFill/>
            <a:ln>
              <a:noFill/>
            </a:ln>
          </p:spPr>
        </p:pic>
        <p:sp>
          <p:nvSpPr>
            <p:cNvPr id="1861" name="Google Shape;1861;p47"/>
            <p:cNvSpPr/>
            <p:nvPr/>
          </p:nvSpPr>
          <p:spPr>
            <a:xfrm rot="10800000">
              <a:off x="7698559" y="2460647"/>
              <a:ext cx="1239218" cy="2912943"/>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7"/>
            <p:cNvSpPr/>
            <p:nvPr/>
          </p:nvSpPr>
          <p:spPr>
            <a:xfrm rot="10800000">
              <a:off x="7899688" y="2461423"/>
              <a:ext cx="1239218" cy="2912943"/>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7"/>
            <p:cNvSpPr/>
            <p:nvPr/>
          </p:nvSpPr>
          <p:spPr>
            <a:xfrm>
              <a:off x="6222800" y="-628462"/>
              <a:ext cx="3980181" cy="6461569"/>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4" name="Google Shape;1864;p47"/>
            <p:cNvGrpSpPr/>
            <p:nvPr/>
          </p:nvGrpSpPr>
          <p:grpSpPr>
            <a:xfrm>
              <a:off x="6794737" y="4179460"/>
              <a:ext cx="734664" cy="735137"/>
              <a:chOff x="959750" y="3039275"/>
              <a:chExt cx="582050" cy="582425"/>
            </a:xfrm>
          </p:grpSpPr>
          <p:sp>
            <p:nvSpPr>
              <p:cNvPr id="1865" name="Google Shape;1865;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2" name="Google Shape;1872;p47"/>
            <p:cNvGrpSpPr/>
            <p:nvPr/>
          </p:nvGrpSpPr>
          <p:grpSpPr>
            <a:xfrm>
              <a:off x="8128313" y="1310040"/>
              <a:ext cx="169158" cy="169158"/>
              <a:chOff x="8356813" y="1074288"/>
              <a:chExt cx="351900" cy="351900"/>
            </a:xfrm>
          </p:grpSpPr>
          <p:sp>
            <p:nvSpPr>
              <p:cNvPr id="1873" name="Google Shape;1873;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5" name="Google Shape;1875;p47"/>
            <p:cNvGrpSpPr/>
            <p:nvPr/>
          </p:nvGrpSpPr>
          <p:grpSpPr>
            <a:xfrm>
              <a:off x="7360240" y="2075006"/>
              <a:ext cx="169158" cy="169158"/>
              <a:chOff x="8356813" y="1074288"/>
              <a:chExt cx="351900" cy="351900"/>
            </a:xfrm>
          </p:grpSpPr>
          <p:sp>
            <p:nvSpPr>
              <p:cNvPr id="1876" name="Google Shape;1876;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8" name="Google Shape;1878;p47"/>
            <p:cNvGrpSpPr/>
            <p:nvPr/>
          </p:nvGrpSpPr>
          <p:grpSpPr>
            <a:xfrm>
              <a:off x="8233587" y="3028150"/>
              <a:ext cx="169158" cy="169158"/>
              <a:chOff x="8356813" y="1074288"/>
              <a:chExt cx="351900" cy="351900"/>
            </a:xfrm>
          </p:grpSpPr>
          <p:sp>
            <p:nvSpPr>
              <p:cNvPr id="1879" name="Google Shape;1879;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1" name="Google Shape;1881;p47"/>
            <p:cNvSpPr/>
            <p:nvPr/>
          </p:nvSpPr>
          <p:spPr>
            <a:xfrm>
              <a:off x="8754821" y="2763320"/>
              <a:ext cx="606949" cy="600556"/>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2" name="Google Shape;1882;p47"/>
            <p:cNvGrpSpPr/>
            <p:nvPr/>
          </p:nvGrpSpPr>
          <p:grpSpPr>
            <a:xfrm>
              <a:off x="8782808" y="2723340"/>
              <a:ext cx="883449" cy="2083923"/>
              <a:chOff x="8337812" y="3492483"/>
              <a:chExt cx="699928" cy="1651024"/>
            </a:xfrm>
          </p:grpSpPr>
          <p:sp>
            <p:nvSpPr>
              <p:cNvPr id="1883" name="Google Shape;1883;p47"/>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7"/>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7"/>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6" name="Google Shape;1886;p47"/>
            <p:cNvGrpSpPr/>
            <p:nvPr/>
          </p:nvGrpSpPr>
          <p:grpSpPr>
            <a:xfrm>
              <a:off x="8215673" y="4178313"/>
              <a:ext cx="1141869" cy="916509"/>
              <a:chOff x="7945225" y="4302000"/>
              <a:chExt cx="904666" cy="726121"/>
            </a:xfrm>
          </p:grpSpPr>
          <p:sp>
            <p:nvSpPr>
              <p:cNvPr id="1887" name="Google Shape;1887;p4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0" name="Google Shape;1890;p47"/>
            <p:cNvSpPr/>
            <p:nvPr/>
          </p:nvSpPr>
          <p:spPr>
            <a:xfrm rot="5400000">
              <a:off x="8491754" y="371428"/>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1" name="Google Shape;1891;p47"/>
            <p:cNvGrpSpPr/>
            <p:nvPr/>
          </p:nvGrpSpPr>
          <p:grpSpPr>
            <a:xfrm>
              <a:off x="7774724" y="3187835"/>
              <a:ext cx="734664" cy="735137"/>
              <a:chOff x="959750" y="3039275"/>
              <a:chExt cx="582050" cy="582425"/>
            </a:xfrm>
          </p:grpSpPr>
          <p:sp>
            <p:nvSpPr>
              <p:cNvPr id="1892" name="Google Shape;1892;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9" name="Google Shape;1899;p47"/>
            <p:cNvGrpSpPr/>
            <p:nvPr/>
          </p:nvGrpSpPr>
          <p:grpSpPr>
            <a:xfrm>
              <a:off x="7625399" y="3691035"/>
              <a:ext cx="734664" cy="735137"/>
              <a:chOff x="959750" y="3039275"/>
              <a:chExt cx="582050" cy="582425"/>
            </a:xfrm>
          </p:grpSpPr>
          <p:sp>
            <p:nvSpPr>
              <p:cNvPr id="1900" name="Google Shape;1900;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7" name="Google Shape;1907;p47"/>
            <p:cNvSpPr/>
            <p:nvPr/>
          </p:nvSpPr>
          <p:spPr>
            <a:xfrm rot="5400000">
              <a:off x="8666054" y="247478"/>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8" name="Google Shape;1908;p47"/>
          <p:cNvGrpSpPr/>
          <p:nvPr/>
        </p:nvGrpSpPr>
        <p:grpSpPr>
          <a:xfrm>
            <a:off x="741975" y="2893476"/>
            <a:ext cx="5132617" cy="134100"/>
            <a:chOff x="741975" y="2893476"/>
            <a:chExt cx="5132617" cy="134100"/>
          </a:xfrm>
        </p:grpSpPr>
        <p:sp>
          <p:nvSpPr>
            <p:cNvPr id="1909" name="Google Shape;1909;p47"/>
            <p:cNvSpPr/>
            <p:nvPr/>
          </p:nvSpPr>
          <p:spPr>
            <a:xfrm>
              <a:off x="5740492" y="2893476"/>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10" name="Google Shape;1910;p47"/>
            <p:cNvCxnSpPr/>
            <p:nvPr/>
          </p:nvCxnSpPr>
          <p:spPr>
            <a:xfrm>
              <a:off x="741975" y="2960525"/>
              <a:ext cx="5036400" cy="0"/>
            </a:xfrm>
            <a:prstGeom prst="straightConnector1">
              <a:avLst/>
            </a:prstGeom>
            <a:noFill/>
            <a:ln w="9525" cap="flat" cmpd="sng">
              <a:solidFill>
                <a:schemeClr val="dk2"/>
              </a:solidFill>
              <a:prstDash val="solid"/>
              <a:round/>
              <a:headEnd type="none" w="med" len="med"/>
              <a:tailEnd type="none" w="med" len="med"/>
            </a:ln>
          </p:spPr>
        </p:cxnSp>
        <p:sp>
          <p:nvSpPr>
            <p:cNvPr id="1911" name="Google Shape;1911;p47"/>
            <p:cNvSpPr/>
            <p:nvPr/>
          </p:nvSpPr>
          <p:spPr>
            <a:xfrm>
              <a:off x="5770604" y="2923618"/>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9069C613-3881-232A-B1BC-AD037B086E2B}"/>
              </a:ext>
            </a:extLst>
          </p:cNvPr>
          <p:cNvPicPr>
            <a:picLocks noChangeAspect="1"/>
          </p:cNvPicPr>
          <p:nvPr/>
        </p:nvPicPr>
        <p:blipFill>
          <a:blip r:embed="rId5"/>
          <a:stretch>
            <a:fillRect/>
          </a:stretch>
        </p:blipFill>
        <p:spPr>
          <a:xfrm>
            <a:off x="3977639" y="457200"/>
            <a:ext cx="4754880" cy="221894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21"/>
        <p:cNvGrpSpPr/>
        <p:nvPr/>
      </p:nvGrpSpPr>
      <p:grpSpPr>
        <a:xfrm>
          <a:off x="0" y="0"/>
          <a:ext cx="0" cy="0"/>
          <a:chOff x="0" y="0"/>
          <a:chExt cx="0" cy="0"/>
        </a:xfrm>
      </p:grpSpPr>
      <p:sp>
        <p:nvSpPr>
          <p:cNvPr id="2122" name="Google Shape;2122;p54"/>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Ablation: gain đến từ đâu?</a:t>
            </a:r>
          </a:p>
        </p:txBody>
      </p:sp>
      <p:sp>
        <p:nvSpPr>
          <p:cNvPr id="2123" name="Google Shape;2123;p54"/>
          <p:cNvSpPr txBox="1"/>
          <p:nvPr/>
        </p:nvSpPr>
        <p:spPr>
          <a:xfrm>
            <a:off x="4020025" y="1365213"/>
            <a:ext cx="4341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b="0">
                <a:solidFill>
                  <a:schemeClr val="dk1"/>
                </a:solidFill>
                <a:latin typeface="Be Vietnam Pro"/>
                <a:ea typeface="Be Vietnam Pro"/>
                <a:cs typeface="Be Vietnam Pro"/>
                <a:sym typeface="Be Vietnam Pro"/>
              </a:rPr>
              <a:t>Bỏ path block: </a:t>
            </a:r>
            <a:r>
              <a:rPr lang="vi-VN" b="1">
                <a:solidFill>
                  <a:schemeClr val="dk1"/>
                </a:solidFill>
                <a:latin typeface="Be Vietnam Pro"/>
                <a:ea typeface="Be Vietnam Pro"/>
                <a:cs typeface="Be Vietnam Pro"/>
                <a:sym typeface="Be Vietnam Pro"/>
              </a:rPr>
              <a:t>−0.045</a:t>
            </a:r>
            <a:r>
              <a:rPr lang="vi-VN" b="0">
                <a:solidFill>
                  <a:schemeClr val="dk1"/>
                </a:solidFill>
                <a:latin typeface="Be Vietnam Pro"/>
                <a:ea typeface="Be Vietnam Pro"/>
                <a:cs typeface="Be Vietnam Pro"/>
                <a:sym typeface="Be Vietnam Pro"/>
              </a:rPr>
              <a:t> (Wide), </a:t>
            </a:r>
            <a:r>
              <a:rPr lang="vi-VN" b="1">
                <a:solidFill>
                  <a:schemeClr val="dk1"/>
                </a:solidFill>
                <a:latin typeface="Be Vietnam Pro"/>
                <a:ea typeface="Be Vietnam Pro"/>
                <a:cs typeface="Be Vietnam Pro"/>
                <a:sym typeface="Be Vietnam Pro"/>
              </a:rPr>
              <a:t>−0.068</a:t>
            </a:r>
            <a:r>
              <a:rPr lang="vi-VN" b="0">
                <a:solidFill>
                  <a:schemeClr val="dk1"/>
                </a:solidFill>
                <a:latin typeface="Be Vietnam Pro"/>
                <a:ea typeface="Be Vietnam Pro"/>
                <a:cs typeface="Be Vietnam Pro"/>
                <a:sym typeface="Be Vietnam Pro"/>
              </a:rPr>
              <a:t> (Narrow)</a:t>
            </a:r>
          </a:p>
        </p:txBody>
      </p:sp>
      <p:sp>
        <p:nvSpPr>
          <p:cNvPr id="2124" name="Google Shape;2124;p54"/>
          <p:cNvSpPr txBox="1"/>
          <p:nvPr/>
        </p:nvSpPr>
        <p:spPr>
          <a:xfrm>
            <a:off x="2183175" y="1363563"/>
            <a:ext cx="1313400" cy="576000"/>
          </a:xfrm>
          <a:prstGeom prst="rect">
            <a:avLst/>
          </a:prstGeom>
          <a:noFill/>
          <a:ln>
            <a:noFill/>
          </a:ln>
        </p:spPr>
        <p:txBody>
          <a:bodyPr spcFirstLastPara="1" wrap="square" lIns="54864" tIns="91425" rIns="0" bIns="91425" anchor="ctr" anchorCtr="0">
            <a:noAutofit/>
          </a:bodyPr>
          <a:lstStyle/>
          <a:p>
            <a:pPr marL="0" lvl="0" indent="0" algn="l" rtl="0">
              <a:lnSpc>
                <a:spcPct val="115000"/>
              </a:lnSpc>
              <a:spcBef>
                <a:spcPts val="0"/>
              </a:spcBef>
              <a:spcAft>
                <a:spcPts val="0"/>
              </a:spcAft>
              <a:buNone/>
            </a:pPr>
            <a:r>
              <a:rPr lang="vi-VN" sz="1100" b="1">
                <a:solidFill>
                  <a:schemeClr val="dk1"/>
                </a:solidFill>
                <a:latin typeface="IBM Plex Mono"/>
                <a:ea typeface="IBM Plex Mono"/>
                <a:cs typeface="IBM Plex Mono"/>
                <a:sym typeface="IBM Plex Mono"/>
              </a:rPr>
              <a:t>Path</a:t>
            </a:r>
          </a:p>
        </p:txBody>
      </p:sp>
      <p:sp>
        <p:nvSpPr>
          <p:cNvPr id="2125" name="Google Shape;2125;p54"/>
          <p:cNvSpPr txBox="1"/>
          <p:nvPr/>
        </p:nvSpPr>
        <p:spPr>
          <a:xfrm>
            <a:off x="782975" y="1363563"/>
            <a:ext cx="722400" cy="576000"/>
          </a:xfrm>
          <a:prstGeom prst="rect">
            <a:avLst/>
          </a:prstGeom>
          <a:noFill/>
          <a:ln>
            <a:noFill/>
          </a:ln>
        </p:spPr>
        <p:txBody>
          <a:bodyPr spcFirstLastPara="1" wrap="non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Be Vietnam Pro"/>
                <a:ea typeface="Be Vietnam Pro"/>
                <a:cs typeface="Be Vietnam Pro"/>
                <a:sym typeface="Be Vietnam Pro"/>
              </a:rPr>
              <a:t>01</a:t>
            </a:r>
            <a:endParaRPr sz="3000" b="1">
              <a:solidFill>
                <a:schemeClr val="dk2"/>
              </a:solidFill>
              <a:latin typeface="Be Vietnam Pro"/>
              <a:ea typeface="Be Vietnam Pro"/>
              <a:cs typeface="Be Vietnam Pro"/>
              <a:sym typeface="Be Vietnam Pro"/>
            </a:endParaRPr>
          </a:p>
        </p:txBody>
      </p:sp>
      <p:sp>
        <p:nvSpPr>
          <p:cNvPr id="2126" name="Google Shape;2126;p54"/>
          <p:cNvSpPr txBox="1"/>
          <p:nvPr/>
        </p:nvSpPr>
        <p:spPr>
          <a:xfrm>
            <a:off x="4020025" y="2264100"/>
            <a:ext cx="4341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b="0">
                <a:solidFill>
                  <a:schemeClr val="dk1"/>
                </a:solidFill>
                <a:latin typeface="Be Vietnam Pro"/>
                <a:ea typeface="Be Vietnam Pro"/>
                <a:cs typeface="Be Vietnam Pro"/>
                <a:sym typeface="Be Vietnam Pro"/>
              </a:rPr>
              <a:t>Bỏ trajectory block: </a:t>
            </a:r>
            <a:r>
              <a:rPr lang="vi-VN" b="1">
                <a:solidFill>
                  <a:schemeClr val="dk1"/>
                </a:solidFill>
                <a:latin typeface="Be Vietnam Pro"/>
                <a:ea typeface="Be Vietnam Pro"/>
                <a:cs typeface="Be Vietnam Pro"/>
                <a:sym typeface="Be Vietnam Pro"/>
              </a:rPr>
              <a:t>−0.041</a:t>
            </a:r>
            <a:r>
              <a:rPr lang="vi-VN" b="0">
                <a:solidFill>
                  <a:schemeClr val="dk1"/>
                </a:solidFill>
                <a:latin typeface="Be Vietnam Pro"/>
                <a:ea typeface="Be Vietnam Pro"/>
                <a:cs typeface="Be Vietnam Pro"/>
                <a:sym typeface="Be Vietnam Pro"/>
              </a:rPr>
              <a:t> (Wide), −0.032 (Narrow)</a:t>
            </a:r>
          </a:p>
        </p:txBody>
      </p:sp>
      <p:sp>
        <p:nvSpPr>
          <p:cNvPr id="2127" name="Google Shape;2127;p54"/>
          <p:cNvSpPr txBox="1"/>
          <p:nvPr/>
        </p:nvSpPr>
        <p:spPr>
          <a:xfrm>
            <a:off x="2183175" y="2262450"/>
            <a:ext cx="1007100" cy="576000"/>
          </a:xfrm>
          <a:prstGeom prst="rect">
            <a:avLst/>
          </a:prstGeom>
          <a:noFill/>
          <a:ln>
            <a:noFill/>
          </a:ln>
        </p:spPr>
        <p:txBody>
          <a:bodyPr spcFirstLastPara="1" wrap="square" lIns="54864" tIns="91425" rIns="0" bIns="91425" anchor="ctr" anchorCtr="0">
            <a:noAutofit/>
          </a:bodyPr>
          <a:lstStyle/>
          <a:p>
            <a:pPr marL="0" lvl="0" indent="0" algn="l" rtl="0">
              <a:lnSpc>
                <a:spcPct val="115000"/>
              </a:lnSpc>
              <a:spcBef>
                <a:spcPts val="0"/>
              </a:spcBef>
              <a:spcAft>
                <a:spcPts val="0"/>
              </a:spcAft>
              <a:buNone/>
            </a:pPr>
            <a:r>
              <a:rPr lang="vi-VN" sz="1100" b="1">
                <a:solidFill>
                  <a:schemeClr val="dk1"/>
                </a:solidFill>
                <a:latin typeface="IBM Plex Mono"/>
                <a:ea typeface="IBM Plex Mono"/>
                <a:cs typeface="IBM Plex Mono"/>
                <a:sym typeface="IBM Plex Mono"/>
              </a:rPr>
              <a:t>Trajectory</a:t>
            </a:r>
          </a:p>
        </p:txBody>
      </p:sp>
      <p:sp>
        <p:nvSpPr>
          <p:cNvPr id="2128" name="Google Shape;2128;p54"/>
          <p:cNvSpPr txBox="1"/>
          <p:nvPr/>
        </p:nvSpPr>
        <p:spPr>
          <a:xfrm>
            <a:off x="782975" y="2262450"/>
            <a:ext cx="722400" cy="576000"/>
          </a:xfrm>
          <a:prstGeom prst="rect">
            <a:avLst/>
          </a:prstGeom>
          <a:noFill/>
          <a:ln>
            <a:noFill/>
          </a:ln>
        </p:spPr>
        <p:txBody>
          <a:bodyPr spcFirstLastPara="1" wrap="non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Be Vietnam Pro"/>
                <a:ea typeface="Be Vietnam Pro"/>
                <a:cs typeface="Be Vietnam Pro"/>
                <a:sym typeface="Be Vietnam Pro"/>
              </a:rPr>
              <a:t>02</a:t>
            </a:r>
            <a:endParaRPr sz="3000" b="1">
              <a:solidFill>
                <a:schemeClr val="dk2"/>
              </a:solidFill>
              <a:latin typeface="Be Vietnam Pro"/>
              <a:ea typeface="Be Vietnam Pro"/>
              <a:cs typeface="Be Vietnam Pro"/>
              <a:sym typeface="Be Vietnam Pro"/>
            </a:endParaRPr>
          </a:p>
        </p:txBody>
      </p:sp>
      <p:sp>
        <p:nvSpPr>
          <p:cNvPr id="2129" name="Google Shape;2129;p54"/>
          <p:cNvSpPr txBox="1"/>
          <p:nvPr/>
        </p:nvSpPr>
        <p:spPr>
          <a:xfrm>
            <a:off x="4020025" y="3153150"/>
            <a:ext cx="4341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b="0">
                <a:solidFill>
                  <a:schemeClr val="dk1"/>
                </a:solidFill>
                <a:latin typeface="Be Vietnam Pro"/>
                <a:ea typeface="Be Vietnam Pro"/>
                <a:cs typeface="Be Vietnam Pro"/>
                <a:sym typeface="Be Vietnam Pro"/>
              </a:rPr>
              <a:t>Lập kế hoạch theo rate kỳ vọng thay vì 5 realization: </a:t>
            </a:r>
            <a:r>
              <a:rPr lang="vi-VN" b="1">
                <a:solidFill>
                  <a:schemeClr val="dk1"/>
                </a:solidFill>
                <a:latin typeface="Be Vietnam Pro"/>
                <a:ea typeface="Be Vietnam Pro"/>
                <a:cs typeface="Be Vietnam Pro"/>
                <a:sym typeface="Be Vietnam Pro"/>
              </a:rPr>
              <a:t>−0.038</a:t>
            </a:r>
            <a:r>
              <a:rPr lang="vi-VN" b="0">
                <a:solidFill>
                  <a:schemeClr val="dk1"/>
                </a:solidFill>
                <a:latin typeface="Be Vietnam Pro"/>
                <a:ea typeface="Be Vietnam Pro"/>
                <a:cs typeface="Be Vietnam Pro"/>
                <a:sym typeface="Be Vietnam Pro"/>
              </a:rPr>
              <a:t> / </a:t>
            </a:r>
            <a:r>
              <a:rPr lang="vi-VN" b="1">
                <a:solidFill>
                  <a:schemeClr val="dk1"/>
                </a:solidFill>
                <a:latin typeface="Be Vietnam Pro"/>
                <a:ea typeface="Be Vietnam Pro"/>
                <a:cs typeface="Be Vietnam Pro"/>
                <a:sym typeface="Be Vietnam Pro"/>
              </a:rPr>
              <a:t>−0.045</a:t>
            </a:r>
          </a:p>
        </p:txBody>
      </p:sp>
      <p:sp>
        <p:nvSpPr>
          <p:cNvPr id="2130" name="Google Shape;2130;p54"/>
          <p:cNvSpPr txBox="1"/>
          <p:nvPr/>
        </p:nvSpPr>
        <p:spPr>
          <a:xfrm>
            <a:off x="2183175" y="3151500"/>
            <a:ext cx="1007100" cy="576000"/>
          </a:xfrm>
          <a:prstGeom prst="rect">
            <a:avLst/>
          </a:prstGeom>
          <a:noFill/>
          <a:ln>
            <a:noFill/>
          </a:ln>
        </p:spPr>
        <p:txBody>
          <a:bodyPr spcFirstLastPara="1" wrap="square" lIns="54864" tIns="91425" rIns="0" bIns="91425" anchor="ctr" anchorCtr="0">
            <a:noAutofit/>
          </a:bodyPr>
          <a:lstStyle/>
          <a:p>
            <a:pPr marL="0" lvl="0" indent="0" algn="l" rtl="0">
              <a:lnSpc>
                <a:spcPct val="115000"/>
              </a:lnSpc>
              <a:spcBef>
                <a:spcPts val="0"/>
              </a:spcBef>
              <a:spcAft>
                <a:spcPts val="0"/>
              </a:spcAft>
              <a:buNone/>
            </a:pPr>
            <a:r>
              <a:rPr lang="vi-VN" sz="1100" b="1">
                <a:solidFill>
                  <a:schemeClr val="dk1"/>
                </a:solidFill>
                <a:latin typeface="IBM Plex Mono"/>
                <a:ea typeface="IBM Plex Mono"/>
                <a:cs typeface="IBM Plex Mono"/>
                <a:sym typeface="IBM Plex Mono"/>
              </a:rPr>
              <a:t>Sampling</a:t>
            </a:r>
          </a:p>
        </p:txBody>
      </p:sp>
      <p:sp>
        <p:nvSpPr>
          <p:cNvPr id="2131" name="Google Shape;2131;p54"/>
          <p:cNvSpPr txBox="1"/>
          <p:nvPr/>
        </p:nvSpPr>
        <p:spPr>
          <a:xfrm>
            <a:off x="782975" y="3151500"/>
            <a:ext cx="722400" cy="576000"/>
          </a:xfrm>
          <a:prstGeom prst="rect">
            <a:avLst/>
          </a:prstGeom>
          <a:noFill/>
          <a:ln>
            <a:noFill/>
          </a:ln>
        </p:spPr>
        <p:txBody>
          <a:bodyPr spcFirstLastPara="1" wrap="non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Be Vietnam Pro"/>
                <a:ea typeface="Be Vietnam Pro"/>
                <a:cs typeface="Be Vietnam Pro"/>
                <a:sym typeface="Be Vietnam Pro"/>
              </a:rPr>
              <a:t>03</a:t>
            </a:r>
            <a:endParaRPr sz="3000" b="1">
              <a:solidFill>
                <a:schemeClr val="dk2"/>
              </a:solidFill>
              <a:latin typeface="Be Vietnam Pro"/>
              <a:ea typeface="Be Vietnam Pro"/>
              <a:cs typeface="Be Vietnam Pro"/>
              <a:sym typeface="Be Vietnam Pro"/>
            </a:endParaRPr>
          </a:p>
        </p:txBody>
      </p:sp>
      <p:sp>
        <p:nvSpPr>
          <p:cNvPr id="2132" name="Google Shape;2132;p54"/>
          <p:cNvSpPr txBox="1"/>
          <p:nvPr/>
        </p:nvSpPr>
        <p:spPr>
          <a:xfrm>
            <a:off x="4020025" y="4043850"/>
            <a:ext cx="4341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vi-VN" b="0">
                <a:solidFill>
                  <a:schemeClr val="dk1"/>
                </a:solidFill>
                <a:latin typeface="Be Vietnam Pro"/>
                <a:ea typeface="Be Vietnam Pro"/>
                <a:cs typeface="Be Vietnam Pro"/>
                <a:sym typeface="Be Vietnam Pro"/>
              </a:rPr>
              <a:t>Bỏ bandwidth block hoặc repair: </a:t>
            </a:r>
            <a:r>
              <a:rPr lang="vi-VN" b="1">
                <a:solidFill>
                  <a:schemeClr val="dk1"/>
                </a:solidFill>
                <a:latin typeface="Be Vietnam Pro"/>
                <a:ea typeface="Be Vietnam Pro"/>
                <a:cs typeface="Be Vietnam Pro"/>
                <a:sym typeface="Be Vietnam Pro"/>
              </a:rPr>
              <a:t>≈ 0</a:t>
            </a:r>
            <a:r>
              <a:rPr lang="vi-VN" b="0">
                <a:solidFill>
                  <a:schemeClr val="dk1"/>
                </a:solidFill>
                <a:latin typeface="Be Vietnam Pro"/>
                <a:ea typeface="Be Vietnam Pro"/>
                <a:cs typeface="Be Vietnam Pro"/>
                <a:sym typeface="Be Vietnam Pro"/>
              </a:rPr>
              <a:t> (±0.005). Thử hết các tour mỗi vòng thay cho dịch đoạn: +0.006, không có ý nghĩa thống kê</a:t>
            </a:r>
          </a:p>
        </p:txBody>
      </p:sp>
      <p:sp>
        <p:nvSpPr>
          <p:cNvPr id="2133" name="Google Shape;2133;p54"/>
          <p:cNvSpPr txBox="1"/>
          <p:nvPr/>
        </p:nvSpPr>
        <p:spPr>
          <a:xfrm>
            <a:off x="2183175" y="4042200"/>
            <a:ext cx="1122300" cy="576000"/>
          </a:xfrm>
          <a:prstGeom prst="rect">
            <a:avLst/>
          </a:prstGeom>
          <a:noFill/>
          <a:ln>
            <a:noFill/>
          </a:ln>
        </p:spPr>
        <p:txBody>
          <a:bodyPr spcFirstLastPara="1" wrap="square" lIns="54864" tIns="91425" rIns="0" bIns="91425" anchor="ctr" anchorCtr="0">
            <a:noAutofit/>
          </a:bodyPr>
          <a:lstStyle/>
          <a:p>
            <a:pPr marL="0" lvl="0" indent="0" algn="l" rtl="0">
              <a:lnSpc>
                <a:spcPct val="115000"/>
              </a:lnSpc>
              <a:spcBef>
                <a:spcPts val="0"/>
              </a:spcBef>
              <a:spcAft>
                <a:spcPts val="0"/>
              </a:spcAft>
              <a:buNone/>
            </a:pPr>
            <a:r>
              <a:rPr lang="vi-VN" sz="1100" b="1">
                <a:solidFill>
                  <a:schemeClr val="dk1"/>
                </a:solidFill>
                <a:latin typeface="IBM Plex Mono"/>
                <a:ea typeface="IBM Plex Mono"/>
                <a:cs typeface="IBM Plex Mono"/>
                <a:sym typeface="IBM Plex Mono"/>
              </a:rPr>
              <a:t>BW, repair</a:t>
            </a:r>
          </a:p>
        </p:txBody>
      </p:sp>
      <p:sp>
        <p:nvSpPr>
          <p:cNvPr id="2134" name="Google Shape;2134;p54"/>
          <p:cNvSpPr txBox="1"/>
          <p:nvPr/>
        </p:nvSpPr>
        <p:spPr>
          <a:xfrm>
            <a:off x="782975" y="4042200"/>
            <a:ext cx="722400" cy="576000"/>
          </a:xfrm>
          <a:prstGeom prst="rect">
            <a:avLst/>
          </a:prstGeom>
          <a:noFill/>
          <a:ln>
            <a:noFill/>
          </a:ln>
        </p:spPr>
        <p:txBody>
          <a:bodyPr spcFirstLastPara="1" wrap="non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Be Vietnam Pro"/>
                <a:ea typeface="Be Vietnam Pro"/>
                <a:cs typeface="Be Vietnam Pro"/>
                <a:sym typeface="Be Vietnam Pro"/>
              </a:rPr>
              <a:t>04</a:t>
            </a:r>
            <a:endParaRPr sz="3000" b="1">
              <a:solidFill>
                <a:schemeClr val="dk2"/>
              </a:solidFill>
              <a:latin typeface="Be Vietnam Pro"/>
              <a:ea typeface="Be Vietnam Pro"/>
              <a:cs typeface="Be Vietnam Pro"/>
              <a:sym typeface="Be Vietnam Pro"/>
            </a:endParaRPr>
          </a:p>
        </p:txBody>
      </p:sp>
      <p:cxnSp>
        <p:nvCxnSpPr>
          <p:cNvPr id="2135" name="Google Shape;2135;p54"/>
          <p:cNvCxnSpPr>
            <a:stCxn id="2125" idx="3"/>
            <a:endCxn id="2124" idx="1"/>
          </p:cNvCxnSpPr>
          <p:nvPr/>
        </p:nvCxnSpPr>
        <p:spPr>
          <a:xfrm>
            <a:off x="1505375" y="1651563"/>
            <a:ext cx="677700" cy="600"/>
          </a:xfrm>
          <a:prstGeom prst="bentConnector3">
            <a:avLst>
              <a:gd name="adj1" fmla="val 50007"/>
            </a:avLst>
          </a:prstGeom>
          <a:noFill/>
          <a:ln w="9525" cap="flat" cmpd="sng">
            <a:solidFill>
              <a:schemeClr val="lt2"/>
            </a:solidFill>
            <a:prstDash val="solid"/>
            <a:round/>
            <a:headEnd type="none" w="med" len="med"/>
            <a:tailEnd type="none" w="med" len="med"/>
          </a:ln>
        </p:spPr>
      </p:cxnSp>
      <p:cxnSp>
        <p:nvCxnSpPr>
          <p:cNvPr id="2136" name="Google Shape;2136;p54"/>
          <p:cNvCxnSpPr>
            <a:stCxn id="2124" idx="3"/>
            <a:endCxn id="2123" idx="1"/>
          </p:cNvCxnSpPr>
          <p:nvPr/>
        </p:nvCxnSpPr>
        <p:spPr>
          <a:xfrm>
            <a:off x="3496575" y="1651563"/>
            <a:ext cx="523500" cy="600"/>
          </a:xfrm>
          <a:prstGeom prst="bentConnector3">
            <a:avLst>
              <a:gd name="adj1" fmla="val 49995"/>
            </a:avLst>
          </a:prstGeom>
          <a:noFill/>
          <a:ln w="9525" cap="flat" cmpd="sng">
            <a:solidFill>
              <a:schemeClr val="lt2"/>
            </a:solidFill>
            <a:prstDash val="solid"/>
            <a:round/>
            <a:headEnd type="none" w="med" len="med"/>
            <a:tailEnd type="oval" w="med" len="med"/>
          </a:ln>
        </p:spPr>
      </p:cxnSp>
      <p:cxnSp>
        <p:nvCxnSpPr>
          <p:cNvPr id="2137" name="Google Shape;2137;p54"/>
          <p:cNvCxnSpPr>
            <a:stCxn id="2127" idx="3"/>
            <a:endCxn id="2126" idx="1"/>
          </p:cNvCxnSpPr>
          <p:nvPr/>
        </p:nvCxnSpPr>
        <p:spPr>
          <a:xfrm>
            <a:off x="3190275" y="2550450"/>
            <a:ext cx="829800" cy="600"/>
          </a:xfrm>
          <a:prstGeom prst="bentConnector3">
            <a:avLst>
              <a:gd name="adj1" fmla="val 49997"/>
            </a:avLst>
          </a:prstGeom>
          <a:noFill/>
          <a:ln w="9525" cap="flat" cmpd="sng">
            <a:solidFill>
              <a:schemeClr val="lt2"/>
            </a:solidFill>
            <a:prstDash val="solid"/>
            <a:round/>
            <a:headEnd type="none" w="med" len="med"/>
            <a:tailEnd type="oval" w="med" len="med"/>
          </a:ln>
        </p:spPr>
      </p:cxnSp>
      <p:cxnSp>
        <p:nvCxnSpPr>
          <p:cNvPr id="2138" name="Google Shape;2138;p54"/>
          <p:cNvCxnSpPr>
            <a:stCxn id="2130" idx="3"/>
            <a:endCxn id="2129" idx="1"/>
          </p:cNvCxnSpPr>
          <p:nvPr/>
        </p:nvCxnSpPr>
        <p:spPr>
          <a:xfrm>
            <a:off x="3190275" y="3439500"/>
            <a:ext cx="829800" cy="600"/>
          </a:xfrm>
          <a:prstGeom prst="bentConnector3">
            <a:avLst>
              <a:gd name="adj1" fmla="val 49997"/>
            </a:avLst>
          </a:prstGeom>
          <a:noFill/>
          <a:ln w="9525" cap="flat" cmpd="sng">
            <a:solidFill>
              <a:schemeClr val="lt2"/>
            </a:solidFill>
            <a:prstDash val="solid"/>
            <a:round/>
            <a:headEnd type="none" w="med" len="med"/>
            <a:tailEnd type="oval" w="med" len="med"/>
          </a:ln>
        </p:spPr>
      </p:cxnSp>
      <p:cxnSp>
        <p:nvCxnSpPr>
          <p:cNvPr id="2139" name="Google Shape;2139;p54"/>
          <p:cNvCxnSpPr>
            <a:endCxn id="2132" idx="1"/>
          </p:cNvCxnSpPr>
          <p:nvPr/>
        </p:nvCxnSpPr>
        <p:spPr>
          <a:xfrm>
            <a:off x="3305725" y="4329600"/>
            <a:ext cx="714300" cy="600"/>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140" name="Google Shape;2140;p54"/>
          <p:cNvCxnSpPr>
            <a:stCxn id="2128" idx="3"/>
            <a:endCxn id="2127" idx="1"/>
          </p:cNvCxnSpPr>
          <p:nvPr/>
        </p:nvCxnSpPr>
        <p:spPr>
          <a:xfrm>
            <a:off x="1505375" y="2550450"/>
            <a:ext cx="677700" cy="600"/>
          </a:xfrm>
          <a:prstGeom prst="bentConnector3">
            <a:avLst>
              <a:gd name="adj1" fmla="val 50007"/>
            </a:avLst>
          </a:prstGeom>
          <a:noFill/>
          <a:ln w="9525" cap="flat" cmpd="sng">
            <a:solidFill>
              <a:schemeClr val="lt2"/>
            </a:solidFill>
            <a:prstDash val="solid"/>
            <a:round/>
            <a:headEnd type="none" w="med" len="med"/>
            <a:tailEnd type="none" w="med" len="med"/>
          </a:ln>
        </p:spPr>
      </p:cxnSp>
      <p:cxnSp>
        <p:nvCxnSpPr>
          <p:cNvPr id="2141" name="Google Shape;2141;p54"/>
          <p:cNvCxnSpPr>
            <a:stCxn id="2131" idx="3"/>
            <a:endCxn id="2130" idx="1"/>
          </p:cNvCxnSpPr>
          <p:nvPr/>
        </p:nvCxnSpPr>
        <p:spPr>
          <a:xfrm>
            <a:off x="1505375" y="3439500"/>
            <a:ext cx="677700" cy="600"/>
          </a:xfrm>
          <a:prstGeom prst="bentConnector3">
            <a:avLst>
              <a:gd name="adj1" fmla="val 50007"/>
            </a:avLst>
          </a:prstGeom>
          <a:noFill/>
          <a:ln w="9525" cap="flat" cmpd="sng">
            <a:solidFill>
              <a:schemeClr val="lt2"/>
            </a:solidFill>
            <a:prstDash val="solid"/>
            <a:round/>
            <a:headEnd type="none" w="med" len="med"/>
            <a:tailEnd type="none" w="med" len="med"/>
          </a:ln>
        </p:spPr>
      </p:cxnSp>
      <p:cxnSp>
        <p:nvCxnSpPr>
          <p:cNvPr id="2142" name="Google Shape;2142;p54"/>
          <p:cNvCxnSpPr>
            <a:stCxn id="2134" idx="3"/>
            <a:endCxn id="2133" idx="1"/>
          </p:cNvCxnSpPr>
          <p:nvPr/>
        </p:nvCxnSpPr>
        <p:spPr>
          <a:xfrm>
            <a:off x="1505375" y="4330200"/>
            <a:ext cx="677700" cy="600"/>
          </a:xfrm>
          <a:prstGeom prst="bentConnector3">
            <a:avLst>
              <a:gd name="adj1" fmla="val 50007"/>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41C08-2F66-900B-C6C9-394453F15D21}"/>
              </a:ext>
            </a:extLst>
          </p:cNvPr>
          <p:cNvSpPr>
            <a:spLocks noGrp="1"/>
          </p:cNvSpPr>
          <p:nvPr>
            <p:ph type="title"/>
          </p:nvPr>
        </p:nvSpPr>
        <p:spPr>
          <a:xfrm>
            <a:off x="722376" y="448056"/>
            <a:ext cx="7708392" cy="576072"/>
          </a:xfrm>
        </p:spPr>
        <p:txBody>
          <a:bodyPr/>
          <a:lstStyle/>
          <a:p>
            <a:pPr algn="l"/>
            <a:r>
              <a:rPr lang="en-US"/>
              <a:t>Budget &amp; hiệu quả của UAV</a:t>
            </a:r>
            <a:r>
              <a:rPr lang="en-US" err="1"/>
              <a:t/>
            </a:r>
            <a:r>
              <a:rPr lang="en-US"/>
              <a:t/>
            </a:r>
            <a:r>
              <a:rPr lang="en-US" err="1"/>
              <a:t/>
            </a:r>
            <a:r>
              <a:rPr lang="en-US"/>
              <a:t/>
            </a:r>
          </a:p>
        </p:txBody>
      </p:sp>
      <p:sp>
        <p:nvSpPr>
          <p:cNvPr id="3" name="Subtitle 2">
            <a:extLst>
              <a:ext uri="{FF2B5EF4-FFF2-40B4-BE49-F238E27FC236}">
                <a16:creationId xmlns:a16="http://schemas.microsoft.com/office/drawing/2014/main" id="{CC371E5F-AAA3-2CD5-421F-D26FFBEC4A75}"/>
              </a:ext>
            </a:extLst>
          </p:cNvPr>
          <p:cNvSpPr>
            <a:spLocks noGrp="1"/>
          </p:cNvSpPr>
          <p:nvPr>
            <p:ph type="subTitle" idx="1"/>
          </p:nvPr>
        </p:nvSpPr>
        <p:spPr>
          <a:xfrm>
            <a:off x="722376" y="2880360"/>
            <a:ext cx="3749039" cy="548640"/>
          </a:xfrm>
        </p:spPr>
        <p:txBody>
          <a:bodyPr wrap="square" anchor="t">
            <a:noAutofit/>
          </a:body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Với thuật toán hiện tại: 2000 lời giải đã bão hòa</a:t>
            </a:r>
          </a:p>
        </p:txBody>
      </p:sp>
      <p:pic>
        <p:nvPicPr>
          <p:cNvPr id="5" name="Picture 4">
            <a:extLst>
              <a:ext uri="{FF2B5EF4-FFF2-40B4-BE49-F238E27FC236}">
                <a16:creationId xmlns:a16="http://schemas.microsoft.com/office/drawing/2014/main" id="{A280A7C4-2541-9BAD-0E10-D987988B5379}"/>
              </a:ext>
            </a:extLst>
          </p:cNvPr>
          <p:cNvPicPr>
            <a:picLocks noChangeAspect="1"/>
          </p:cNvPicPr>
          <p:nvPr/>
        </p:nvPicPr>
        <p:blipFill>
          <a:blip r:embed="rId2"/>
          <a:stretch>
            <a:fillRect/>
          </a:stretch>
        </p:blipFill>
        <p:spPr>
          <a:xfrm>
            <a:off x="722376" y="1234440"/>
            <a:ext cx="3749039" cy="1545995"/>
          </a:xfrm>
          <a:prstGeom prst="rect">
            <a:avLst/>
          </a:prstGeom>
        </p:spPr>
      </p:pic>
      <p:pic>
        <p:nvPicPr>
          <p:cNvPr id="6" name="Picture 5" descr="A table with numbers and text&#10;&#10;AI-generated content may be incorrect.">
            <a:extLst>
              <a:ext uri="{FF2B5EF4-FFF2-40B4-BE49-F238E27FC236}">
                <a16:creationId xmlns:a16="http://schemas.microsoft.com/office/drawing/2014/main" id="{BF972A0A-E6F0-6914-84FD-81A93D01C8FE}"/>
              </a:ext>
            </a:extLst>
          </p:cNvPr>
          <p:cNvPicPr>
            <a:picLocks noChangeAspect="1"/>
          </p:cNvPicPr>
          <p:nvPr/>
        </p:nvPicPr>
        <p:blipFill>
          <a:blip r:embed="rId3"/>
          <a:stretch>
            <a:fillRect/>
          </a:stretch>
        </p:blipFill>
        <p:spPr>
          <a:xfrm>
            <a:off x="4672584" y="1234440"/>
            <a:ext cx="3758184" cy="962206"/>
          </a:xfrm>
          <a:prstGeom prst="rect">
            <a:avLst/>
          </a:prstGeom>
        </p:spPr>
      </p:pic>
      <p:sp>
        <p:nvSpPr>
          <p:cNvPr id="8" name="Subtitle 2">
            <a:extLst>
              <a:ext uri="{FF2B5EF4-FFF2-40B4-BE49-F238E27FC236}">
                <a16:creationId xmlns:a16="http://schemas.microsoft.com/office/drawing/2014/main" id="{35E674E7-F4F7-411C-65D8-4F4CDFDB4BDF}"/>
              </a:ext>
            </a:extLst>
          </p:cNvPr>
          <p:cNvSpPr txBox="1">
            <a:spLocks/>
          </p:cNvSpPr>
          <p:nvPr/>
        </p:nvSpPr>
        <p:spPr>
          <a:xfrm>
            <a:off x="4672584" y="2331720"/>
            <a:ext cx="3758184" cy="5943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1pPr>
            <a:lvl2pPr marL="914400" marR="0" lvl="1"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2pPr>
            <a:lvl3pPr marL="1371600" marR="0" lvl="2"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3pPr>
            <a:lvl4pPr marL="1828800" marR="0" lvl="3"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4pPr>
            <a:lvl5pPr marL="2286000" marR="0" lvl="4"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5pPr>
            <a:lvl6pPr marL="2743200" marR="0" lvl="5"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6pPr>
            <a:lvl7pPr marL="3200400" marR="0" lvl="6"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7pPr>
            <a:lvl8pPr marL="3657600" marR="0" lvl="7"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8pPr>
            <a:lvl9pPr marL="4114800" marR="0" lvl="8" indent="-317500" algn="ctr" rtl="0">
              <a:lnSpc>
                <a:spcPct val="100000"/>
              </a:lnSpc>
              <a:spcBef>
                <a:spcPts val="0"/>
              </a:spcBef>
              <a:spcAft>
                <a:spcPts val="0"/>
              </a:spcAft>
              <a:buClr>
                <a:schemeClr val="dk1"/>
              </a:buClr>
              <a:buSzPts val="1400"/>
              <a:buFont typeface="Be Vietnam Pro"/>
              <a:buNone/>
              <a:defRPr sz="1400" b="0" i="0" u="none" strike="noStrike" cap="none">
                <a:solidFill>
                  <a:schemeClr val="dk1"/>
                </a:solidFill>
                <a:latin typeface="Be Vietnam Pro"/>
                <a:ea typeface="Be Vietnam Pro"/>
                <a:cs typeface="Be Vietnam Pro"/>
                <a:sym typeface="Be Vietnam Pro"/>
              </a:defRPr>
            </a:lvl9pPr>
          </a:lstStyle>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UAV đã đẩy tỉ lệ Conn lên ~1</a:t>
            </a:r>
          </a:p>
          <a:p>
            <a:pPr algn="l" marL="164592" indent="-164592">
              <a:spcAft>
                <a:spcPts val="400"/>
              </a:spcAft>
              <a:buClr>
                <a:srgbClr val="EB9109"/>
              </a:buClr>
              <a:buSzPct val="100000"/>
              <a:buFont typeface="Arial"/>
              <a:buChar char="•"/>
            </a:pPr>
            <a:r>
              <a:rPr sz="1200" b="0" i="0">
                <a:solidFill>
                  <a:srgbClr val="1D1D1D"/>
                </a:solidFill>
                <a:latin typeface="Be Vietnam Pro"/>
                <a:ea typeface="Be Vietnam Pro"/>
                <a:cs typeface="Be Vietnam Pro"/>
                <a:sym typeface="Be Vietnam Pro"/>
              </a:rPr>
              <a:t>Nhưng timely ratio chưa cao vượt trội</a:t>
            </a:r>
          </a:p>
        </p:txBody>
      </p:sp>
      <p:pic>
        <p:nvPicPr>
          <p:cNvPr id="9" name="Picture 8" descr="A table of numbers and symbols&#10;&#10;AI-generated content may be incorrect.">
            <a:extLst>
              <a:ext uri="{FF2B5EF4-FFF2-40B4-BE49-F238E27FC236}">
                <a16:creationId xmlns:a16="http://schemas.microsoft.com/office/drawing/2014/main" id="{1EF1CE33-8AC8-9AC2-A959-E9535CE4485D}"/>
              </a:ext>
            </a:extLst>
          </p:cNvPr>
          <p:cNvPicPr>
            <a:picLocks noChangeAspect="1"/>
          </p:cNvPicPr>
          <p:nvPr/>
        </p:nvPicPr>
        <p:blipFill>
          <a:blip r:embed="rId4"/>
          <a:stretch>
            <a:fillRect/>
          </a:stretch>
        </p:blipFill>
        <p:spPr>
          <a:xfrm>
            <a:off x="5225796" y="3017520"/>
            <a:ext cx="2651760" cy="1531442"/>
          </a:xfrm>
          <a:prstGeom prst="rect">
            <a:avLst/>
          </a:prstGeom>
        </p:spPr>
      </p:pic>
    </p:spTree>
    <p:extLst>
      <p:ext uri="{BB962C8B-B14F-4D97-AF65-F5344CB8AC3E}">
        <p14:creationId xmlns:p14="http://schemas.microsoft.com/office/powerpoint/2010/main" val="2672104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p39"/>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So với Tran-IA và case study</a:t>
            </a:r>
          </a:p>
        </p:txBody>
      </p:sp>
      <p:sp>
        <p:nvSpPr>
          <p:cNvPr id="1531" name="TextBox 1530"/>
          <p:cNvSpPr txBox="1"/>
          <p:nvPr/>
        </p:nvSpPr>
        <p:spPr>
          <a:xfrm>
            <a:off x="722376" y="1115568"/>
            <a:ext cx="4206240" cy="274320"/>
          </a:xfrm>
          <a:prstGeom prst="rect">
            <a:avLst/>
          </a:prstGeom>
          <a:noFill/>
        </p:spPr>
        <p:txBody>
          <a:bodyPr wrap="square" lIns="36576" tIns="18288" rIns="36576" bIns="18288" anchor="t">
            <a:spAutoFit/>
          </a:bodyPr>
          <a:lstStyle/>
          <a:p>
            <a:pPr algn="l">
              <a:spcAft>
                <a:spcPts val="400"/>
              </a:spcAft>
            </a:pPr>
            <a:r>
              <a:rPr sz="1100" b="1">
                <a:solidFill>
                  <a:srgbClr val="0C0A9E"/>
                </a:solidFill>
                <a:latin typeface="IBM Plex Mono"/>
              </a:rPr>
              <a:t>So với Tran-IA (đã chỉnh cho bài của nhóm)</a:t>
            </a:r>
          </a:p>
        </p:txBody>
      </p:sp>
      <p:graphicFrame>
        <p:nvGraphicFramePr>
          <p:cNvPr id="1532" name="Table 1531"/>
          <p:cNvGraphicFramePr>
            <a:graphicFrameLocks noGrp="1"/>
          </p:cNvGraphicFramePr>
          <p:nvPr/>
        </p:nvGraphicFramePr>
        <p:xfrm>
          <a:off x="722376" y="1444752"/>
          <a:ext cx="4206240" cy="1645920"/>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29184">
                <a:tc>
                  <a:txBody>
                    <a:bodyPr/>
                    <a:lstStyle/>
                    <a:p>
                      <a:r>
                        <a:rPr sz="1000" b="1">
                          <a:solidFill>
                            <a:srgbClr val="FFFFFF"/>
                          </a:solidFill>
                          <a:latin typeface="IBM Plex Mono"/>
                        </a:rPr>
                        <a:t>Method</a:t>
                      </a:r>
                    </a:p>
                  </a:txBody>
                  <a:tcPr marL="64008" marR="64008" marT="27432" marB="27432" anchor="ctr">
                    <a:solidFill>
                      <a:srgbClr val="0C0A9E"/>
                    </a:solidFill>
                  </a:tcPr>
                </a:tc>
                <a:tc>
                  <a:txBody>
                    <a:bodyPr/>
                    <a:lstStyle/>
                    <a:p>
                      <a:r>
                        <a:rPr sz="1000" b="1">
                          <a:solidFill>
                            <a:srgbClr val="FFFFFF"/>
                          </a:solidFill>
                          <a:latin typeface="IBM Plex Mono"/>
                        </a:rPr>
                        <a:t>Wide</a:t>
                      </a:r>
                    </a:p>
                  </a:txBody>
                  <a:tcPr marL="64008" marR="64008" marT="27432" marB="27432" anchor="ctr">
                    <a:solidFill>
                      <a:srgbClr val="0C0A9E"/>
                    </a:solidFill>
                  </a:tcPr>
                </a:tc>
                <a:tc>
                  <a:txBody>
                    <a:bodyPr/>
                    <a:lstStyle/>
                    <a:p>
                      <a:r>
                        <a:rPr sz="1000" b="1">
                          <a:solidFill>
                            <a:srgbClr val="FFFFFF"/>
                          </a:solidFill>
                          <a:latin typeface="IBM Plex Mono"/>
                        </a:rPr>
                        <a:t>Narrow</a:t>
                      </a:r>
                    </a:p>
                  </a:txBody>
                  <a:tcPr marL="64008" marR="64008" marT="27432" marB="27432" anchor="ctr">
                    <a:solidFill>
                      <a:srgbClr val="0C0A9E"/>
                    </a:solidFill>
                  </a:tcPr>
                </a:tc>
                <a:tc>
                  <a:txBody>
                    <a:bodyPr/>
                    <a:lstStyle/>
                    <a:p>
                      <a:r>
                        <a:rPr sz="1000" b="1">
                          <a:solidFill>
                            <a:srgbClr val="FFFFFF"/>
                          </a:solidFill>
                          <a:latin typeface="IBM Plex Mono"/>
                        </a:rPr>
                        <a:t>Planning (s)</a:t>
                      </a:r>
                    </a:p>
                  </a:txBody>
                  <a:tcPr marL="64008" marR="64008" marT="27432" marB="27432" anchor="ctr">
                    <a:solidFill>
                      <a:srgbClr val="0C0A9E"/>
                    </a:solidFill>
                  </a:tcPr>
                </a:tc>
                <a:extLst>
                  <a:ext uri="{0D108BD9-81ED-4DB2-BD59-A6C34878D82A}">
                    <a16:rowId xmlns:a16="http://schemas.microsoft.com/office/drawing/2014/main" val="10000"/>
                  </a:ext>
                </a:extLst>
              </a:tr>
              <a:tr h="329184">
                <a:tc>
                  <a:txBody>
                    <a:bodyPr/>
                    <a:lstStyle/>
                    <a:p>
                      <a:r>
                        <a:rPr sz="1000" b="1">
                          <a:solidFill>
                            <a:srgbClr val="0C0A9E"/>
                          </a:solidFill>
                          <a:latin typeface="IBM Plex Mono"/>
                        </a:rPr>
                        <a:t>FixedTour</a:t>
                      </a:r>
                    </a:p>
                  </a:txBody>
                  <a:tcPr marL="64008" marR="64008" marT="27432" marB="27432" anchor="ctr">
                    <a:solidFill>
                      <a:srgbClr val="FFFFFF"/>
                    </a:solidFill>
                  </a:tcPr>
                </a:tc>
                <a:tc>
                  <a:txBody>
                    <a:bodyPr/>
                    <a:lstStyle/>
                    <a:p>
                      <a:r>
                        <a:rPr sz="1000" b="0">
                          <a:solidFill>
                            <a:srgbClr val="1D1D1D"/>
                          </a:solidFill>
                          <a:latin typeface="Be Vietnam Pro"/>
                        </a:rPr>
                        <a:t>0.494</a:t>
                      </a:r>
                    </a:p>
                  </a:txBody>
                  <a:tcPr marL="64008" marR="64008" marT="27432" marB="27432" anchor="ctr">
                    <a:solidFill>
                      <a:srgbClr val="FFFFFF"/>
                    </a:solidFill>
                  </a:tcPr>
                </a:tc>
                <a:tc>
                  <a:txBody>
                    <a:bodyPr/>
                    <a:lstStyle/>
                    <a:p>
                      <a:r>
                        <a:rPr sz="1000" b="0">
                          <a:solidFill>
                            <a:srgbClr val="1D1D1D"/>
                          </a:solidFill>
                          <a:latin typeface="Be Vietnam Pro"/>
                        </a:rPr>
                        <a:t>0.430</a:t>
                      </a:r>
                    </a:p>
                  </a:txBody>
                  <a:tcPr marL="64008" marR="64008" marT="27432" marB="27432" anchor="ctr">
                    <a:solidFill>
                      <a:srgbClr val="FFFFFF"/>
                    </a:solidFill>
                  </a:tcPr>
                </a:tc>
                <a:tc>
                  <a:txBody>
                    <a:bodyPr/>
                    <a:lstStyle/>
                    <a:p>
                      <a:r>
                        <a:rPr sz="1000" b="0">
                          <a:solidFill>
                            <a:srgbClr val="1D1D1D"/>
                          </a:solidFill>
                          <a:latin typeface="Be Vietnam Pro"/>
                        </a:rPr>
                        <a:t>0.2</a:t>
                      </a:r>
                    </a:p>
                  </a:txBody>
                  <a:tcPr marL="64008" marR="64008" marT="27432" marB="27432" anchor="ctr">
                    <a:solidFill>
                      <a:srgbClr val="FFFFFF"/>
                    </a:solidFill>
                  </a:tcPr>
                </a:tc>
                <a:extLst>
                  <a:ext uri="{0D108BD9-81ED-4DB2-BD59-A6C34878D82A}">
                    <a16:rowId xmlns:a16="http://schemas.microsoft.com/office/drawing/2014/main" val="10001"/>
                  </a:ext>
                </a:extLst>
              </a:tr>
              <a:tr h="329184">
                <a:tc>
                  <a:txBody>
                    <a:bodyPr/>
                    <a:lstStyle/>
                    <a:p>
                      <a:r>
                        <a:rPr sz="1000" b="1">
                          <a:solidFill>
                            <a:srgbClr val="0C0A9E"/>
                          </a:solidFill>
                          <a:latin typeface="IBM Plex Mono"/>
                        </a:rPr>
                        <a:t>Tran-IA</a:t>
                      </a:r>
                    </a:p>
                  </a:txBody>
                  <a:tcPr marL="64008" marR="64008" marT="27432" marB="27432" anchor="ctr">
                    <a:solidFill>
                      <a:srgbClr val="FFFFFF"/>
                    </a:solidFill>
                  </a:tcPr>
                </a:tc>
                <a:tc>
                  <a:txBody>
                    <a:bodyPr/>
                    <a:lstStyle/>
                    <a:p>
                      <a:r>
                        <a:rPr sz="1000" b="0">
                          <a:solidFill>
                            <a:srgbClr val="1D1D1D"/>
                          </a:solidFill>
                          <a:latin typeface="Be Vietnam Pro"/>
                        </a:rPr>
                        <a:t>0.530</a:t>
                      </a:r>
                    </a:p>
                  </a:txBody>
                  <a:tcPr marL="64008" marR="64008" marT="27432" marB="27432" anchor="ctr">
                    <a:solidFill>
                      <a:srgbClr val="FFFFFF"/>
                    </a:solidFill>
                  </a:tcPr>
                </a:tc>
                <a:tc>
                  <a:txBody>
                    <a:bodyPr/>
                    <a:lstStyle/>
                    <a:p>
                      <a:r>
                        <a:rPr sz="1000" b="0">
                          <a:solidFill>
                            <a:srgbClr val="1D1D1D"/>
                          </a:solidFill>
                          <a:latin typeface="Be Vietnam Pro"/>
                        </a:rPr>
                        <a:t>0.438</a:t>
                      </a:r>
                    </a:p>
                  </a:txBody>
                  <a:tcPr marL="64008" marR="64008" marT="27432" marB="27432" anchor="ctr">
                    <a:solidFill>
                      <a:srgbClr val="FFFFFF"/>
                    </a:solidFill>
                  </a:tcPr>
                </a:tc>
                <a:tc>
                  <a:txBody>
                    <a:bodyPr/>
                    <a:lstStyle/>
                    <a:p>
                      <a:r>
                        <a:rPr sz="1000" b="0">
                          <a:solidFill>
                            <a:srgbClr val="1D1D1D"/>
                          </a:solidFill>
                          <a:latin typeface="Be Vietnam Pro"/>
                        </a:rPr>
                        <a:t>234.2</a:t>
                      </a:r>
                    </a:p>
                  </a:txBody>
                  <a:tcPr marL="64008" marR="64008" marT="27432" marB="27432" anchor="ctr">
                    <a:solidFill>
                      <a:srgbClr val="FFFFFF"/>
                    </a:solidFill>
                  </a:tcPr>
                </a:tc>
                <a:extLst>
                  <a:ext uri="{0D108BD9-81ED-4DB2-BD59-A6C34878D82A}">
                    <a16:rowId xmlns:a16="http://schemas.microsoft.com/office/drawing/2014/main" val="10002"/>
                  </a:ext>
                </a:extLst>
              </a:tr>
              <a:tr h="329184">
                <a:tc>
                  <a:txBody>
                    <a:bodyPr/>
                    <a:lstStyle/>
                    <a:p>
                      <a:r>
                        <a:rPr sz="1000" b="1">
                          <a:solidFill>
                            <a:srgbClr val="0C0A9E"/>
                          </a:solidFill>
                          <a:latin typeface="IBM Plex Mono"/>
                        </a:rPr>
                        <a:t>SBS</a:t>
                      </a:r>
                    </a:p>
                  </a:txBody>
                  <a:tcPr marL="64008" marR="64008" marT="27432" marB="27432" anchor="ctr">
                    <a:solidFill>
                      <a:srgbClr val="FFFFFF"/>
                    </a:solidFill>
                  </a:tcPr>
                </a:tc>
                <a:tc>
                  <a:txBody>
                    <a:bodyPr/>
                    <a:lstStyle/>
                    <a:p>
                      <a:r>
                        <a:rPr sz="1000" b="1">
                          <a:solidFill>
                            <a:srgbClr val="1D1D1D"/>
                          </a:solidFill>
                          <a:latin typeface="Be Vietnam Pro"/>
                        </a:rPr>
                        <a:t>0.559</a:t>
                      </a:r>
                    </a:p>
                  </a:txBody>
                  <a:tcPr marL="64008" marR="64008" marT="27432" marB="27432" anchor="ctr">
                    <a:solidFill>
                      <a:srgbClr val="FFFFFF"/>
                    </a:solidFill>
                  </a:tcPr>
                </a:tc>
                <a:tc>
                  <a:txBody>
                    <a:bodyPr/>
                    <a:lstStyle/>
                    <a:p>
                      <a:r>
                        <a:rPr sz="1000" b="1">
                          <a:solidFill>
                            <a:srgbClr val="1D1D1D"/>
                          </a:solidFill>
                          <a:latin typeface="Be Vietnam Pro"/>
                        </a:rPr>
                        <a:t>0.517</a:t>
                      </a:r>
                    </a:p>
                  </a:txBody>
                  <a:tcPr marL="64008" marR="64008" marT="27432" marB="27432" anchor="ctr">
                    <a:solidFill>
                      <a:srgbClr val="FFFFFF"/>
                    </a:solidFill>
                  </a:tcPr>
                </a:tc>
                <a:tc>
                  <a:txBody>
                    <a:bodyPr/>
                    <a:lstStyle/>
                    <a:p>
                      <a:r>
                        <a:rPr sz="1000" b="0">
                          <a:solidFill>
                            <a:srgbClr val="1D1D1D"/>
                          </a:solidFill>
                          <a:latin typeface="Be Vietnam Pro"/>
                        </a:rPr>
                        <a:t>172.3</a:t>
                      </a:r>
                    </a:p>
                  </a:txBody>
                  <a:tcPr marL="64008" marR="64008" marT="27432" marB="27432" anchor="ctr">
                    <a:solidFill>
                      <a:srgbClr val="FFFFFF"/>
                    </a:solidFill>
                  </a:tcPr>
                </a:tc>
                <a:extLst>
                  <a:ext uri="{0D108BD9-81ED-4DB2-BD59-A6C34878D82A}">
                    <a16:rowId xmlns:a16="http://schemas.microsoft.com/office/drawing/2014/main" val="10003"/>
                  </a:ext>
                </a:extLst>
              </a:tr>
              <a:tr h="329184">
                <a:tc>
                  <a:txBody>
                    <a:bodyPr/>
                    <a:lstStyle/>
                    <a:p>
                      <a:r>
                        <a:rPr sz="1000" b="1">
                          <a:solidFill>
                            <a:srgbClr val="0C0A9E"/>
                          </a:solidFill>
                          <a:latin typeface="IBM Plex Mono"/>
                        </a:rPr>
                        <a:t>SBS-R</a:t>
                      </a:r>
                    </a:p>
                  </a:txBody>
                  <a:tcPr marL="64008" marR="64008" marT="27432" marB="27432" anchor="ctr">
                    <a:solidFill>
                      <a:srgbClr val="FFFFFF"/>
                    </a:solidFill>
                  </a:tcPr>
                </a:tc>
                <a:tc>
                  <a:txBody>
                    <a:bodyPr/>
                    <a:lstStyle/>
                    <a:p>
                      <a:r>
                        <a:rPr sz="1000" b="1">
                          <a:solidFill>
                            <a:srgbClr val="1D1D1D"/>
                          </a:solidFill>
                          <a:latin typeface="Be Vietnam Pro"/>
                        </a:rPr>
                        <a:t>0.560</a:t>
                      </a:r>
                    </a:p>
                  </a:txBody>
                  <a:tcPr marL="64008" marR="64008" marT="27432" marB="27432" anchor="ctr">
                    <a:solidFill>
                      <a:srgbClr val="FFFFFF"/>
                    </a:solidFill>
                  </a:tcPr>
                </a:tc>
                <a:tc>
                  <a:txBody>
                    <a:bodyPr/>
                    <a:lstStyle/>
                    <a:p>
                      <a:r>
                        <a:rPr sz="1000" b="1">
                          <a:solidFill>
                            <a:srgbClr val="1D1D1D"/>
                          </a:solidFill>
                          <a:latin typeface="Be Vietnam Pro"/>
                        </a:rPr>
                        <a:t>0.521</a:t>
                      </a:r>
                    </a:p>
                  </a:txBody>
                  <a:tcPr marL="64008" marR="64008" marT="27432" marB="27432" anchor="ctr">
                    <a:solidFill>
                      <a:srgbClr val="FFFFFF"/>
                    </a:solidFill>
                  </a:tcPr>
                </a:tc>
                <a:tc>
                  <a:txBody>
                    <a:bodyPr/>
                    <a:lstStyle/>
                    <a:p>
                      <a:r>
                        <a:rPr sz="1000" b="0">
                          <a:solidFill>
                            <a:srgbClr val="1D1D1D"/>
                          </a:solidFill>
                          <a:latin typeface="Be Vietnam Pro"/>
                        </a:rPr>
                        <a:t>181.1</a:t>
                      </a:r>
                    </a:p>
                  </a:txBody>
                  <a:tcPr marL="64008" marR="64008"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1533" name="TextBox 1532"/>
          <p:cNvSpPr txBox="1"/>
          <p:nvPr/>
        </p:nvSpPr>
        <p:spPr>
          <a:xfrm>
            <a:off x="722376" y="3200400"/>
            <a:ext cx="4206240" cy="698653"/>
          </a:xfrm>
          <a:prstGeom prst="rect">
            <a:avLst/>
          </a:prstGeom>
          <a:noFill/>
        </p:spPr>
        <p:txBody>
          <a:bodyPr wrap="square" lIns="36576" tIns="18288" rIns="36576" bIns="18288" anchor="t">
            <a:spAutoFit/>
          </a:bodyPr>
          <a:lstStyle/>
          <a:p>
            <a:pPr marL="171450" indent="-171450" algn="l">
              <a:spcAft>
                <a:spcPts val="200"/>
              </a:spcAft>
              <a:buClr>
                <a:srgbClr val="EB9109"/>
              </a:buClr>
              <a:buFont typeface="Arial"/>
              <a:buChar char="•"/>
            </a:pPr>
            <a:r>
              <a:rPr sz="950" b="0">
                <a:solidFill>
                  <a:srgbClr val="1D1D1D"/>
                </a:solidFill>
                <a:latin typeface="Be Vietnam Pro"/>
              </a:rPr>
              <a:t>SBS </a:t>
            </a:r>
            <a:r>
              <a:rPr sz="950" b="0" err="1">
                <a:solidFill>
                  <a:srgbClr val="1D1D1D"/>
                </a:solidFill>
                <a:latin typeface="Be Vietnam Pro"/>
              </a:rPr>
              <a:t>hơn</a:t>
            </a:r>
            <a:r>
              <a:rPr sz="950" b="0">
                <a:solidFill>
                  <a:srgbClr val="1D1D1D"/>
                </a:solidFill>
                <a:latin typeface="Be Vietnam Pro"/>
              </a:rPr>
              <a:t> Tran-IA +0.028 (Wide), +0.079 (Narrow)</a:t>
            </a:r>
          </a:p>
          <a:p>
            <a:pPr marL="171450" indent="-171450" algn="l">
              <a:spcAft>
                <a:spcPts val="200"/>
              </a:spcAft>
              <a:buClr>
                <a:srgbClr val="EB9109"/>
              </a:buClr>
              <a:buFont typeface="Arial"/>
              <a:buChar char="•"/>
            </a:pPr>
            <a:r>
              <a:rPr sz="950" b="0" err="1">
                <a:solidFill>
                  <a:srgbClr val="1D1D1D"/>
                </a:solidFill>
                <a:latin typeface="Be Vietnam Pro"/>
              </a:rPr>
              <a:t>Khác biệt chưa có ý nghĩa thống kê (p = 0.46 / 0.11 sau Holm)</a:t>
            </a:r>
            <a:r>
              <a:rPr sz="950" b="0">
                <a:solidFill>
                  <a:srgbClr val="1D1D1D"/>
                </a:solidFill>
                <a:latin typeface="Be Vietnam Pro"/>
              </a:rPr>
              <a:t/>
            </a:r>
            <a:r>
              <a:rPr sz="950" b="0" err="1">
                <a:solidFill>
                  <a:srgbClr val="1D1D1D"/>
                </a:solidFill>
                <a:latin typeface="Be Vietnam Pro"/>
              </a:rPr>
              <a:t/>
            </a:r>
            <a:r>
              <a:rPr sz="950" b="0">
                <a:solidFill>
                  <a:srgbClr val="1D1D1D"/>
                </a:solidFill>
                <a:latin typeface="Be Vietnam Pro"/>
              </a:rPr>
              <a:t/>
            </a:r>
          </a:p>
          <a:p>
            <a:pPr marL="171450" indent="-171450" algn="l">
              <a:spcAft>
                <a:spcPts val="200"/>
              </a:spcAft>
              <a:buClr>
                <a:srgbClr val="EB9109"/>
              </a:buClr>
              <a:buFont typeface="Arial"/>
              <a:buChar char="•"/>
            </a:pPr>
            <a:r>
              <a:rPr sz="950" b="0">
                <a:solidFill>
                  <a:srgbClr val="1D1D1D"/>
                </a:solidFill>
                <a:latin typeface="Be Vietnam Pro"/>
              </a:rPr>
              <a:t>Tran-IA coi kênh là cố định và không tính capacity backhaul</a:t>
            </a:r>
            <a:r>
              <a:rPr sz="950" b="0" err="1">
                <a:solidFill>
                  <a:srgbClr val="1D1D1D"/>
                </a:solidFill>
                <a:latin typeface="Be Vietnam Pro"/>
              </a:rPr>
              <a:t/>
            </a:r>
            <a:r>
              <a:rPr sz="950" b="0">
                <a:solidFill>
                  <a:srgbClr val="1D1D1D"/>
                </a:solidFill>
                <a:latin typeface="Be Vietnam Pro"/>
              </a:rPr>
              <a:t/>
            </a:r>
            <a:r>
              <a:rPr sz="950" b="0" err="1">
                <a:solidFill>
                  <a:srgbClr val="1D1D1D"/>
                </a:solidFill>
                <a:latin typeface="Be Vietnam Pro"/>
              </a:rPr>
              <a:t/>
            </a:r>
            <a:r>
              <a:rPr sz="950" b="0">
                <a:solidFill>
                  <a:srgbClr val="1D1D1D"/>
                </a:solidFill>
                <a:latin typeface="Be Vietnam Pro"/>
              </a:rPr>
              <a:t/>
            </a:r>
            <a:r>
              <a:rPr sz="950" b="0" err="1">
                <a:solidFill>
                  <a:srgbClr val="1D1D1D"/>
                </a:solidFill>
                <a:latin typeface="Be Vietnam Pro"/>
              </a:rPr>
              <a:t/>
            </a:r>
            <a:r>
              <a:rPr sz="950" b="0">
                <a:solidFill>
                  <a:srgbClr val="1D1D1D"/>
                </a:solidFill>
                <a:latin typeface="Be Vietnam Pro"/>
              </a:rPr>
              <a:t/>
            </a:r>
          </a:p>
          <a:p>
            <a:pPr marL="171450" indent="-171450">
              <a:spcAft>
                <a:spcPts val="200"/>
              </a:spcAft>
              <a:buClr>
                <a:srgbClr val="EB9109"/>
              </a:buClr>
              <a:buFont typeface="Arial"/>
              <a:buChar char="•"/>
            </a:pPr>
            <a:r>
              <a:rPr lang="en-US" sz="950" err="1">
                <a:solidFill>
                  <a:srgbClr val="1D1D1D"/>
                </a:solidFill>
                <a:latin typeface="Be Vietnam Pro"/>
              </a:rPr>
              <a:t>Nổi</a:t>
            </a:r>
            <a:r>
              <a:rPr lang="en-US" sz="950">
                <a:solidFill>
                  <a:srgbClr val="1D1D1D"/>
                </a:solidFill>
                <a:latin typeface="Be Vietnam Pro"/>
              </a:rPr>
              <a:t> </a:t>
            </a:r>
            <a:r>
              <a:rPr lang="en-US" sz="950" err="1">
                <a:solidFill>
                  <a:srgbClr val="1D1D1D"/>
                </a:solidFill>
                <a:latin typeface="Be Vietnam Pro"/>
              </a:rPr>
              <a:t>bật</a:t>
            </a:r>
            <a:r>
              <a:rPr lang="en-US" sz="950">
                <a:solidFill>
                  <a:srgbClr val="1D1D1D"/>
                </a:solidFill>
                <a:latin typeface="Be Vietnam Pro"/>
              </a:rPr>
              <a:t> ở </a:t>
            </a:r>
            <a:r>
              <a:rPr lang="en-US" sz="950" err="1">
                <a:solidFill>
                  <a:srgbClr val="1D1D1D"/>
                </a:solidFill>
                <a:latin typeface="Be Vietnam Pro"/>
              </a:rPr>
              <a:t>thời</a:t>
            </a:r>
            <a:r>
              <a:rPr lang="en-US" sz="950">
                <a:solidFill>
                  <a:srgbClr val="1D1D1D"/>
                </a:solidFill>
                <a:latin typeface="Be Vietnam Pro"/>
              </a:rPr>
              <a:t> </a:t>
            </a:r>
            <a:r>
              <a:rPr lang="en-US" sz="950" err="1">
                <a:solidFill>
                  <a:srgbClr val="1D1D1D"/>
                </a:solidFill>
                <a:latin typeface="Be Vietnam Pro"/>
              </a:rPr>
              <a:t>gian</a:t>
            </a:r>
            <a:r>
              <a:rPr lang="en-US" sz="950">
                <a:solidFill>
                  <a:srgbClr val="1D1D1D"/>
                </a:solidFill>
                <a:latin typeface="Be Vietnam Pro"/>
              </a:rPr>
              <a:t> planning</a:t>
            </a:r>
          </a:p>
        </p:txBody>
      </p:sp>
      <p:sp>
        <p:nvSpPr>
          <p:cNvPr id="1534" name="TextBox 1533"/>
          <p:cNvSpPr txBox="1"/>
          <p:nvPr/>
        </p:nvSpPr>
        <p:spPr>
          <a:xfrm>
            <a:off x="5257800" y="1115568"/>
            <a:ext cx="3163824" cy="274320"/>
          </a:xfrm>
          <a:prstGeom prst="rect">
            <a:avLst/>
          </a:prstGeom>
          <a:noFill/>
        </p:spPr>
        <p:txBody>
          <a:bodyPr wrap="square" lIns="36576" tIns="18288" rIns="36576" bIns="18288" anchor="t">
            <a:spAutoFit/>
          </a:bodyPr>
          <a:lstStyle/>
          <a:p>
            <a:pPr algn="l">
              <a:spcAft>
                <a:spcPts val="400"/>
              </a:spcAft>
            </a:pPr>
            <a:r>
              <a:rPr sz="1100" b="1">
                <a:solidFill>
                  <a:srgbClr val="8208D5"/>
                </a:solidFill>
                <a:latin typeface="IBM Plex Mono"/>
              </a:rPr>
              <a:t>RescueNet, 63 targets</a:t>
            </a:r>
          </a:p>
        </p:txBody>
      </p:sp>
      <p:graphicFrame>
        <p:nvGraphicFramePr>
          <p:cNvPr id="1535" name="Table 1534"/>
          <p:cNvGraphicFramePr>
            <a:graphicFrameLocks noGrp="1"/>
          </p:cNvGraphicFramePr>
          <p:nvPr/>
        </p:nvGraphicFramePr>
        <p:xfrm>
          <a:off x="5257800" y="1444752"/>
          <a:ext cx="3163824" cy="1975104"/>
        </p:xfrm>
        <a:graphic>
          <a:graphicData uri="http://schemas.openxmlformats.org/drawingml/2006/table">
            <a:tbl>
              <a:tblPr>
                <a:tableStyleId>{5C22544A-7EE6-4342-B048-85BDC9FD1C3A}</a:tableStyleId>
              </a:tblPr>
              <a:tblGrid>
                <a:gridCol w="1463040">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tblGrid>
              <a:tr h="329184">
                <a:tc>
                  <a:txBody>
                    <a:bodyPr/>
                    <a:lstStyle/>
                    <a:p>
                      <a:r>
                        <a:rPr sz="1000" b="1">
                          <a:solidFill>
                            <a:srgbClr val="FFFFFF"/>
                          </a:solidFill>
                          <a:latin typeface="IBM Plex Mono"/>
                        </a:rPr>
                        <a:t>Method</a:t>
                      </a:r>
                    </a:p>
                  </a:txBody>
                  <a:tcPr marL="64008" marR="64008" marT="27432" marB="27432" anchor="ctr">
                    <a:solidFill>
                      <a:srgbClr val="0C0A9E"/>
                    </a:solidFill>
                  </a:tcPr>
                </a:tc>
                <a:tc>
                  <a:txBody>
                    <a:bodyPr/>
                    <a:lstStyle/>
                    <a:p>
                      <a:r>
                        <a:rPr sz="1000" b="1">
                          <a:solidFill>
                            <a:srgbClr val="FFFFFF"/>
                          </a:solidFill>
                          <a:latin typeface="IBM Plex Mono"/>
                        </a:rPr>
                        <a:t>Timely ratio</a:t>
                      </a:r>
                    </a:p>
                  </a:txBody>
                  <a:tcPr marL="64008" marR="64008" marT="27432" marB="27432" anchor="ctr">
                    <a:solidFill>
                      <a:srgbClr val="0C0A9E"/>
                    </a:solidFill>
                  </a:tcPr>
                </a:tc>
                <a:extLst>
                  <a:ext uri="{0D108BD9-81ED-4DB2-BD59-A6C34878D82A}">
                    <a16:rowId xmlns:a16="http://schemas.microsoft.com/office/drawing/2014/main" val="10000"/>
                  </a:ext>
                </a:extLst>
              </a:tr>
              <a:tr h="329184">
                <a:tc>
                  <a:txBody>
                    <a:bodyPr/>
                    <a:lstStyle/>
                    <a:p>
                      <a:r>
                        <a:rPr sz="1000" b="1">
                          <a:solidFill>
                            <a:srgbClr val="0C0A9E"/>
                          </a:solidFill>
                          <a:latin typeface="IBM Plex Mono"/>
                        </a:rPr>
                        <a:t>NoUAV</a:t>
                      </a:r>
                    </a:p>
                  </a:txBody>
                  <a:tcPr marL="64008" marR="64008" marT="27432" marB="27432" anchor="ctr">
                    <a:solidFill>
                      <a:srgbClr val="FFFFFF"/>
                    </a:solidFill>
                  </a:tcPr>
                </a:tc>
                <a:tc>
                  <a:txBody>
                    <a:bodyPr/>
                    <a:lstStyle/>
                    <a:p>
                      <a:r>
                        <a:rPr sz="1000" b="0">
                          <a:solidFill>
                            <a:srgbClr val="1D1D1D"/>
                          </a:solidFill>
                          <a:latin typeface="Be Vietnam Pro"/>
                        </a:rPr>
                        <a:t>0.312</a:t>
                      </a:r>
                    </a:p>
                  </a:txBody>
                  <a:tcPr marL="64008" marR="64008" marT="27432" marB="27432" anchor="ctr">
                    <a:solidFill>
                      <a:srgbClr val="FFFFFF"/>
                    </a:solidFill>
                  </a:tcPr>
                </a:tc>
                <a:extLst>
                  <a:ext uri="{0D108BD9-81ED-4DB2-BD59-A6C34878D82A}">
                    <a16:rowId xmlns:a16="http://schemas.microsoft.com/office/drawing/2014/main" val="10001"/>
                  </a:ext>
                </a:extLst>
              </a:tr>
              <a:tr h="329184">
                <a:tc>
                  <a:txBody>
                    <a:bodyPr/>
                    <a:lstStyle/>
                    <a:p>
                      <a:r>
                        <a:rPr sz="1000" b="1">
                          <a:solidFill>
                            <a:srgbClr val="0C0A9E"/>
                          </a:solidFill>
                          <a:latin typeface="IBM Plex Mono"/>
                        </a:rPr>
                        <a:t>FixedTour</a:t>
                      </a:r>
                    </a:p>
                  </a:txBody>
                  <a:tcPr marL="64008" marR="64008" marT="27432" marB="27432" anchor="ctr">
                    <a:solidFill>
                      <a:srgbClr val="FFFFFF"/>
                    </a:solidFill>
                  </a:tcPr>
                </a:tc>
                <a:tc>
                  <a:txBody>
                    <a:bodyPr/>
                    <a:lstStyle/>
                    <a:p>
                      <a:r>
                        <a:rPr sz="1000" b="0">
                          <a:solidFill>
                            <a:srgbClr val="1D1D1D"/>
                          </a:solidFill>
                          <a:latin typeface="Be Vietnam Pro"/>
                        </a:rPr>
                        <a:t>0.395</a:t>
                      </a:r>
                    </a:p>
                  </a:txBody>
                  <a:tcPr marL="64008" marR="64008" marT="27432" marB="27432" anchor="ctr">
                    <a:solidFill>
                      <a:srgbClr val="FFFFFF"/>
                    </a:solidFill>
                  </a:tcPr>
                </a:tc>
                <a:extLst>
                  <a:ext uri="{0D108BD9-81ED-4DB2-BD59-A6C34878D82A}">
                    <a16:rowId xmlns:a16="http://schemas.microsoft.com/office/drawing/2014/main" val="10002"/>
                  </a:ext>
                </a:extLst>
              </a:tr>
              <a:tr h="329184">
                <a:tc>
                  <a:txBody>
                    <a:bodyPr/>
                    <a:lstStyle/>
                    <a:p>
                      <a:r>
                        <a:rPr sz="1000" b="1">
                          <a:solidFill>
                            <a:srgbClr val="0C0A9E"/>
                          </a:solidFill>
                          <a:latin typeface="IBM Plex Mono"/>
                        </a:rPr>
                        <a:t>Tran-IA</a:t>
                      </a:r>
                    </a:p>
                  </a:txBody>
                  <a:tcPr marL="64008" marR="64008" marT="27432" marB="27432" anchor="ctr">
                    <a:solidFill>
                      <a:srgbClr val="FFFFFF"/>
                    </a:solidFill>
                  </a:tcPr>
                </a:tc>
                <a:tc>
                  <a:txBody>
                    <a:bodyPr/>
                    <a:lstStyle/>
                    <a:p>
                      <a:r>
                        <a:rPr sz="1000" b="0">
                          <a:solidFill>
                            <a:srgbClr val="1D1D1D"/>
                          </a:solidFill>
                          <a:latin typeface="Be Vietnam Pro"/>
                        </a:rPr>
                        <a:t>0.450</a:t>
                      </a:r>
                    </a:p>
                  </a:txBody>
                  <a:tcPr marL="64008" marR="64008" marT="27432" marB="27432" anchor="ctr">
                    <a:solidFill>
                      <a:srgbClr val="FFFFFF"/>
                    </a:solidFill>
                  </a:tcPr>
                </a:tc>
                <a:extLst>
                  <a:ext uri="{0D108BD9-81ED-4DB2-BD59-A6C34878D82A}">
                    <a16:rowId xmlns:a16="http://schemas.microsoft.com/office/drawing/2014/main" val="10003"/>
                  </a:ext>
                </a:extLst>
              </a:tr>
              <a:tr h="329184">
                <a:tc>
                  <a:txBody>
                    <a:bodyPr/>
                    <a:lstStyle/>
                    <a:p>
                      <a:r>
                        <a:rPr sz="1000" b="1">
                          <a:solidFill>
                            <a:srgbClr val="0C0A9E"/>
                          </a:solidFill>
                          <a:latin typeface="IBM Plex Mono"/>
                        </a:rPr>
                        <a:t>SBS</a:t>
                      </a:r>
                    </a:p>
                  </a:txBody>
                  <a:tcPr marL="64008" marR="64008" marT="27432" marB="27432" anchor="ctr">
                    <a:solidFill>
                      <a:srgbClr val="FFFFFF"/>
                    </a:solidFill>
                  </a:tcPr>
                </a:tc>
                <a:tc>
                  <a:txBody>
                    <a:bodyPr/>
                    <a:lstStyle/>
                    <a:p>
                      <a:r>
                        <a:rPr sz="1000" b="1">
                          <a:solidFill>
                            <a:srgbClr val="1D1D1D"/>
                          </a:solidFill>
                          <a:latin typeface="Be Vietnam Pro"/>
                        </a:rPr>
                        <a:t>0.468</a:t>
                      </a:r>
                    </a:p>
                  </a:txBody>
                  <a:tcPr marL="64008" marR="64008" marT="27432" marB="27432" anchor="ctr">
                    <a:solidFill>
                      <a:srgbClr val="FFFFFF"/>
                    </a:solidFill>
                  </a:tcPr>
                </a:tc>
                <a:extLst>
                  <a:ext uri="{0D108BD9-81ED-4DB2-BD59-A6C34878D82A}">
                    <a16:rowId xmlns:a16="http://schemas.microsoft.com/office/drawing/2014/main" val="10004"/>
                  </a:ext>
                </a:extLst>
              </a:tr>
              <a:tr h="329184">
                <a:tc>
                  <a:txBody>
                    <a:bodyPr/>
                    <a:lstStyle/>
                    <a:p>
                      <a:r>
                        <a:rPr sz="1000" b="1">
                          <a:solidFill>
                            <a:srgbClr val="0C0A9E"/>
                          </a:solidFill>
                          <a:latin typeface="IBM Plex Mono"/>
                        </a:rPr>
                        <a:t>SBS-R</a:t>
                      </a:r>
                    </a:p>
                  </a:txBody>
                  <a:tcPr marL="64008" marR="64008" marT="27432" marB="27432" anchor="ctr">
                    <a:solidFill>
                      <a:srgbClr val="FFFFFF"/>
                    </a:solidFill>
                  </a:tcPr>
                </a:tc>
                <a:tc>
                  <a:txBody>
                    <a:bodyPr/>
                    <a:lstStyle/>
                    <a:p>
                      <a:r>
                        <a:rPr sz="1000" b="1">
                          <a:solidFill>
                            <a:srgbClr val="1D1D1D"/>
                          </a:solidFill>
                          <a:latin typeface="Be Vietnam Pro"/>
                        </a:rPr>
                        <a:t>0.471</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536" name="TextBox 1535"/>
          <p:cNvSpPr txBox="1"/>
          <p:nvPr/>
        </p:nvSpPr>
        <p:spPr>
          <a:xfrm>
            <a:off x="5257800" y="3520440"/>
            <a:ext cx="3163824" cy="731520"/>
          </a:xfrm>
          <a:prstGeom prst="rect">
            <a:avLst/>
          </a:prstGeom>
          <a:noFill/>
        </p:spPr>
        <p:txBody>
          <a:bodyPr wrap="square" lIns="36576" tIns="18288" rIns="36576" bIns="18288" anchor="t">
            <a:spAutoFit/>
          </a:bodyPr>
          <a:lstStyle/>
          <a:p>
            <a:pPr marL="171450" indent="-171450" algn="l">
              <a:spcAft>
                <a:spcPts val="200"/>
              </a:spcAft>
              <a:buClr>
                <a:srgbClr val="EB9109"/>
              </a:buClr>
              <a:buFont typeface="Arial"/>
              <a:buChar char="•"/>
            </a:pPr>
            <a:r>
              <a:rPr sz="950" b="0">
                <a:solidFill>
                  <a:srgbClr val="1D1D1D"/>
                </a:solidFill>
                <a:latin typeface="Be Vietnam Pro"/>
              </a:rPr>
              <a:t>Trên bản đồ thật, thứ tự các phương pháp vẫn giữ nguyên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A05AA-5743-A69B-322F-59C7EE246D61}"/>
              </a:ext>
            </a:extLst>
          </p:cNvPr>
          <p:cNvSpPr>
            <a:spLocks noGrp="1"/>
          </p:cNvSpPr>
          <p:nvPr>
            <p:ph type="title"/>
          </p:nvPr>
        </p:nvSpPr>
        <p:spPr>
          <a:xfrm>
            <a:off x="722376" y="448056"/>
            <a:ext cx="7708392" cy="576072"/>
          </a:xfrm>
        </p:spPr>
        <p:txBody>
          <a:bodyPr/>
          <a:lstStyle/>
          <a:p>
            <a:pPr algn="l"/>
            <a:r>
              <a:rPr lang="en-US"/>
              <a:t>Case Study </a:t>
            </a:r>
            <a:r>
              <a:rPr lang="en-US" err="1"/>
              <a:t>RescueNet</a:t>
            </a:r>
          </a:p>
        </p:txBody>
      </p:sp>
      <p:pic>
        <p:nvPicPr>
          <p:cNvPr id="5" name="Picture 4">
            <a:extLst>
              <a:ext uri="{FF2B5EF4-FFF2-40B4-BE49-F238E27FC236}">
                <a16:creationId xmlns:a16="http://schemas.microsoft.com/office/drawing/2014/main" id="{6CCEC63B-B525-9039-41BE-B39B04C62269}"/>
              </a:ext>
            </a:extLst>
          </p:cNvPr>
          <p:cNvPicPr>
            <a:picLocks noChangeAspect="1"/>
          </p:cNvPicPr>
          <p:nvPr/>
        </p:nvPicPr>
        <p:blipFill>
          <a:blip r:embed="rId2"/>
          <a:stretch>
            <a:fillRect/>
          </a:stretch>
        </p:blipFill>
        <p:spPr>
          <a:xfrm>
            <a:off x="722376" y="1097280"/>
            <a:ext cx="4014439" cy="3291840"/>
          </a:xfrm>
          <a:prstGeom prst="rect">
            <a:avLst/>
          </a:prstGeom>
        </p:spPr>
      </p:pic>
      <p:pic>
        <p:nvPicPr>
          <p:cNvPr id="6" name="Picture 5">
            <a:extLst>
              <a:ext uri="{FF2B5EF4-FFF2-40B4-BE49-F238E27FC236}">
                <a16:creationId xmlns:a16="http://schemas.microsoft.com/office/drawing/2014/main" id="{00175A3C-333E-EB8D-B622-0945D645D76A}"/>
              </a:ext>
            </a:extLst>
          </p:cNvPr>
          <p:cNvPicPr>
            <a:picLocks noChangeAspect="1"/>
          </p:cNvPicPr>
          <p:nvPr/>
        </p:nvPicPr>
        <p:blipFill>
          <a:blip r:embed="rId3"/>
          <a:stretch>
            <a:fillRect/>
          </a:stretch>
        </p:blipFill>
        <p:spPr>
          <a:xfrm>
            <a:off x="4832287" y="1016297"/>
            <a:ext cx="3955233" cy="1843422"/>
          </a:xfrm>
          <a:prstGeom prst="rect">
            <a:avLst/>
          </a:prstGeom>
        </p:spPr>
      </p:pic>
      <p:pic>
        <p:nvPicPr>
          <p:cNvPr id="7" name="Picture 6" descr="A table with numbers and a black text&#10;&#10;AI-generated content may be incorrect.">
            <a:extLst>
              <a:ext uri="{FF2B5EF4-FFF2-40B4-BE49-F238E27FC236}">
                <a16:creationId xmlns:a16="http://schemas.microsoft.com/office/drawing/2014/main" id="{614D88E3-0439-3726-903C-679DF29E6796}"/>
              </a:ext>
            </a:extLst>
          </p:cNvPr>
          <p:cNvPicPr>
            <a:picLocks noChangeAspect="1"/>
          </p:cNvPicPr>
          <p:nvPr/>
        </p:nvPicPr>
        <p:blipFill>
          <a:blip r:embed="rId4"/>
          <a:stretch>
            <a:fillRect/>
          </a:stretch>
        </p:blipFill>
        <p:spPr>
          <a:xfrm>
            <a:off x="4832854" y="3117786"/>
            <a:ext cx="3954102" cy="1278802"/>
          </a:xfrm>
          <a:prstGeom prst="rect">
            <a:avLst/>
          </a:prstGeom>
        </p:spPr>
      </p:pic>
      <p:sp>
        <p:nvSpPr>
          <p:cNvPr id="8" name="TextBox 7">
            <a:extLst>
              <a:ext uri="{FF2B5EF4-FFF2-40B4-BE49-F238E27FC236}">
                <a16:creationId xmlns:a16="http://schemas.microsoft.com/office/drawing/2014/main" id="{F5216758-680B-E997-A0A5-2B063D2B4BB6}"/>
              </a:ext>
            </a:extLst>
          </p:cNvPr>
          <p:cNvSpPr txBox="1"/>
          <p:nvPr/>
        </p:nvSpPr>
        <p:spPr>
          <a:xfrm>
            <a:off x="722376" y="4480560"/>
            <a:ext cx="7708392" cy="274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algn="l" marL="0" indent="0">
              <a:spcAft>
                <a:spcPts val="400"/>
              </a:spcAft>
              <a:buNone/>
            </a:pPr>
            <a:r>
              <a:rPr sz="1100" b="0" i="1">
                <a:solidFill>
                  <a:srgbClr val="5A5A6E"/>
                </a:solidFill>
                <a:latin typeface="Be Vietnam Pro"/>
                <a:ea typeface="Be Vietnam Pro"/>
                <a:cs typeface="Be Vietnam Pro"/>
                <a:sym typeface="Be Vietnam Pro"/>
              </a:rPr>
              <a:t>Đáng chú ý vì các source không được sinh theo cụm</a:t>
            </a:r>
          </a:p>
        </p:txBody>
      </p:sp>
    </p:spTree>
    <p:extLst>
      <p:ext uri="{BB962C8B-B14F-4D97-AF65-F5344CB8AC3E}">
        <p14:creationId xmlns:p14="http://schemas.microsoft.com/office/powerpoint/2010/main" val="26702185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16"/>
        <p:cNvGrpSpPr/>
        <p:nvPr/>
      </p:nvGrpSpPr>
      <p:grpSpPr>
        <a:xfrm>
          <a:off x="0" y="0"/>
          <a:ext cx="0" cy="0"/>
          <a:chOff x="0" y="0"/>
          <a:chExt cx="0" cy="0"/>
        </a:xfrm>
      </p:grpSpPr>
      <p:sp>
        <p:nvSpPr>
          <p:cNvPr id="2217" name="Google Shape;2217;p58"/>
          <p:cNvSpPr txBox="1">
            <a:spLocks noGrp="1"/>
          </p:cNvSpPr>
          <p:nvPr>
            <p:ph type="title"/>
          </p:nvPr>
        </p:nvSpPr>
        <p:spPr>
          <a:xfrm>
            <a:off x="722376" y="448056"/>
            <a:ext cx="7708392" cy="5760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Kết luận</a:t>
            </a:r>
          </a:p>
        </p:txBody>
      </p:sp>
      <p:sp>
        <p:nvSpPr>
          <p:cNvPr id="2218" name="Google Shape;2218;p58"/>
          <p:cNvSpPr txBox="1">
            <a:spLocks noGrp="1"/>
          </p:cNvSpPr>
          <p:nvPr>
            <p:ph type="subTitle" idx="1"/>
          </p:nvPr>
        </p:nvSpPr>
        <p:spPr>
          <a:xfrm>
            <a:off x="713225" y="2041525"/>
            <a:ext cx="5578500" cy="868680"/>
          </a:xfrm>
          <a:prstGeom prst="rect">
            <a:avLst/>
          </a:prstGeom>
        </p:spPr>
        <p:txBody>
          <a:bodyPr spcFirstLastPara="1" wrap="square" lIns="91425" tIns="91425" rIns="91425" bIns="91425" anchor="t" anchorCtr="0">
            <a:noAutofit/>
          </a:bodyPr>
          <a:lstStyle/>
          <a:p>
            <a:pPr marL="0" indent="0"/>
            <a:r>
              <a:rPr lang="vi-VN"/>
              <a:t>Bài toán thực tế hơn: alert có deadline qua ground network có backhaul hữu hạn. NP-hard, có LP upper bound đơn giản; SBS với local search tăng timely-delivery ratio trên mọi topology.</a:t>
            </a:r>
          </a:p>
        </p:txBody>
      </p:sp>
      <p:sp>
        <p:nvSpPr>
          <p:cNvPr id="2219" name="Google Shape;2219;p58"/>
          <p:cNvSpPr txBox="1">
            <a:spLocks noGrp="1"/>
          </p:cNvSpPr>
          <p:nvPr>
            <p:ph type="subTitle" idx="2"/>
          </p:nvPr>
        </p:nvSpPr>
        <p:spPr>
          <a:xfrm>
            <a:off x="713225" y="3630168"/>
            <a:ext cx="5578500" cy="868680"/>
          </a:xfrm>
          <a:prstGeom prst="rect">
            <a:avLst/>
          </a:prstGeom>
        </p:spPr>
        <p:txBody>
          <a:bodyPr spcFirstLastPara="1" wrap="square" lIns="91425" tIns="91425" rIns="91425" bIns="91425" anchor="t" anchorCtr="0">
            <a:noAutofit/>
          </a:bodyPr>
          <a:lstStyle/>
          <a:p>
            <a:pPr marL="0" indent="0"/>
            <a:r>
              <a:rPr lang="vi-VN"/>
              <a:t>SBS là heuristic. Hướng tiếp: Phát triển bound chặt</a:t>
            </a:r>
            <a:endParaRPr lang="en-US"/>
          </a:p>
          <a:p>
            <a:pPr marL="0" indent="0">
              <a:lnSpc>
                <a:spcPct val="114999"/>
              </a:lnSpc>
            </a:pPr>
            <a:r>
              <a:rPr lang="vi-VN"/>
              <a:t>Local Search biến đổi nhiều, trộn bước nhảy lớn và bước cục bộ cho trajectory, repair đổi nhiều alert, dữ liệu đo thật </a:t>
            </a:r>
          </a:p>
          <a:p>
            <a:pPr marL="0" indent="0">
              <a:lnSpc>
                <a:spcPct val="114999"/>
              </a:lnSpc>
            </a:pPr>
            <a:r>
              <a:rPr lang="vi-VN"/>
              <a:t>Scenario focus vào khối bandwidth/repair</a:t>
            </a:r>
          </a:p>
        </p:txBody>
      </p:sp>
      <p:sp>
        <p:nvSpPr>
          <p:cNvPr id="2220" name="Google Shape;2220;p58"/>
          <p:cNvSpPr txBox="1">
            <a:spLocks noGrp="1"/>
          </p:cNvSpPr>
          <p:nvPr>
            <p:ph type="subTitle" idx="3"/>
          </p:nvPr>
        </p:nvSpPr>
        <p:spPr>
          <a:xfrm>
            <a:off x="713225" y="1679400"/>
            <a:ext cx="55785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Đóng góp</a:t>
            </a:r>
          </a:p>
        </p:txBody>
      </p:sp>
      <p:sp>
        <p:nvSpPr>
          <p:cNvPr id="2221" name="Google Shape;2221;p58"/>
          <p:cNvSpPr txBox="1">
            <a:spLocks noGrp="1"/>
          </p:cNvSpPr>
          <p:nvPr>
            <p:ph type="subTitle" idx="4"/>
          </p:nvPr>
        </p:nvSpPr>
        <p:spPr>
          <a:xfrm>
            <a:off x="713225" y="3291840"/>
            <a:ext cx="55785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Hạn chế và hướng phát triển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10"/>
        <p:cNvGrpSpPr/>
        <p:nvPr/>
      </p:nvGrpSpPr>
      <p:grpSpPr>
        <a:xfrm>
          <a:off x="0" y="0"/>
          <a:ext cx="0" cy="0"/>
          <a:chOff x="0" y="0"/>
          <a:chExt cx="0" cy="0"/>
        </a:xfrm>
      </p:grpSpPr>
      <p:sp>
        <p:nvSpPr>
          <p:cNvPr id="2411" name="Google Shape;2411;p64"/>
          <p:cNvSpPr txBox="1">
            <a:spLocks noGrp="1"/>
          </p:cNvSpPr>
          <p:nvPr>
            <p:ph type="subTitle" idx="1"/>
          </p:nvPr>
        </p:nvSpPr>
        <p:spPr>
          <a:xfrm>
            <a:off x="1157250" y="1609575"/>
            <a:ext cx="4448100" cy="123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Câu hỏi và thảo luận?</a:t>
            </a:r>
          </a:p>
        </p:txBody>
      </p:sp>
      <p:sp>
        <p:nvSpPr>
          <p:cNvPr id="2412" name="Google Shape;2412;p64"/>
          <p:cNvSpPr txBox="1">
            <a:spLocks noGrp="1"/>
          </p:cNvSpPr>
          <p:nvPr>
            <p:ph type="title"/>
          </p:nvPr>
        </p:nvSpPr>
        <p:spPr>
          <a:xfrm>
            <a:off x="1157302" y="494775"/>
            <a:ext cx="51267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Cảm ơn!</a:t>
            </a:r>
          </a:p>
        </p:txBody>
      </p:sp>
      <p:grpSp>
        <p:nvGrpSpPr>
          <p:cNvPr id="2431" name="Google Shape;2431;p64"/>
          <p:cNvGrpSpPr/>
          <p:nvPr/>
        </p:nvGrpSpPr>
        <p:grpSpPr>
          <a:xfrm rot="10800000" flipH="1">
            <a:off x="6773992" y="-1205456"/>
            <a:ext cx="4151819" cy="5527900"/>
            <a:chOff x="6309526" y="836950"/>
            <a:chExt cx="3920509" cy="5219925"/>
          </a:xfrm>
        </p:grpSpPr>
        <p:pic>
          <p:nvPicPr>
            <p:cNvPr id="2432" name="Google Shape;2432;p64"/>
            <p:cNvPicPr preferRelativeResize="0"/>
            <p:nvPr/>
          </p:nvPicPr>
          <p:blipFill rotWithShape="1">
            <a:blip r:embed="rId3">
              <a:alphaModFix/>
            </a:blip>
            <a:srcRect l="16960" t="24719" r="7121" b="26177"/>
            <a:stretch/>
          </p:blipFill>
          <p:spPr>
            <a:xfrm>
              <a:off x="6309535" y="3064650"/>
              <a:ext cx="3920501" cy="2992224"/>
            </a:xfrm>
            <a:prstGeom prst="rect">
              <a:avLst/>
            </a:prstGeom>
            <a:noFill/>
            <a:ln>
              <a:noFill/>
            </a:ln>
          </p:spPr>
        </p:pic>
        <p:sp>
          <p:nvSpPr>
            <p:cNvPr id="2433" name="Google Shape;2433;p64"/>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64"/>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64"/>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6" name="Google Shape;2436;p64"/>
            <p:cNvGrpSpPr/>
            <p:nvPr/>
          </p:nvGrpSpPr>
          <p:grpSpPr>
            <a:xfrm>
              <a:off x="7280400" y="3719575"/>
              <a:ext cx="582050" cy="582425"/>
              <a:chOff x="959750" y="3039275"/>
              <a:chExt cx="582050" cy="582425"/>
            </a:xfrm>
          </p:grpSpPr>
          <p:sp>
            <p:nvSpPr>
              <p:cNvPr id="2437" name="Google Shape;2437;p6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6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6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6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6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6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6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4" name="Google Shape;2444;p64"/>
            <p:cNvGrpSpPr/>
            <p:nvPr/>
          </p:nvGrpSpPr>
          <p:grpSpPr>
            <a:xfrm>
              <a:off x="7728436" y="3524084"/>
              <a:ext cx="134004" cy="134004"/>
              <a:chOff x="8356813" y="1074288"/>
              <a:chExt cx="351900" cy="351900"/>
            </a:xfrm>
          </p:grpSpPr>
          <p:sp>
            <p:nvSpPr>
              <p:cNvPr id="2445" name="Google Shape;2445;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7" name="Google Shape;2447;p64"/>
            <p:cNvGrpSpPr/>
            <p:nvPr/>
          </p:nvGrpSpPr>
          <p:grpSpPr>
            <a:xfrm>
              <a:off x="7344361" y="3150259"/>
              <a:ext cx="134004" cy="134004"/>
              <a:chOff x="8356813" y="1074288"/>
              <a:chExt cx="351900" cy="351900"/>
            </a:xfrm>
          </p:grpSpPr>
          <p:sp>
            <p:nvSpPr>
              <p:cNvPr id="2448" name="Google Shape;2448;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0" name="Google Shape;2450;p64"/>
            <p:cNvGrpSpPr/>
            <p:nvPr/>
          </p:nvGrpSpPr>
          <p:grpSpPr>
            <a:xfrm>
              <a:off x="8337811" y="2464059"/>
              <a:ext cx="134004" cy="134004"/>
              <a:chOff x="8356813" y="1074288"/>
              <a:chExt cx="351900" cy="351900"/>
            </a:xfrm>
          </p:grpSpPr>
          <p:sp>
            <p:nvSpPr>
              <p:cNvPr id="2451" name="Google Shape;2451;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53" name="Google Shape;2453;p64"/>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4" name="Google Shape;2454;p64"/>
            <p:cNvGrpSpPr/>
            <p:nvPr/>
          </p:nvGrpSpPr>
          <p:grpSpPr>
            <a:xfrm>
              <a:off x="8337812" y="3492483"/>
              <a:ext cx="699928" cy="1651024"/>
              <a:chOff x="8337812" y="3492483"/>
              <a:chExt cx="699928" cy="1651024"/>
            </a:xfrm>
          </p:grpSpPr>
          <p:sp>
            <p:nvSpPr>
              <p:cNvPr id="2455" name="Google Shape;2455;p6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6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6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8" name="Google Shape;2458;p64"/>
            <p:cNvGrpSpPr/>
            <p:nvPr/>
          </p:nvGrpSpPr>
          <p:grpSpPr>
            <a:xfrm>
              <a:off x="7945225" y="4302000"/>
              <a:ext cx="904666" cy="726121"/>
              <a:chOff x="7945225" y="4302000"/>
              <a:chExt cx="904666" cy="726121"/>
            </a:xfrm>
          </p:grpSpPr>
          <p:sp>
            <p:nvSpPr>
              <p:cNvPr id="2459" name="Google Shape;2459;p6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6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6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2" name="Google Shape;2462;p64"/>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3" name="Google Shape;2463;p64"/>
          <p:cNvGrpSpPr/>
          <p:nvPr/>
        </p:nvGrpSpPr>
        <p:grpSpPr>
          <a:xfrm>
            <a:off x="1234025" y="2240280"/>
            <a:ext cx="4558967" cy="134100"/>
            <a:chOff x="796100" y="3019701"/>
            <a:chExt cx="4558967" cy="134100"/>
          </a:xfrm>
        </p:grpSpPr>
        <p:sp>
          <p:nvSpPr>
            <p:cNvPr id="2464" name="Google Shape;2464;p6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65" name="Google Shape;2465;p6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66" name="Google Shape;2466;p6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42</Slides>
  <Notes>27</Notes>
  <HiddenSlides>1</HiddenSlides>
  <ScaleCrop>false</ScaleCrop>
  <HeadingPairs>
    <vt:vector size="4" baseType="variant">
      <vt:variant>
        <vt:lpstr>Theme</vt:lpstr>
      </vt:variant>
      <vt:variant>
        <vt:i4>2</vt:i4>
      </vt:variant>
      <vt:variant>
        <vt:lpstr>Slide Titles</vt:lpstr>
      </vt:variant>
      <vt:variant>
        <vt:i4>42</vt:i4>
      </vt:variant>
    </vt:vector>
  </HeadingPairs>
  <TitlesOfParts>
    <vt:vector size="44" baseType="lpstr">
      <vt:lpstr>Introduction to Coding Workshop by Slidesgo</vt:lpstr>
      <vt:lpstr>Slidesgo Final Pages</vt:lpstr>
      <vt:lpstr>Joint UAV Trajectory, Relay Selection, and Bandwidth Allocation for Deadline-Aware Alert Delivery in Disaster Networks</vt:lpstr>
      <vt:lpstr>Nội dung</vt:lpstr>
      <vt:lpstr>01</vt:lpstr>
      <vt:lpstr>Paper gốc vs Project của nhóm</vt:lpstr>
      <vt:lpstr>Vì sao cần bài toán mới?</vt:lpstr>
      <vt:lpstr>Khác biệt về bài toán</vt:lpstr>
      <vt:lpstr>Bối cảnh bài toán</vt:lpstr>
      <vt:lpstr>Kế thừa từ paper gốc</vt:lpstr>
      <vt:lpstr>Cải tiến và thay đổi</vt:lpstr>
      <vt:lpstr>02</vt:lpstr>
      <vt:lpstr>Network Model</vt:lpstr>
      <vt:lpstr>Path</vt:lpstr>
      <vt:lpstr>UAV model</vt:lpstr>
      <vt:lpstr>Xác suất kết nối và Simulation</vt:lpstr>
      <vt:lpstr>Bài toán tối ưu - Input và Tham số</vt:lpstr>
      <vt:lpstr>Bài toán tối ưu</vt:lpstr>
      <vt:lpstr>Phân tích bài toán</vt:lpstr>
      <vt:lpstr>LP Bound cho path</vt:lpstr>
      <vt:lpstr>03</vt:lpstr>
      <vt:lpstr>BCD &amp; SCA (Huang et al)</vt:lpstr>
      <vt:lpstr>Vì sao không dùng SCA?</vt:lpstr>
      <vt:lpstr>Sampled-Score Block Search</vt:lpstr>
      <vt:lpstr>Lời giải đầu tiên: Tập B1</vt:lpstr>
      <vt:lpstr>SBS: Sample-scored Block Search</vt:lpstr>
      <vt:lpstr>Neighbour Candidate: Path</vt:lpstr>
      <vt:lpstr>Neighbour Candidate: Trajectory</vt:lpstr>
      <vt:lpstr>Khối Repair</vt:lpstr>
      <vt:lpstr>Độ phức tạp thuật toán</vt:lpstr>
      <vt:lpstr>04</vt:lpstr>
      <vt:lpstr>Tran IA</vt:lpstr>
      <vt:lpstr>Tran IA</vt:lpstr>
      <vt:lpstr>Scenario và sinh Test</vt:lpstr>
      <vt:lpstr>30 × 2 scenarios</vt:lpstr>
      <vt:lpstr>Tham số thực nghiệm</vt:lpstr>
      <vt:lpstr>Timely-delivery ratio</vt:lpstr>
      <vt:lpstr>+0.064</vt:lpstr>
      <vt:lpstr>Ablation: gain đến từ đâu?</vt:lpstr>
      <vt:lpstr>Budget Evaluate &amp; Hiệu quả của UAV</vt:lpstr>
      <vt:lpstr>So với Tran-IA và case study</vt:lpstr>
      <vt:lpstr>Case Study RescueNet</vt:lpstr>
      <vt:lpstr>Kết luận</vt:lpstr>
      <vt:lpstr>Cảm 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modified xsi:type="dcterms:W3CDTF">2026-10-16T01:31:03Z</dcterms:modified>
</cp:coreProperties>
</file>